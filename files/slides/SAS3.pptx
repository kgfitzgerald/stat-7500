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3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4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5.xml" ContentType="application/vnd.openxmlformats-officedocument.theme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theme/theme6.xml" ContentType="application/vnd.openxmlformats-officedocument.theme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0" r:id="rId1"/>
    <p:sldMasterId id="2147483895" r:id="rId2"/>
    <p:sldMasterId id="2147483912" r:id="rId3"/>
    <p:sldMasterId id="2147483929" r:id="rId4"/>
    <p:sldMasterId id="2147483963" r:id="rId5"/>
    <p:sldMasterId id="2147483980" r:id="rId6"/>
    <p:sldMasterId id="2147483997" r:id="rId7"/>
  </p:sldMasterIdLst>
  <p:notesMasterIdLst>
    <p:notesMasterId r:id="rId51"/>
  </p:notesMasterIdLst>
  <p:handoutMasterIdLst>
    <p:handoutMasterId r:id="rId52"/>
  </p:handoutMasterIdLst>
  <p:sldIdLst>
    <p:sldId id="486" r:id="rId8"/>
    <p:sldId id="304" r:id="rId9"/>
    <p:sldId id="298" r:id="rId10"/>
    <p:sldId id="299" r:id="rId11"/>
    <p:sldId id="300" r:id="rId12"/>
    <p:sldId id="375" r:id="rId13"/>
    <p:sldId id="376" r:id="rId14"/>
    <p:sldId id="382" r:id="rId15"/>
    <p:sldId id="383" r:id="rId16"/>
    <p:sldId id="384" r:id="rId17"/>
    <p:sldId id="385" r:id="rId18"/>
    <p:sldId id="390" r:id="rId19"/>
    <p:sldId id="391" r:id="rId20"/>
    <p:sldId id="386" r:id="rId21"/>
    <p:sldId id="406" r:id="rId22"/>
    <p:sldId id="407" r:id="rId23"/>
    <p:sldId id="410" r:id="rId24"/>
    <p:sldId id="411" r:id="rId25"/>
    <p:sldId id="430" r:id="rId26"/>
    <p:sldId id="431" r:id="rId27"/>
    <p:sldId id="452" r:id="rId28"/>
    <p:sldId id="379" r:id="rId29"/>
    <p:sldId id="380" r:id="rId30"/>
    <p:sldId id="494" r:id="rId31"/>
    <p:sldId id="495" r:id="rId32"/>
    <p:sldId id="496" r:id="rId33"/>
    <p:sldId id="497" r:id="rId34"/>
    <p:sldId id="498" r:id="rId35"/>
    <p:sldId id="499" r:id="rId36"/>
    <p:sldId id="500" r:id="rId37"/>
    <p:sldId id="281" r:id="rId38"/>
    <p:sldId id="501" r:id="rId39"/>
    <p:sldId id="283" r:id="rId40"/>
    <p:sldId id="347" r:id="rId41"/>
    <p:sldId id="502" r:id="rId42"/>
    <p:sldId id="259" r:id="rId43"/>
    <p:sldId id="260" r:id="rId44"/>
    <p:sldId id="261" r:id="rId45"/>
    <p:sldId id="284" r:id="rId46"/>
    <p:sldId id="350" r:id="rId47"/>
    <p:sldId id="285" r:id="rId48"/>
    <p:sldId id="286" r:id="rId49"/>
    <p:sldId id="287" r:id="rId50"/>
  </p:sldIdLst>
  <p:sldSz cx="9144000" cy="6858000" type="screen4x3"/>
  <p:notesSz cx="7023100" cy="9309100"/>
  <p:custDataLst>
    <p:tags r:id="rId53"/>
  </p:custDataLst>
  <p:defaultTextStyle>
    <a:defPPr>
      <a:defRPr lang="en-US"/>
    </a:defPPr>
    <a:lvl1pPr algn="r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r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r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r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r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 userDrawn="1">
          <p15:clr>
            <a:srgbClr val="A4A3A4"/>
          </p15:clr>
        </p15:guide>
        <p15:guide id="2" pos="2213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1F0E3C-2D34-4340-AFC9-59B8140520B4}" v="300" dt="2025-09-10T20:14:18.9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10" autoAdjust="0"/>
    <p:restoredTop sz="88164" autoAdjust="0"/>
  </p:normalViewPr>
  <p:slideViewPr>
    <p:cSldViewPr>
      <p:cViewPr varScale="1">
        <p:scale>
          <a:sx n="140" d="100"/>
          <a:sy n="140" d="100"/>
        </p:scale>
        <p:origin x="165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10" d="100"/>
        <a:sy n="110" d="100"/>
      </p:scale>
      <p:origin x="0" y="-18066"/>
    </p:cViewPr>
  </p:sorterViewPr>
  <p:notesViewPr>
    <p:cSldViewPr>
      <p:cViewPr>
        <p:scale>
          <a:sx n="100" d="100"/>
          <a:sy n="100" d="100"/>
        </p:scale>
        <p:origin x="-1662" y="-72"/>
      </p:cViewPr>
      <p:guideLst>
        <p:guide orient="horz" pos="2932"/>
        <p:guide pos="221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slide" Target="slides/slide32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slide" Target="slides/slide35.xml"/><Relationship Id="rId47" Type="http://schemas.openxmlformats.org/officeDocument/2006/relationships/slide" Target="slides/slide40.xml"/><Relationship Id="rId50" Type="http://schemas.openxmlformats.org/officeDocument/2006/relationships/slide" Target="slides/slide43.xml"/><Relationship Id="rId55" Type="http://schemas.openxmlformats.org/officeDocument/2006/relationships/viewProps" Target="viewProp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slide" Target="slides/slide33.xml"/><Relationship Id="rId45" Type="http://schemas.openxmlformats.org/officeDocument/2006/relationships/slide" Target="slides/slide38.xml"/><Relationship Id="rId53" Type="http://schemas.openxmlformats.org/officeDocument/2006/relationships/tags" Target="tags/tag1.xml"/><Relationship Id="rId58" Type="http://schemas.microsoft.com/office/2015/10/relationships/revisionInfo" Target="revisionInfo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slide" Target="slides/slide36.xml"/><Relationship Id="rId48" Type="http://schemas.openxmlformats.org/officeDocument/2006/relationships/slide" Target="slides/slide41.xml"/><Relationship Id="rId56" Type="http://schemas.openxmlformats.org/officeDocument/2006/relationships/theme" Target="theme/theme1.xml"/><Relationship Id="rId8" Type="http://schemas.openxmlformats.org/officeDocument/2006/relationships/slide" Target="slides/slide1.xml"/><Relationship Id="rId51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slide" Target="slides/slide39.xml"/><Relationship Id="rId20" Type="http://schemas.openxmlformats.org/officeDocument/2006/relationships/slide" Target="slides/slide13.xml"/><Relationship Id="rId41" Type="http://schemas.openxmlformats.org/officeDocument/2006/relationships/slide" Target="slides/slide34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49" Type="http://schemas.openxmlformats.org/officeDocument/2006/relationships/slide" Target="slides/slide42.xml"/><Relationship Id="rId57" Type="http://schemas.openxmlformats.org/officeDocument/2006/relationships/tableStyles" Target="tableStyles.xml"/><Relationship Id="rId10" Type="http://schemas.openxmlformats.org/officeDocument/2006/relationships/slide" Target="slides/slide3.xml"/><Relationship Id="rId31" Type="http://schemas.openxmlformats.org/officeDocument/2006/relationships/slide" Target="slides/slide24.xml"/><Relationship Id="rId44" Type="http://schemas.openxmlformats.org/officeDocument/2006/relationships/slide" Target="slides/slide37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4"/>
            <a:ext cx="3043649" cy="4648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317" tIns="46659" rIns="93317" bIns="46659" numCol="1" anchor="t" anchorCtr="0" compatLnSpc="1">
            <a:prstTxWarp prst="textNoShape">
              <a:avLst/>
            </a:prstTxWarp>
          </a:bodyPr>
          <a:lstStyle>
            <a:lvl1pPr algn="l" defTabSz="933337">
              <a:defRPr sz="1300"/>
            </a:lvl1pPr>
          </a:lstStyle>
          <a:p>
            <a:endParaRPr lang="en-US" dirty="0">
              <a:latin typeface="Aptos Display" panose="020B0004020202020204" pitchFamily="34" charset="0"/>
            </a:endParaRPr>
          </a:p>
        </p:txBody>
      </p:sp>
      <p:sp>
        <p:nvSpPr>
          <p:cNvPr id="798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7929" y="4"/>
            <a:ext cx="3043649" cy="4648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317" tIns="46659" rIns="93317" bIns="46659" numCol="1" anchor="t" anchorCtr="0" compatLnSpc="1">
            <a:prstTxWarp prst="textNoShape">
              <a:avLst/>
            </a:prstTxWarp>
          </a:bodyPr>
          <a:lstStyle>
            <a:lvl1pPr defTabSz="933337">
              <a:defRPr sz="1300"/>
            </a:lvl1pPr>
          </a:lstStyle>
          <a:p>
            <a:endParaRPr lang="en-US" dirty="0">
              <a:latin typeface="Aptos Display" panose="020B0004020202020204" pitchFamily="34" charset="0"/>
            </a:endParaRPr>
          </a:p>
        </p:txBody>
      </p:sp>
      <p:sp>
        <p:nvSpPr>
          <p:cNvPr id="798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42726"/>
            <a:ext cx="3043649" cy="4648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317" tIns="46659" rIns="93317" bIns="46659" numCol="1" anchor="b" anchorCtr="0" compatLnSpc="1">
            <a:prstTxWarp prst="textNoShape">
              <a:avLst/>
            </a:prstTxWarp>
          </a:bodyPr>
          <a:lstStyle>
            <a:lvl1pPr algn="l" defTabSz="933337">
              <a:defRPr sz="1300"/>
            </a:lvl1pPr>
          </a:lstStyle>
          <a:p>
            <a:endParaRPr lang="en-US" dirty="0">
              <a:latin typeface="Aptos Display" panose="020B0004020202020204" pitchFamily="34" charset="0"/>
            </a:endParaRPr>
          </a:p>
        </p:txBody>
      </p:sp>
      <p:sp>
        <p:nvSpPr>
          <p:cNvPr id="798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7929" y="8842726"/>
            <a:ext cx="3043649" cy="4648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317" tIns="46659" rIns="93317" bIns="46659" numCol="1" anchor="b" anchorCtr="0" compatLnSpc="1">
            <a:prstTxWarp prst="textNoShape">
              <a:avLst/>
            </a:prstTxWarp>
          </a:bodyPr>
          <a:lstStyle>
            <a:lvl1pPr defTabSz="933337">
              <a:defRPr sz="1300"/>
            </a:lvl1pPr>
          </a:lstStyle>
          <a:p>
            <a:fld id="{96C00B1A-7CD6-40F7-BC67-A54E369052A6}" type="slidenum">
              <a:rPr lang="en-US">
                <a:latin typeface="Aptos Display" panose="020B0004020202020204" pitchFamily="34" charset="0"/>
              </a:rPr>
              <a:pPr/>
              <a:t>‹#›</a:t>
            </a:fld>
            <a:endParaRPr lang="en-US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98335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4"/>
            <a:ext cx="3043649" cy="4648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317" tIns="46659" rIns="93317" bIns="46659" numCol="1" anchor="t" anchorCtr="0" compatLnSpc="1">
            <a:prstTxWarp prst="textNoShape">
              <a:avLst/>
            </a:prstTxWarp>
          </a:bodyPr>
          <a:lstStyle>
            <a:lvl1pPr algn="l" defTabSz="933337">
              <a:defRPr sz="1300" b="0" i="0">
                <a:latin typeface="Aptos Display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929" y="4"/>
            <a:ext cx="3043649" cy="4648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317" tIns="46659" rIns="93317" bIns="46659" numCol="1" anchor="t" anchorCtr="0" compatLnSpc="1">
            <a:prstTxWarp prst="textNoShape">
              <a:avLst/>
            </a:prstTxWarp>
          </a:bodyPr>
          <a:lstStyle>
            <a:lvl1pPr defTabSz="933337">
              <a:defRPr sz="1300" b="0" i="0">
                <a:latin typeface="Aptos Display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617" y="4422134"/>
            <a:ext cx="5617870" cy="41881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317" tIns="46659" rIns="93317" bIns="4665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42726"/>
            <a:ext cx="3043649" cy="4648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317" tIns="46659" rIns="93317" bIns="46659" numCol="1" anchor="b" anchorCtr="0" compatLnSpc="1">
            <a:prstTxWarp prst="textNoShape">
              <a:avLst/>
            </a:prstTxWarp>
          </a:bodyPr>
          <a:lstStyle>
            <a:lvl1pPr algn="l" defTabSz="933337">
              <a:defRPr sz="1300" b="0" i="0">
                <a:latin typeface="Aptos Display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929" y="8842726"/>
            <a:ext cx="3043649" cy="4648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317" tIns="46659" rIns="93317" bIns="46659" numCol="1" anchor="b" anchorCtr="0" compatLnSpc="1">
            <a:prstTxWarp prst="textNoShape">
              <a:avLst/>
            </a:prstTxWarp>
          </a:bodyPr>
          <a:lstStyle>
            <a:lvl1pPr defTabSz="933337">
              <a:defRPr sz="1300" b="0" i="0">
                <a:latin typeface="Aptos Display" panose="020B0004020202020204" pitchFamily="34" charset="0"/>
              </a:defRPr>
            </a:lvl1pPr>
          </a:lstStyle>
          <a:p>
            <a:fld id="{59A896AA-6E09-42BA-AEDC-D783FD0D509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09489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ptos Display" panose="020B0004020202020204" pitchFamily="34" charset="0"/>
        <a:ea typeface="+mn-ea"/>
        <a:cs typeface="Arial" pitchFamily="34" charset="0"/>
      </a:defRPr>
    </a:lvl1pPr>
    <a:lvl2pPr marL="4572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ptos Display" panose="020B0004020202020204" pitchFamily="34" charset="0"/>
        <a:ea typeface="+mn-ea"/>
        <a:cs typeface="Arial" pitchFamily="34" charset="0"/>
      </a:defRPr>
    </a:lvl2pPr>
    <a:lvl3pPr marL="9144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ptos Display" panose="020B0004020202020204" pitchFamily="34" charset="0"/>
        <a:ea typeface="+mn-ea"/>
        <a:cs typeface="Arial" pitchFamily="34" charset="0"/>
      </a:defRPr>
    </a:lvl3pPr>
    <a:lvl4pPr marL="13716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ptos Display" panose="020B0004020202020204" pitchFamily="34" charset="0"/>
        <a:ea typeface="+mn-ea"/>
        <a:cs typeface="Arial" pitchFamily="34" charset="0"/>
      </a:defRPr>
    </a:lvl4pPr>
    <a:lvl5pPr marL="18288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ptos Display" panose="020B0004020202020204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8F300EE-6DDC-4BFF-9959-864E7034271B}" type="slidenum">
              <a:rPr lang="en-US"/>
              <a:pPr/>
              <a:t>1</a:t>
            </a:fld>
            <a:endParaRPr lang="en-US" dirty="0"/>
          </a:p>
        </p:txBody>
      </p:sp>
      <p:sp>
        <p:nvSpPr>
          <p:cNvPr id="5122" name="Rectangle 2"/>
          <p:cNvSpPr>
            <a:spLocks noGrp="1" noRot="1" noChangeAspect="1" noChangeArrowheads="1" noTextEdit="1"/>
          </p:cNvSpPr>
          <p:nvPr>
            <p:ph type="sldImg"/>
            <p:custDataLst>
              <p:tags r:id="rId1"/>
            </p:custDataLst>
          </p:nvPr>
        </p:nvSpPr>
        <p:spPr>
          <a:ln/>
        </p:spPr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55872" y="4560891"/>
            <a:ext cx="5261951" cy="4319587"/>
          </a:xfrm>
        </p:spPr>
        <p:txBody>
          <a:bodyPr/>
          <a:lstStyle/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08589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A896AA-6E09-42BA-AEDC-D783FD0D5099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72085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4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DADC011D-4655-4E54-946C-F4AB8165CBF6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8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2324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24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>
                <a:latin typeface="Times New Roman" pitchFamily="18" charset="0"/>
              </a:rPr>
              <a:t>Appending and concatenating are very similar; it is bringing the data together vertically. Appending … Concatenating … </a:t>
            </a:r>
          </a:p>
        </p:txBody>
      </p:sp>
    </p:spTree>
    <p:extLst>
      <p:ext uri="{BB962C8B-B14F-4D97-AF65-F5344CB8AC3E}">
        <p14:creationId xmlns:p14="http://schemas.microsoft.com/office/powerpoint/2010/main" val="33419806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2FE4E00C-68B2-4721-9629-81221D59D067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9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2334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34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>
                <a:latin typeface="Times New Roman" pitchFamily="18" charset="0"/>
              </a:rPr>
              <a:t>Merging involves bringing the data together side by side… </a:t>
            </a:r>
          </a:p>
        </p:txBody>
      </p:sp>
    </p:spTree>
    <p:extLst>
      <p:ext uri="{BB962C8B-B14F-4D97-AF65-F5344CB8AC3E}">
        <p14:creationId xmlns:p14="http://schemas.microsoft.com/office/powerpoint/2010/main" val="20184430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6269911A-E2FC-44EA-9128-33CCDA6C4B03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10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2344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45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>
                <a:latin typeface="Times New Roman" pitchFamily="18" charset="0"/>
              </a:rPr>
              <a:t>Here is a specific example of appending … Note that the first data set is growing, we aren’t actually creating a new data set. </a:t>
            </a:r>
          </a:p>
        </p:txBody>
      </p:sp>
    </p:spTree>
    <p:extLst>
      <p:ext uri="{BB962C8B-B14F-4D97-AF65-F5344CB8AC3E}">
        <p14:creationId xmlns:p14="http://schemas.microsoft.com/office/powerpoint/2010/main" val="12012883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56154AA7-A88B-4DB1-873B-ACF96E70E12D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11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2355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>
                <a:latin typeface="Times New Roman" pitchFamily="18" charset="0"/>
              </a:rPr>
              <a:t>With concatenating, we actually create a new data set …</a:t>
            </a:r>
          </a:p>
        </p:txBody>
      </p:sp>
    </p:spTree>
    <p:extLst>
      <p:ext uri="{BB962C8B-B14F-4D97-AF65-F5344CB8AC3E}">
        <p14:creationId xmlns:p14="http://schemas.microsoft.com/office/powerpoint/2010/main" val="4008856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2DD4D81E-90DD-4C17-A1FA-D1B65B5A9626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12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274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4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noProof="1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86772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08DF1AC2-5404-4344-BDB3-2E60FAAC3447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13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275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5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noProof="1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347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C78A6DA7-3AB4-4D5A-ABBF-20BD41E0D96D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14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2365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65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>
                <a:latin typeface="Times New Roman" pitchFamily="18" charset="0"/>
              </a:rPr>
              <a:t>In this example of merging, we are matching observations by </a:t>
            </a:r>
            <a:r>
              <a:rPr lang="en-US" dirty="0" err="1">
                <a:latin typeface="Times New Roman" pitchFamily="18" charset="0"/>
              </a:rPr>
              <a:t>EmpID</a:t>
            </a:r>
            <a:r>
              <a:rPr lang="en-US" dirty="0">
                <a:latin typeface="Times New Roman" pitchFamily="18" charset="0"/>
              </a:rPr>
              <a:t> and bringing the observations together … </a:t>
            </a:r>
          </a:p>
        </p:txBody>
      </p:sp>
    </p:spTree>
    <p:extLst>
      <p:ext uri="{BB962C8B-B14F-4D97-AF65-F5344CB8AC3E}">
        <p14:creationId xmlns:p14="http://schemas.microsoft.com/office/powerpoint/2010/main" val="3877017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7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52519797-1DFF-4F0D-9B21-0BD96F722778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15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3297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97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>
                <a:latin typeface="Times New Roman" pitchFamily="18" charset="0"/>
              </a:rPr>
              <a:t>In these merging sections, we will look at match-merging … </a:t>
            </a:r>
          </a:p>
        </p:txBody>
      </p:sp>
    </p:spTree>
    <p:extLst>
      <p:ext uri="{BB962C8B-B14F-4D97-AF65-F5344CB8AC3E}">
        <p14:creationId xmlns:p14="http://schemas.microsoft.com/office/powerpoint/2010/main" val="18293560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6AA69DEE-87CF-42C4-A590-03C4EFFCF82B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16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330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0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>
                <a:latin typeface="Times New Roman" pitchFamily="18" charset="0"/>
              </a:rPr>
              <a:t>There are different types of match-merging, here are three different types …</a:t>
            </a:r>
          </a:p>
          <a:p>
            <a:r>
              <a:rPr lang="en-US" dirty="0">
                <a:latin typeface="Times New Roman" pitchFamily="18" charset="0"/>
              </a:rPr>
              <a:t>In this section, we are looking at one-to-one. </a:t>
            </a:r>
          </a:p>
        </p:txBody>
      </p:sp>
    </p:spTree>
    <p:extLst>
      <p:ext uri="{BB962C8B-B14F-4D97-AF65-F5344CB8AC3E}">
        <p14:creationId xmlns:p14="http://schemas.microsoft.com/office/powerpoint/2010/main" val="1354801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0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E60450DC-BAC6-45C6-9A9D-AC6BBEEB6586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17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3450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50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>
                <a:latin typeface="Times New Roman" pitchFamily="18" charset="0"/>
              </a:rPr>
              <a:t>Instructors, this one-to-one is so basic we opted not to show compile and execute phases.  We will show this in the one-to-may example. </a:t>
            </a:r>
          </a:p>
        </p:txBody>
      </p:sp>
    </p:spTree>
    <p:extLst>
      <p:ext uri="{BB962C8B-B14F-4D97-AF65-F5344CB8AC3E}">
        <p14:creationId xmlns:p14="http://schemas.microsoft.com/office/powerpoint/2010/main" val="33211530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3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B45C8A9E-D44C-4CF1-B319-ADD1CCEC6648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18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3543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43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noProof="1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34567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7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7FBF3B3E-C2D8-4401-AD84-B56FFB6898FD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19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3737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37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noProof="1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11457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C07A7066-2E8C-4CB7-8138-9DEEE96045A4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20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3788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8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noProof="1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68282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3113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5216" indent="-286621" defTabSz="933113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648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5082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63677" indent="-229297" defTabSz="933113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2227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80866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39461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98055" indent="-229297" defTabSz="9331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FACD0D4B-005F-418C-AE26-D02B8C1BBDC3}" type="slidenum">
              <a:rPr lang="en-US" sz="1200">
                <a:solidFill>
                  <a:prstClr val="black"/>
                </a:solidFill>
                <a:latin typeface="Times New Roman" pitchFamily="18" charset="0"/>
              </a:rPr>
              <a:pPr/>
              <a:t>21</a:t>
            </a:fld>
            <a:endParaRPr lang="en-US" sz="1200" dirty="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400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0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>
                <a:latin typeface="Times New Roman" pitchFamily="18" charset="0"/>
              </a:rPr>
              <a:t>By default in SAS, you get matches and non-matches … </a:t>
            </a:r>
          </a:p>
        </p:txBody>
      </p:sp>
    </p:spTree>
    <p:extLst>
      <p:ext uri="{BB962C8B-B14F-4D97-AF65-F5344CB8AC3E}">
        <p14:creationId xmlns:p14="http://schemas.microsoft.com/office/powerpoint/2010/main" val="25842159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A896AA-6E09-42BA-AEDC-D783FD0D5099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6308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7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/>
            </a:lvl1pPr>
          </a:lstStyle>
          <a:p>
            <a:fld id="{3FDF933A-52F2-464D-90D6-5C6662F66EF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/>
            </a:lvl1pPr>
          </a:lstStyle>
          <a:p>
            <a:fld id="{AAB0DCB1-F3AD-4763-AB70-A3CEF69D9D02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/>
            </a:lvl1pPr>
          </a:lstStyle>
          <a:p>
            <a:fld id="{DA354DF9-BB77-4EC1-922C-E004954253B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/>
            </a:lvl1pPr>
          </a:lstStyle>
          <a:p>
            <a:fld id="{F6ED4EB0-F574-4727-8A37-7538AA9291C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/>
            </a:lvl1pPr>
          </a:lstStyle>
          <a:p>
            <a:fld id="{03EE35F6-1249-408F-B646-98D2A8F66A1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/>
            </a:lvl1pPr>
          </a:lstStyle>
          <a:p>
            <a:fld id="{0165B781-C542-4AC4-8981-E8A9B43B146A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/>
            </a:lvl1pPr>
          </a:lstStyle>
          <a:p>
            <a:fld id="{D8424BEC-E856-4675-9472-F5D7EF59D357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/>
            </a:lvl1pPr>
          </a:lstStyle>
          <a:p>
            <a:fld id="{DFCF1D10-1A68-4FBA-9E83-2C9BD7519C1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/>
            </a:lvl1pPr>
          </a:lstStyle>
          <a:p>
            <a:fld id="{139636D8-95DA-47AF-965E-9E775B57EEAA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/>
            </a:lvl1pPr>
          </a:lstStyle>
          <a:p>
            <a:fld id="{41D800A3-C4BE-4A97-9FB1-9A39C8B1FB37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/>
            </a:lvl1pPr>
          </a:lstStyle>
          <a:p>
            <a:fld id="{87F850AC-82F3-47C4-B2C7-55F46B18AF9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 b="0" i="0"/>
            </a:lvl1pPr>
          </a:lstStyle>
          <a:p>
            <a:fld id="{9BAAA258-221C-4359-BBCE-8654075F095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 b="0" i="0"/>
            </a:lvl1pPr>
          </a:lstStyle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 b="0" i="0"/>
            </a:lvl1pPr>
          </a:lstStyle>
          <a:p>
            <a:fld id="{9BAAA258-221C-4359-BBCE-8654075F095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4" descr="Ads_templateFlattened0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27" descr="Bar_SAS204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65" name="Rectangle 25"/>
          <p:cNvSpPr>
            <a:spLocks noGrp="1" noChangeArrowheads="1"/>
          </p:cNvSpPr>
          <p:nvPr>
            <p:ph type="ctrTitle"/>
          </p:nvPr>
        </p:nvSpPr>
        <p:spPr>
          <a:xfrm>
            <a:off x="3581400" y="3124200"/>
            <a:ext cx="5410200" cy="609600"/>
          </a:xfrm>
        </p:spPr>
        <p:txBody>
          <a:bodyPr anchor="b"/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266" name="Rectangle 26"/>
          <p:cNvSpPr>
            <a:spLocks noGrp="1" noChangeArrowheads="1"/>
          </p:cNvSpPr>
          <p:nvPr>
            <p:ph type="subTitle" idx="1"/>
          </p:nvPr>
        </p:nvSpPr>
        <p:spPr>
          <a:xfrm>
            <a:off x="3505200" y="4191000"/>
            <a:ext cx="5486400" cy="1752600"/>
          </a:xfrm>
        </p:spPr>
        <p:txBody>
          <a:bodyPr/>
          <a:lstStyle>
            <a:lvl1pPr>
              <a:defRPr sz="3600" b="1">
                <a:solidFill>
                  <a:srgbClr val="00339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74161729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95929B27-FA51-405B-B28F-B147061B5B51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6678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683AB96F-C2F9-46EE-ABD5-DCD381AE9D9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11562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6300" y="1071563"/>
            <a:ext cx="38481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249ACBB4-DDDE-4E97-BA82-5B87540C1F8A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88339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232EEE2-5468-4D67-B7BB-245D85395F7B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630995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B9913857-4336-46E0-B753-05A2265AA9E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63530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E93AB05C-9A14-4517-8680-3082A1E7DB4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4121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BB71A30-0123-4895-93FC-71E289C9025A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645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EA1CDCF6-9CC0-4408-BA9B-0039A7C0B559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47319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3B2ADB27-14E6-4C40-94C1-924435150493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4260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29450" y="457200"/>
            <a:ext cx="2114550" cy="48815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457200"/>
            <a:ext cx="6191250" cy="48815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BF24A71D-F46D-433E-B3B7-714003080D94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93272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760C7495-F804-48C3-9C65-553BD743BB4B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5318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F1039DB-E7F6-4487-ADAB-75CF714BC590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36137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58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6C4E611C-E238-4A92-B504-C19D92B32E5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205359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071563"/>
            <a:ext cx="7848600" cy="4267200"/>
          </a:xfrm>
        </p:spPr>
        <p:txBody>
          <a:bodyPr/>
          <a:lstStyle/>
          <a:p>
            <a:pPr lvl="0"/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FFF7D5A-B4F4-420D-86A6-EC11B631A558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63398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63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CBCA03A0-5E4F-4027-9740-7C21C991E97C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643736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4" descr="Ads_templateFlattened0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27" descr="Bar_SAS204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65" name="Rectangle 25"/>
          <p:cNvSpPr>
            <a:spLocks noGrp="1" noChangeArrowheads="1"/>
          </p:cNvSpPr>
          <p:nvPr>
            <p:ph type="ctrTitle"/>
          </p:nvPr>
        </p:nvSpPr>
        <p:spPr>
          <a:xfrm>
            <a:off x="3581400" y="3124200"/>
            <a:ext cx="5410200" cy="609600"/>
          </a:xfrm>
        </p:spPr>
        <p:txBody>
          <a:bodyPr anchor="b"/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266" name="Rectangle 26"/>
          <p:cNvSpPr>
            <a:spLocks noGrp="1" noChangeArrowheads="1"/>
          </p:cNvSpPr>
          <p:nvPr>
            <p:ph type="subTitle" idx="1"/>
          </p:nvPr>
        </p:nvSpPr>
        <p:spPr>
          <a:xfrm>
            <a:off x="3505200" y="4191000"/>
            <a:ext cx="5486400" cy="1752600"/>
          </a:xfrm>
        </p:spPr>
        <p:txBody>
          <a:bodyPr/>
          <a:lstStyle>
            <a:lvl1pPr>
              <a:defRPr sz="3600" b="1">
                <a:solidFill>
                  <a:srgbClr val="00339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2566507"/>
      </p:ext>
    </p:extLst>
  </p:cSld>
  <p:clrMapOvr>
    <a:masterClrMapping/>
  </p:clrMapOvr>
  <p:hf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95929B27-FA51-405B-B28F-B147061B5B51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453090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683AB96F-C2F9-46EE-ABD5-DCD381AE9D9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68649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6300" y="1071563"/>
            <a:ext cx="38481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249ACBB4-DDDE-4E97-BA82-5B87540C1F8A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380404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232EEE2-5468-4D67-B7BB-245D85395F7B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338338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B9913857-4336-46E0-B753-05A2265AA9E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52984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E93AB05C-9A14-4517-8680-3082A1E7DB4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730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BB71A30-0123-4895-93FC-71E289C9025A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443882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EA1CDCF6-9CC0-4408-BA9B-0039A7C0B559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154661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3B2ADB27-14E6-4C40-94C1-924435150493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192100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29450" y="457200"/>
            <a:ext cx="2114550" cy="48815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457200"/>
            <a:ext cx="6191250" cy="48815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BF24A71D-F46D-433E-B3B7-714003080D94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112972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760C7495-F804-48C3-9C65-553BD743BB4B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0132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F1039DB-E7F6-4487-ADAB-75CF714BC590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79431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58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6C4E611C-E238-4A92-B504-C19D92B32E5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83991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071563"/>
            <a:ext cx="7848600" cy="4267200"/>
          </a:xfrm>
        </p:spPr>
        <p:txBody>
          <a:bodyPr/>
          <a:lstStyle/>
          <a:p>
            <a:pPr lvl="0"/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FFF7D5A-B4F4-420D-86A6-EC11B631A558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471311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63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CBCA03A0-5E4F-4027-9740-7C21C991E97C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98550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4" descr="Ads_templateFlattened0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27" descr="Bar_SAS204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65" name="Rectangle 25"/>
          <p:cNvSpPr>
            <a:spLocks noGrp="1" noChangeArrowheads="1"/>
          </p:cNvSpPr>
          <p:nvPr>
            <p:ph type="ctrTitle"/>
          </p:nvPr>
        </p:nvSpPr>
        <p:spPr>
          <a:xfrm>
            <a:off x="3581400" y="3124200"/>
            <a:ext cx="5410200" cy="609600"/>
          </a:xfrm>
        </p:spPr>
        <p:txBody>
          <a:bodyPr anchor="b"/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266" name="Rectangle 26"/>
          <p:cNvSpPr>
            <a:spLocks noGrp="1" noChangeArrowheads="1"/>
          </p:cNvSpPr>
          <p:nvPr>
            <p:ph type="subTitle" idx="1"/>
          </p:nvPr>
        </p:nvSpPr>
        <p:spPr>
          <a:xfrm>
            <a:off x="3505200" y="4191000"/>
            <a:ext cx="5486400" cy="1752600"/>
          </a:xfrm>
        </p:spPr>
        <p:txBody>
          <a:bodyPr/>
          <a:lstStyle>
            <a:lvl1pPr>
              <a:defRPr sz="3600" b="1">
                <a:solidFill>
                  <a:srgbClr val="00339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3939855"/>
      </p:ext>
    </p:extLst>
  </p:cSld>
  <p:clrMapOvr>
    <a:masterClrMapping/>
  </p:clrMapOvr>
  <p:hf hdr="0" ft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95929B27-FA51-405B-B28F-B147061B5B51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830227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683AB96F-C2F9-46EE-ABD5-DCD381AE9D9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656313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6300" y="1071563"/>
            <a:ext cx="38481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249ACBB4-DDDE-4E97-BA82-5B87540C1F8A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002056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232EEE2-5468-4D67-B7BB-245D85395F7B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50448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B9913857-4336-46E0-B753-05A2265AA9E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39449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E93AB05C-9A14-4517-8680-3082A1E7DB4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8415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BB71A30-0123-4895-93FC-71E289C9025A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171167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EA1CDCF6-9CC0-4408-BA9B-0039A7C0B559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833647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3B2ADB27-14E6-4C40-94C1-924435150493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608357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29450" y="457200"/>
            <a:ext cx="2114550" cy="48815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457200"/>
            <a:ext cx="6191250" cy="48815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BF24A71D-F46D-433E-B3B7-714003080D94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12022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760C7495-F804-48C3-9C65-553BD743BB4B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42194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F1039DB-E7F6-4487-ADAB-75CF714BC590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999267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58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6C4E611C-E238-4A92-B504-C19D92B32E5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3553212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071563"/>
            <a:ext cx="7848600" cy="4267200"/>
          </a:xfrm>
        </p:spPr>
        <p:txBody>
          <a:bodyPr/>
          <a:lstStyle/>
          <a:p>
            <a:pPr lvl="0"/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FFF7D5A-B4F4-420D-86A6-EC11B631A558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5526028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63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CBCA03A0-5E4F-4027-9740-7C21C991E97C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553263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4" descr="Ads_templateFlattened0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27" descr="Bar_SAS204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65" name="Rectangle 25"/>
          <p:cNvSpPr>
            <a:spLocks noGrp="1" noChangeArrowheads="1"/>
          </p:cNvSpPr>
          <p:nvPr>
            <p:ph type="ctrTitle"/>
          </p:nvPr>
        </p:nvSpPr>
        <p:spPr>
          <a:xfrm>
            <a:off x="3581400" y="3124200"/>
            <a:ext cx="5410200" cy="609600"/>
          </a:xfrm>
        </p:spPr>
        <p:txBody>
          <a:bodyPr anchor="b"/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266" name="Rectangle 26"/>
          <p:cNvSpPr>
            <a:spLocks noGrp="1" noChangeArrowheads="1"/>
          </p:cNvSpPr>
          <p:nvPr>
            <p:ph type="subTitle" idx="1"/>
          </p:nvPr>
        </p:nvSpPr>
        <p:spPr>
          <a:xfrm>
            <a:off x="3505200" y="4191000"/>
            <a:ext cx="5486400" cy="1752600"/>
          </a:xfrm>
        </p:spPr>
        <p:txBody>
          <a:bodyPr/>
          <a:lstStyle>
            <a:lvl1pPr>
              <a:defRPr sz="3600" b="1">
                <a:solidFill>
                  <a:srgbClr val="00339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58222852"/>
      </p:ext>
    </p:extLst>
  </p:cSld>
  <p:clrMapOvr>
    <a:masterClrMapping/>
  </p:clrMapOvr>
  <p:hf hdr="0" ftr="0" dt="0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95929B27-FA51-405B-B28F-B147061B5B51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652087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683AB96F-C2F9-46EE-ABD5-DCD381AE9D9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843654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6300" y="1071563"/>
            <a:ext cx="38481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249ACBB4-DDDE-4E97-BA82-5B87540C1F8A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695104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232EEE2-5468-4D67-B7BB-245D85395F7B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76196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B9913857-4336-46E0-B753-05A2265AA9E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6086387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E93AB05C-9A14-4517-8680-3082A1E7DB4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0009627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BB71A30-0123-4895-93FC-71E289C9025A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124391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EA1CDCF6-9CC0-4408-BA9B-0039A7C0B559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29222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3B2ADB27-14E6-4C40-94C1-924435150493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549603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29450" y="457200"/>
            <a:ext cx="2114550" cy="48815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457200"/>
            <a:ext cx="6191250" cy="48815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BF24A71D-F46D-433E-B3B7-714003080D94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897439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760C7495-F804-48C3-9C65-553BD743BB4B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974199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F1039DB-E7F6-4487-ADAB-75CF714BC590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5945266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58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6C4E611C-E238-4A92-B504-C19D92B32E5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502112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071563"/>
            <a:ext cx="7848600" cy="4267200"/>
          </a:xfrm>
        </p:spPr>
        <p:txBody>
          <a:bodyPr/>
          <a:lstStyle/>
          <a:p>
            <a:pPr lvl="0"/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FFF7D5A-B4F4-420D-86A6-EC11B631A558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74478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63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CBCA03A0-5E4F-4027-9740-7C21C991E97C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79397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4" descr="Ads_templateFlattened0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27" descr="Bar_SAS204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65" name="Rectangle 25"/>
          <p:cNvSpPr>
            <a:spLocks noGrp="1" noChangeArrowheads="1"/>
          </p:cNvSpPr>
          <p:nvPr>
            <p:ph type="ctrTitle"/>
          </p:nvPr>
        </p:nvSpPr>
        <p:spPr>
          <a:xfrm>
            <a:off x="3581400" y="3124200"/>
            <a:ext cx="5410200" cy="609600"/>
          </a:xfrm>
        </p:spPr>
        <p:txBody>
          <a:bodyPr anchor="b"/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266" name="Rectangle 26"/>
          <p:cNvSpPr>
            <a:spLocks noGrp="1" noChangeArrowheads="1"/>
          </p:cNvSpPr>
          <p:nvPr>
            <p:ph type="subTitle" idx="1"/>
          </p:nvPr>
        </p:nvSpPr>
        <p:spPr>
          <a:xfrm>
            <a:off x="3505200" y="4191000"/>
            <a:ext cx="5486400" cy="1752600"/>
          </a:xfrm>
        </p:spPr>
        <p:txBody>
          <a:bodyPr/>
          <a:lstStyle>
            <a:lvl1pPr>
              <a:defRPr sz="3600" b="1">
                <a:solidFill>
                  <a:srgbClr val="00339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77251391"/>
      </p:ext>
    </p:extLst>
  </p:cSld>
  <p:clrMapOvr>
    <a:masterClrMapping/>
  </p:clrMapOvr>
  <p:hf hdr="0" ftr="0" dt="0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95929B27-FA51-405B-B28F-B147061B5B51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294194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683AB96F-C2F9-46EE-ABD5-DCD381AE9D9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177174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6300" y="1071563"/>
            <a:ext cx="38481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249ACBB4-DDDE-4E97-BA82-5B87540C1F8A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463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232EEE2-5468-4D67-B7BB-245D85395F7B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758675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B9913857-4336-46E0-B753-05A2265AA9E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628567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E93AB05C-9A14-4517-8680-3082A1E7DB4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078843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BB71A30-0123-4895-93FC-71E289C9025A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471352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EA1CDCF6-9CC0-4408-BA9B-0039A7C0B559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773116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3B2ADB27-14E6-4C40-94C1-924435150493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589943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29450" y="457200"/>
            <a:ext cx="2114550" cy="48815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457200"/>
            <a:ext cx="6191250" cy="48815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BF24A71D-F46D-433E-B3B7-714003080D94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00364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760C7495-F804-48C3-9C65-553BD743BB4B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5503442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F1039DB-E7F6-4487-ADAB-75CF714BC590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27575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58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6C4E611C-E238-4A92-B504-C19D92B32E5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1805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071563"/>
            <a:ext cx="7848600" cy="4267200"/>
          </a:xfrm>
        </p:spPr>
        <p:txBody>
          <a:bodyPr/>
          <a:lstStyle/>
          <a:p>
            <a:pPr lvl="0"/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FFF7D5A-B4F4-420D-86A6-EC11B631A558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802861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63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CBCA03A0-5E4F-4027-9740-7C21C991E97C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942352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4" descr="Ads_templateFlattened0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27" descr="Bar_SAS204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65" name="Rectangle 25"/>
          <p:cNvSpPr>
            <a:spLocks noGrp="1" noChangeArrowheads="1"/>
          </p:cNvSpPr>
          <p:nvPr>
            <p:ph type="ctrTitle"/>
          </p:nvPr>
        </p:nvSpPr>
        <p:spPr>
          <a:xfrm>
            <a:off x="3581400" y="3124200"/>
            <a:ext cx="5410200" cy="609600"/>
          </a:xfrm>
        </p:spPr>
        <p:txBody>
          <a:bodyPr anchor="b"/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266" name="Rectangle 26"/>
          <p:cNvSpPr>
            <a:spLocks noGrp="1" noChangeArrowheads="1"/>
          </p:cNvSpPr>
          <p:nvPr>
            <p:ph type="subTitle" idx="1"/>
          </p:nvPr>
        </p:nvSpPr>
        <p:spPr>
          <a:xfrm>
            <a:off x="3505200" y="4191000"/>
            <a:ext cx="5486400" cy="1752600"/>
          </a:xfrm>
        </p:spPr>
        <p:txBody>
          <a:bodyPr/>
          <a:lstStyle>
            <a:lvl1pPr>
              <a:defRPr sz="3600" b="1">
                <a:solidFill>
                  <a:srgbClr val="00339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51276448"/>
      </p:ext>
    </p:extLst>
  </p:cSld>
  <p:clrMapOvr>
    <a:masterClrMapping/>
  </p:clrMapOvr>
  <p:hf hdr="0" ftr="0" dt="0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95929B27-FA51-405B-B28F-B147061B5B51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919412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683AB96F-C2F9-46EE-ABD5-DCD381AE9D9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3528782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6300" y="1071563"/>
            <a:ext cx="38481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249ACBB4-DDDE-4E97-BA82-5B87540C1F8A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58791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232EEE2-5468-4D67-B7BB-245D85395F7B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262018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B9913857-4336-46E0-B753-05A2265AA9E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736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E93AB05C-9A14-4517-8680-3082A1E7DB45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773288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BB71A30-0123-4895-93FC-71E289C9025A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121210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EA1CDCF6-9CC0-4408-BA9B-0039A7C0B559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06102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3B2ADB27-14E6-4C40-94C1-924435150493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5404722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29450" y="457200"/>
            <a:ext cx="2114550" cy="48815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457200"/>
            <a:ext cx="6191250" cy="48815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BF24A71D-F46D-433E-B3B7-714003080D94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196126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760C7495-F804-48C3-9C65-553BD743BB4B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8234226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86300" y="10715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86300" y="3281363"/>
            <a:ext cx="38481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F1039DB-E7F6-4487-ADAB-75CF714BC590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3922082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071563"/>
            <a:ext cx="7848600" cy="4267200"/>
          </a:xfrm>
        </p:spPr>
        <p:txBody>
          <a:bodyPr/>
          <a:lstStyle/>
          <a:p>
            <a:pPr lvl="0"/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0FFF7D5A-B4F4-420D-86A6-EC11B631A558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8799907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84582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6300" y="1071563"/>
            <a:ext cx="38481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/>
            </a:lvl1pPr>
          </a:lstStyle>
          <a:p>
            <a:pPr>
              <a:defRPr/>
            </a:pPr>
            <a:fld id="{CBCA03A0-5E4F-4027-9740-7C21C991E97C}" type="slidenum">
              <a:rPr lang="en-US" smtClean="0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204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2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41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45.xml"/><Relationship Id="rId1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40.xml"/><Relationship Id="rId5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39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4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slideLayout" Target="../slideLayouts/slideLayout58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slideLayout" Target="../slideLayouts/slideLayout57.xml"/><Relationship Id="rId17" Type="http://schemas.openxmlformats.org/officeDocument/2006/relationships/theme" Target="../theme/theme4.xml"/><Relationship Id="rId2" Type="http://schemas.openxmlformats.org/officeDocument/2006/relationships/slideLayout" Target="../slideLayouts/slideLayout47.xml"/><Relationship Id="rId16" Type="http://schemas.openxmlformats.org/officeDocument/2006/relationships/slideLayout" Target="../slideLayouts/slideLayout61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Relationship Id="rId14" Type="http://schemas.openxmlformats.org/officeDocument/2006/relationships/slideLayout" Target="../slideLayouts/slideLayout59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slideLayout" Target="../slideLayouts/slideLayout74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17" Type="http://schemas.openxmlformats.org/officeDocument/2006/relationships/theme" Target="../theme/theme5.xml"/><Relationship Id="rId2" Type="http://schemas.openxmlformats.org/officeDocument/2006/relationships/slideLayout" Target="../slideLayouts/slideLayout63.xml"/><Relationship Id="rId16" Type="http://schemas.openxmlformats.org/officeDocument/2006/relationships/slideLayout" Target="../slideLayouts/slideLayout77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Relationship Id="rId14" Type="http://schemas.openxmlformats.org/officeDocument/2006/relationships/slideLayout" Target="../slideLayouts/slideLayout75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90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4.xml"/><Relationship Id="rId12" Type="http://schemas.openxmlformats.org/officeDocument/2006/relationships/slideLayout" Target="../slideLayouts/slideLayout89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79.xml"/><Relationship Id="rId16" Type="http://schemas.openxmlformats.org/officeDocument/2006/relationships/slideLayout" Target="../slideLayouts/slideLayout93.xml"/><Relationship Id="rId1" Type="http://schemas.openxmlformats.org/officeDocument/2006/relationships/slideLayout" Target="../slideLayouts/slideLayout78.xml"/><Relationship Id="rId6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2.xml"/><Relationship Id="rId15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6.xml"/><Relationship Id="rId14" Type="http://schemas.openxmlformats.org/officeDocument/2006/relationships/slideLayout" Target="../slideLayouts/slideLayout91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1.xml"/><Relationship Id="rId13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96.xml"/><Relationship Id="rId7" Type="http://schemas.openxmlformats.org/officeDocument/2006/relationships/slideLayout" Target="../slideLayouts/slideLayout100.xml"/><Relationship Id="rId12" Type="http://schemas.openxmlformats.org/officeDocument/2006/relationships/slideLayout" Target="../slideLayouts/slideLayout105.xml"/><Relationship Id="rId17" Type="http://schemas.openxmlformats.org/officeDocument/2006/relationships/image" Target="../media/image1.jpeg"/><Relationship Id="rId2" Type="http://schemas.openxmlformats.org/officeDocument/2006/relationships/slideLayout" Target="../slideLayouts/slideLayout95.xml"/><Relationship Id="rId16" Type="http://schemas.openxmlformats.org/officeDocument/2006/relationships/theme" Target="../theme/theme7.xml"/><Relationship Id="rId1" Type="http://schemas.openxmlformats.org/officeDocument/2006/relationships/slideLayout" Target="../slideLayouts/slideLayout94.xml"/><Relationship Id="rId6" Type="http://schemas.openxmlformats.org/officeDocument/2006/relationships/slideLayout" Target="../slideLayouts/slideLayout99.xml"/><Relationship Id="rId11" Type="http://schemas.openxmlformats.org/officeDocument/2006/relationships/slideLayout" Target="../slideLayouts/slideLayout104.xml"/><Relationship Id="rId5" Type="http://schemas.openxmlformats.org/officeDocument/2006/relationships/slideLayout" Target="../slideLayouts/slideLayout98.xml"/><Relationship Id="rId15" Type="http://schemas.openxmlformats.org/officeDocument/2006/relationships/slideLayout" Target="../slideLayouts/slideLayout108.xml"/><Relationship Id="rId10" Type="http://schemas.openxmlformats.org/officeDocument/2006/relationships/slideLayout" Target="../slideLayouts/slideLayout103.xml"/><Relationship Id="rId4" Type="http://schemas.openxmlformats.org/officeDocument/2006/relationships/slideLayout" Target="../slideLayouts/slideLayout97.xml"/><Relationship Id="rId9" Type="http://schemas.openxmlformats.org/officeDocument/2006/relationships/slideLayout" Target="../slideLayouts/slideLayout102.xml"/><Relationship Id="rId14" Type="http://schemas.openxmlformats.org/officeDocument/2006/relationships/slideLayout" Target="../slideLayouts/slideLayout10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 i="0" baseline="0">
                <a:latin typeface="Aptos Display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26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 i="0" baseline="0">
                <a:latin typeface="Aptos Display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27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 i="0" baseline="0">
                <a:latin typeface="Aptos Display" panose="020B0004020202020204" pitchFamily="34" charset="0"/>
              </a:defRPr>
            </a:lvl1pPr>
          </a:lstStyle>
          <a:p>
            <a:fld id="{9BAAA258-221C-4359-BBCE-8654075F095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  <p:sldLayoutId id="2147483772" r:id="rId12"/>
    <p:sldLayoutId id="2147483773" r:id="rId13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b="0" i="0">
          <a:solidFill>
            <a:schemeClr val="tx2"/>
          </a:solidFill>
          <a:latin typeface="Aptos Display" panose="020B0004020202020204" pitchFamily="34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 b="0" i="0">
          <a:solidFill>
            <a:schemeClr val="tx1"/>
          </a:solidFill>
          <a:latin typeface="Aptos Display" panose="020B0004020202020204" pitchFamily="34" charset="0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 b="0" i="0">
          <a:solidFill>
            <a:schemeClr val="tx1"/>
          </a:solidFill>
          <a:latin typeface="Aptos Display" panose="020B0004020202020204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 b="0" i="0">
          <a:solidFill>
            <a:schemeClr val="tx1"/>
          </a:solidFill>
          <a:latin typeface="Aptos Display" panose="020B0004020202020204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 b="0" i="0">
          <a:solidFill>
            <a:schemeClr val="tx1"/>
          </a:solidFill>
          <a:latin typeface="Aptos Display" panose="020B0004020202020204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 b="0" i="0">
          <a:solidFill>
            <a:schemeClr val="tx1"/>
          </a:solidFill>
          <a:latin typeface="Aptos Display" panose="020B0004020202020204" pitchFamily="34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Rectangle 4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477000"/>
            <a:ext cx="5334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>
              <a:defRPr sz="1400" b="0" i="0">
                <a:latin typeface="Aptos Display" panose="020B0004020202020204" pitchFamily="34" charset="0"/>
              </a:defRPr>
            </a:lvl1pPr>
          </a:lstStyle>
          <a:p>
            <a:pPr eaLnBrk="0" hangingPunct="0">
              <a:defRPr/>
            </a:pPr>
            <a:fld id="{1B448838-B529-4FC4-88D2-DC47433D45BA}" type="slidenum">
              <a:rPr lang="en-US" smtClean="0">
                <a:solidFill>
                  <a:srgbClr val="000000"/>
                </a:solidFill>
                <a:cs typeface="+mn-cs"/>
              </a:rPr>
              <a:pPr eaLnBrk="0" hangingPunct="0"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  <a:cs typeface="+mn-cs"/>
            </a:endParaRPr>
          </a:p>
        </p:txBody>
      </p:sp>
      <p:sp>
        <p:nvSpPr>
          <p:cNvPr id="1027" name="Rectangle 44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457200"/>
            <a:ext cx="84582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Title text should go here--one line only</a:t>
            </a:r>
            <a:br>
              <a:rPr lang="en-US"/>
            </a:br>
            <a:endParaRPr lang="en-US"/>
          </a:p>
        </p:txBody>
      </p:sp>
      <p:sp>
        <p:nvSpPr>
          <p:cNvPr id="1028" name="Rectangle 4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071563"/>
            <a:ext cx="7848600" cy="426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4"/>
            <a:r>
              <a:rPr lang="en-US" dirty="0"/>
              <a:t>sixth level</a:t>
            </a:r>
          </a:p>
          <a:p>
            <a:pPr lvl="4"/>
            <a:r>
              <a:rPr lang="en-US" dirty="0"/>
              <a:t>seventh level</a:t>
            </a:r>
          </a:p>
          <a:p>
            <a:pPr lvl="4"/>
            <a:r>
              <a:rPr lang="en-US" dirty="0"/>
              <a:t>eighth level</a:t>
            </a:r>
          </a:p>
        </p:txBody>
      </p:sp>
      <p:sp>
        <p:nvSpPr>
          <p:cNvPr id="1070" name="Rectangle 46"/>
          <p:cNvSpPr>
            <a:spLocks noChangeArrowheads="1"/>
          </p:cNvSpPr>
          <p:nvPr/>
        </p:nvSpPr>
        <p:spPr bwMode="auto">
          <a:xfrm>
            <a:off x="0" y="6477000"/>
            <a:ext cx="5334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eaLnBrk="0" hangingPunct="0">
              <a:defRPr/>
            </a:pPr>
            <a:fld id="{03475996-E69B-4BEC-94F1-9A532D3D88B1}" type="slidenum">
              <a:rPr lang="en-US" sz="1400" b="0" i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pPr eaLnBrk="0" hangingPunct="0">
                <a:defRPr/>
              </a:pPr>
              <a:t>‹#›</a:t>
            </a:fld>
            <a:endParaRPr lang="en-US" sz="1400" b="0" i="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pic>
        <p:nvPicPr>
          <p:cNvPr id="1030" name="Picture 47" descr="bar_blank"/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89"/>
          <a:stretch>
            <a:fillRect/>
          </a:stretch>
        </p:blipFill>
        <p:spPr bwMode="auto">
          <a:xfrm>
            <a:off x="0" y="0"/>
            <a:ext cx="9144000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86074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  <p:sldLayoutId id="2147483907" r:id="rId12"/>
    <p:sldLayoutId id="2147483908" r:id="rId13"/>
    <p:sldLayoutId id="2147483909" r:id="rId14"/>
    <p:sldLayoutId id="2147483910" r:id="rId15"/>
    <p:sldLayoutId id="2147483911" r:id="rId16"/>
  </p:sldLayoutIdLst>
  <p:hf hdr="0" ftr="0" dt="0"/>
  <p:txStyles>
    <p:titleStyle>
      <a:lvl1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2pPr>
      <a:lvl3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3pPr>
      <a:lvl4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4pPr>
      <a:lvl5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5pPr>
      <a:lvl6pPr marL="4572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6pPr>
      <a:lvl7pPr marL="9144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7pPr>
      <a:lvl8pPr marL="13716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8pPr>
      <a:lvl9pPr marL="18288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defRPr sz="2400" b="0" i="0">
          <a:solidFill>
            <a:schemeClr val="tx1"/>
          </a:solidFill>
          <a:latin typeface="Aptos Display" panose="020B0004020202020204" pitchFamily="34" charset="0"/>
          <a:ea typeface="+mn-ea"/>
          <a:cs typeface="+mn-cs"/>
        </a:defRPr>
      </a:lvl1pPr>
      <a:lvl2pPr marL="4572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itchFamily="2" charset="2"/>
        <a:buChar char="n"/>
        <a:defRPr sz="2400" b="0" i="0">
          <a:solidFill>
            <a:schemeClr val="tx1"/>
          </a:solidFill>
          <a:latin typeface="Aptos Display" panose="020B0004020202020204" pitchFamily="34" charset="0"/>
        </a:defRPr>
      </a:lvl2pPr>
      <a:lvl3pPr marL="912813" indent="-341313" algn="l" rtl="0" eaLnBrk="0" fontAlgn="base" hangingPunct="0">
        <a:spcBef>
          <a:spcPct val="20000"/>
        </a:spcBef>
        <a:spcAft>
          <a:spcPct val="0"/>
        </a:spcAft>
        <a:buChar char="–"/>
        <a:defRPr sz="2400" b="0" i="0">
          <a:solidFill>
            <a:schemeClr val="tx1"/>
          </a:solidFill>
          <a:latin typeface="Aptos Display" panose="020B0004020202020204" pitchFamily="34" charset="0"/>
        </a:defRPr>
      </a:lvl3pPr>
      <a:lvl4pPr marL="1370013" indent="-3429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400" b="0" i="0">
          <a:solidFill>
            <a:schemeClr val="tx1"/>
          </a:solidFill>
          <a:latin typeface="Aptos Display" panose="020B0004020202020204" pitchFamily="34" charset="0"/>
        </a:defRPr>
      </a:lvl4pPr>
      <a:lvl5pPr marL="1827213" indent="-342900" algn="l" rtl="0" eaLnBrk="0" fontAlgn="base" hangingPunct="0">
        <a:spcBef>
          <a:spcPct val="20000"/>
        </a:spcBef>
        <a:spcAft>
          <a:spcPct val="0"/>
        </a:spcAft>
        <a:buChar char="»"/>
        <a:defRPr sz="2400" b="0" i="0">
          <a:solidFill>
            <a:schemeClr val="tx1"/>
          </a:solidFill>
          <a:latin typeface="Aptos Display" panose="020B0004020202020204" pitchFamily="34" charset="0"/>
        </a:defRPr>
      </a:lvl5pPr>
      <a:lvl6pPr marL="22844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6pPr>
      <a:lvl7pPr marL="27416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7pPr>
      <a:lvl8pPr marL="31988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8pPr>
      <a:lvl9pPr marL="36560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Rectangle 4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477000"/>
            <a:ext cx="5334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>
              <a:defRPr sz="1400" b="0" i="0">
                <a:latin typeface="Aptos Display" panose="020B0004020202020204" pitchFamily="34" charset="0"/>
              </a:defRPr>
            </a:lvl1pPr>
          </a:lstStyle>
          <a:p>
            <a:pPr eaLnBrk="0" hangingPunct="0">
              <a:defRPr/>
            </a:pPr>
            <a:fld id="{1B448838-B529-4FC4-88D2-DC47433D45BA}" type="slidenum">
              <a:rPr lang="en-US" smtClean="0">
                <a:solidFill>
                  <a:srgbClr val="000000"/>
                </a:solidFill>
                <a:cs typeface="+mn-cs"/>
              </a:rPr>
              <a:pPr eaLnBrk="0" hangingPunct="0"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  <a:cs typeface="+mn-cs"/>
            </a:endParaRPr>
          </a:p>
        </p:txBody>
      </p:sp>
      <p:sp>
        <p:nvSpPr>
          <p:cNvPr id="1027" name="Rectangle 44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457200"/>
            <a:ext cx="84582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Title text should go here--one line only</a:t>
            </a:r>
            <a:br>
              <a:rPr lang="en-US"/>
            </a:br>
            <a:endParaRPr lang="en-US"/>
          </a:p>
        </p:txBody>
      </p:sp>
      <p:sp>
        <p:nvSpPr>
          <p:cNvPr id="1028" name="Rectangle 4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071563"/>
            <a:ext cx="7848600" cy="426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4"/>
            <a:r>
              <a:rPr lang="en-US" dirty="0"/>
              <a:t>sixth level</a:t>
            </a:r>
          </a:p>
          <a:p>
            <a:pPr lvl="4"/>
            <a:r>
              <a:rPr lang="en-US" dirty="0"/>
              <a:t>seventh level</a:t>
            </a:r>
          </a:p>
          <a:p>
            <a:pPr lvl="4"/>
            <a:r>
              <a:rPr lang="en-US" dirty="0"/>
              <a:t>eighth level</a:t>
            </a:r>
          </a:p>
        </p:txBody>
      </p:sp>
      <p:sp>
        <p:nvSpPr>
          <p:cNvPr id="1070" name="Rectangle 46"/>
          <p:cNvSpPr>
            <a:spLocks noChangeArrowheads="1"/>
          </p:cNvSpPr>
          <p:nvPr/>
        </p:nvSpPr>
        <p:spPr bwMode="auto">
          <a:xfrm>
            <a:off x="0" y="6477000"/>
            <a:ext cx="5334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eaLnBrk="0" hangingPunct="0">
              <a:defRPr/>
            </a:pPr>
            <a:fld id="{03475996-E69B-4BEC-94F1-9A532D3D88B1}" type="slidenum">
              <a:rPr lang="en-US" sz="1400" b="0" i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pPr eaLnBrk="0" hangingPunct="0">
                <a:defRPr/>
              </a:pPr>
              <a:t>‹#›</a:t>
            </a:fld>
            <a:endParaRPr lang="en-US" sz="1400" b="0" i="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pic>
        <p:nvPicPr>
          <p:cNvPr id="1030" name="Picture 47" descr="bar_blank"/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89"/>
          <a:stretch>
            <a:fillRect/>
          </a:stretch>
        </p:blipFill>
        <p:spPr bwMode="auto">
          <a:xfrm>
            <a:off x="0" y="0"/>
            <a:ext cx="9144000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98922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3" r:id="rId1"/>
    <p:sldLayoutId id="2147483914" r:id="rId2"/>
    <p:sldLayoutId id="2147483915" r:id="rId3"/>
    <p:sldLayoutId id="2147483916" r:id="rId4"/>
    <p:sldLayoutId id="2147483917" r:id="rId5"/>
    <p:sldLayoutId id="2147483918" r:id="rId6"/>
    <p:sldLayoutId id="2147483919" r:id="rId7"/>
    <p:sldLayoutId id="2147483920" r:id="rId8"/>
    <p:sldLayoutId id="2147483921" r:id="rId9"/>
    <p:sldLayoutId id="2147483922" r:id="rId10"/>
    <p:sldLayoutId id="2147483923" r:id="rId11"/>
    <p:sldLayoutId id="2147483924" r:id="rId12"/>
    <p:sldLayoutId id="2147483925" r:id="rId13"/>
    <p:sldLayoutId id="2147483926" r:id="rId14"/>
    <p:sldLayoutId id="2147483927" r:id="rId15"/>
    <p:sldLayoutId id="2147483928" r:id="rId16"/>
  </p:sldLayoutIdLst>
  <p:hf hdr="0" ftr="0" dt="0"/>
  <p:txStyles>
    <p:titleStyle>
      <a:lvl1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2pPr>
      <a:lvl3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3pPr>
      <a:lvl4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4pPr>
      <a:lvl5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5pPr>
      <a:lvl6pPr marL="4572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6pPr>
      <a:lvl7pPr marL="9144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7pPr>
      <a:lvl8pPr marL="13716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8pPr>
      <a:lvl9pPr marL="18288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defRPr sz="2400" b="0" i="0">
          <a:solidFill>
            <a:schemeClr val="tx1"/>
          </a:solidFill>
          <a:latin typeface="Aptos Display" panose="020B0004020202020204" pitchFamily="34" charset="0"/>
          <a:ea typeface="+mn-ea"/>
          <a:cs typeface="+mn-cs"/>
        </a:defRPr>
      </a:lvl1pPr>
      <a:lvl2pPr marL="4572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itchFamily="2" charset="2"/>
        <a:buChar char="n"/>
        <a:defRPr sz="2400" b="0" i="0">
          <a:solidFill>
            <a:schemeClr val="tx1"/>
          </a:solidFill>
          <a:latin typeface="Aptos Display" panose="020B0004020202020204" pitchFamily="34" charset="0"/>
        </a:defRPr>
      </a:lvl2pPr>
      <a:lvl3pPr marL="912813" indent="-341313" algn="l" rtl="0" eaLnBrk="0" fontAlgn="base" hangingPunct="0">
        <a:spcBef>
          <a:spcPct val="20000"/>
        </a:spcBef>
        <a:spcAft>
          <a:spcPct val="0"/>
        </a:spcAft>
        <a:buChar char="–"/>
        <a:defRPr sz="2400" b="0" i="0">
          <a:solidFill>
            <a:schemeClr val="tx1"/>
          </a:solidFill>
          <a:latin typeface="Aptos Display" panose="020B0004020202020204" pitchFamily="34" charset="0"/>
        </a:defRPr>
      </a:lvl3pPr>
      <a:lvl4pPr marL="1370013" indent="-3429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400" b="0" i="0">
          <a:solidFill>
            <a:schemeClr val="tx1"/>
          </a:solidFill>
          <a:latin typeface="Aptos Display" panose="020B0004020202020204" pitchFamily="34" charset="0"/>
        </a:defRPr>
      </a:lvl4pPr>
      <a:lvl5pPr marL="1827213" indent="-342900" algn="l" rtl="0" eaLnBrk="0" fontAlgn="base" hangingPunct="0">
        <a:spcBef>
          <a:spcPct val="20000"/>
        </a:spcBef>
        <a:spcAft>
          <a:spcPct val="0"/>
        </a:spcAft>
        <a:buChar char="»"/>
        <a:defRPr sz="2400" b="0" i="0">
          <a:solidFill>
            <a:schemeClr val="tx1"/>
          </a:solidFill>
          <a:latin typeface="Aptos Display" panose="020B0004020202020204" pitchFamily="34" charset="0"/>
        </a:defRPr>
      </a:lvl5pPr>
      <a:lvl6pPr marL="22844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6pPr>
      <a:lvl7pPr marL="27416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7pPr>
      <a:lvl8pPr marL="31988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8pPr>
      <a:lvl9pPr marL="36560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Rectangle 4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477000"/>
            <a:ext cx="5334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>
              <a:defRPr sz="1400" b="0" i="0">
                <a:latin typeface="Aptos Display" panose="020B0004020202020204" pitchFamily="34" charset="0"/>
              </a:defRPr>
            </a:lvl1pPr>
          </a:lstStyle>
          <a:p>
            <a:pPr eaLnBrk="0" hangingPunct="0">
              <a:defRPr/>
            </a:pPr>
            <a:fld id="{1B448838-B529-4FC4-88D2-DC47433D45BA}" type="slidenum">
              <a:rPr lang="en-US" smtClean="0">
                <a:solidFill>
                  <a:srgbClr val="000000"/>
                </a:solidFill>
                <a:cs typeface="+mn-cs"/>
              </a:rPr>
              <a:pPr eaLnBrk="0" hangingPunct="0"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  <a:cs typeface="+mn-cs"/>
            </a:endParaRPr>
          </a:p>
        </p:txBody>
      </p:sp>
      <p:sp>
        <p:nvSpPr>
          <p:cNvPr id="1027" name="Rectangle 44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457200"/>
            <a:ext cx="84582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Title text should go here--one line only</a:t>
            </a:r>
            <a:br>
              <a:rPr lang="en-US"/>
            </a:br>
            <a:endParaRPr lang="en-US"/>
          </a:p>
        </p:txBody>
      </p:sp>
      <p:sp>
        <p:nvSpPr>
          <p:cNvPr id="1028" name="Rectangle 4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071563"/>
            <a:ext cx="7848600" cy="426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4"/>
            <a:r>
              <a:rPr lang="en-US" dirty="0"/>
              <a:t>sixth level</a:t>
            </a:r>
          </a:p>
          <a:p>
            <a:pPr lvl="4"/>
            <a:r>
              <a:rPr lang="en-US" dirty="0"/>
              <a:t>seventh level</a:t>
            </a:r>
          </a:p>
          <a:p>
            <a:pPr lvl="4"/>
            <a:r>
              <a:rPr lang="en-US" dirty="0"/>
              <a:t>eighth level</a:t>
            </a:r>
          </a:p>
        </p:txBody>
      </p:sp>
      <p:sp>
        <p:nvSpPr>
          <p:cNvPr id="1070" name="Rectangle 46"/>
          <p:cNvSpPr>
            <a:spLocks noChangeArrowheads="1"/>
          </p:cNvSpPr>
          <p:nvPr/>
        </p:nvSpPr>
        <p:spPr bwMode="auto">
          <a:xfrm>
            <a:off x="0" y="6477000"/>
            <a:ext cx="5334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eaLnBrk="0" hangingPunct="0">
              <a:defRPr/>
            </a:pPr>
            <a:fld id="{03475996-E69B-4BEC-94F1-9A532D3D88B1}" type="slidenum">
              <a:rPr lang="en-US" sz="1400" b="0" i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pPr eaLnBrk="0" hangingPunct="0">
                <a:defRPr/>
              </a:pPr>
              <a:t>‹#›</a:t>
            </a:fld>
            <a:endParaRPr lang="en-US" sz="1400" b="0" i="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pic>
        <p:nvPicPr>
          <p:cNvPr id="1030" name="Picture 47" descr="bar_blank"/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89"/>
          <a:stretch>
            <a:fillRect/>
          </a:stretch>
        </p:blipFill>
        <p:spPr bwMode="auto">
          <a:xfrm>
            <a:off x="0" y="0"/>
            <a:ext cx="9144000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87093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2" r:id="rId3"/>
    <p:sldLayoutId id="2147483933" r:id="rId4"/>
    <p:sldLayoutId id="2147483934" r:id="rId5"/>
    <p:sldLayoutId id="2147483935" r:id="rId6"/>
    <p:sldLayoutId id="2147483936" r:id="rId7"/>
    <p:sldLayoutId id="2147483937" r:id="rId8"/>
    <p:sldLayoutId id="2147483938" r:id="rId9"/>
    <p:sldLayoutId id="2147483939" r:id="rId10"/>
    <p:sldLayoutId id="2147483940" r:id="rId11"/>
    <p:sldLayoutId id="2147483941" r:id="rId12"/>
    <p:sldLayoutId id="2147483942" r:id="rId13"/>
    <p:sldLayoutId id="2147483943" r:id="rId14"/>
    <p:sldLayoutId id="2147483944" r:id="rId15"/>
    <p:sldLayoutId id="2147483945" r:id="rId16"/>
  </p:sldLayoutIdLst>
  <p:hf hdr="0" ftr="0" dt="0"/>
  <p:txStyles>
    <p:titleStyle>
      <a:lvl1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2pPr>
      <a:lvl3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3pPr>
      <a:lvl4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4pPr>
      <a:lvl5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5pPr>
      <a:lvl6pPr marL="4572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6pPr>
      <a:lvl7pPr marL="9144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7pPr>
      <a:lvl8pPr marL="13716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8pPr>
      <a:lvl9pPr marL="18288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defRPr sz="2400" b="0" i="0">
          <a:solidFill>
            <a:schemeClr val="tx1"/>
          </a:solidFill>
          <a:latin typeface="Aptos Display" panose="020B0004020202020204" pitchFamily="34" charset="0"/>
          <a:ea typeface="+mn-ea"/>
          <a:cs typeface="+mn-cs"/>
        </a:defRPr>
      </a:lvl1pPr>
      <a:lvl2pPr marL="4572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itchFamily="2" charset="2"/>
        <a:buChar char="n"/>
        <a:defRPr sz="2400" b="0" i="0">
          <a:solidFill>
            <a:schemeClr val="tx1"/>
          </a:solidFill>
          <a:latin typeface="Aptos Display" panose="020B0004020202020204" pitchFamily="34" charset="0"/>
        </a:defRPr>
      </a:lvl2pPr>
      <a:lvl3pPr marL="912813" indent="-341313" algn="l" rtl="0" eaLnBrk="0" fontAlgn="base" hangingPunct="0">
        <a:spcBef>
          <a:spcPct val="20000"/>
        </a:spcBef>
        <a:spcAft>
          <a:spcPct val="0"/>
        </a:spcAft>
        <a:buChar char="–"/>
        <a:defRPr sz="2400" b="0" i="0">
          <a:solidFill>
            <a:schemeClr val="tx1"/>
          </a:solidFill>
          <a:latin typeface="Aptos Display" panose="020B0004020202020204" pitchFamily="34" charset="0"/>
        </a:defRPr>
      </a:lvl3pPr>
      <a:lvl4pPr marL="1370013" indent="-3429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400" b="0" i="0">
          <a:solidFill>
            <a:schemeClr val="tx1"/>
          </a:solidFill>
          <a:latin typeface="Aptos Display" panose="020B0004020202020204" pitchFamily="34" charset="0"/>
        </a:defRPr>
      </a:lvl4pPr>
      <a:lvl5pPr marL="1827213" indent="-342900" algn="l" rtl="0" eaLnBrk="0" fontAlgn="base" hangingPunct="0">
        <a:spcBef>
          <a:spcPct val="20000"/>
        </a:spcBef>
        <a:spcAft>
          <a:spcPct val="0"/>
        </a:spcAft>
        <a:buChar char="»"/>
        <a:defRPr sz="2400" b="0" i="0">
          <a:solidFill>
            <a:schemeClr val="tx1"/>
          </a:solidFill>
          <a:latin typeface="Aptos Display" panose="020B0004020202020204" pitchFamily="34" charset="0"/>
        </a:defRPr>
      </a:lvl5pPr>
      <a:lvl6pPr marL="22844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6pPr>
      <a:lvl7pPr marL="27416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7pPr>
      <a:lvl8pPr marL="31988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8pPr>
      <a:lvl9pPr marL="36560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Rectangle 4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477000"/>
            <a:ext cx="5334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>
              <a:defRPr sz="1400" b="0" i="0">
                <a:latin typeface="Aptos Display" panose="020B0004020202020204" pitchFamily="34" charset="0"/>
              </a:defRPr>
            </a:lvl1pPr>
          </a:lstStyle>
          <a:p>
            <a:pPr eaLnBrk="0" hangingPunct="0">
              <a:defRPr/>
            </a:pPr>
            <a:fld id="{1B448838-B529-4FC4-88D2-DC47433D45BA}" type="slidenum">
              <a:rPr lang="en-US" smtClean="0">
                <a:solidFill>
                  <a:srgbClr val="000000"/>
                </a:solidFill>
                <a:cs typeface="+mn-cs"/>
              </a:rPr>
              <a:pPr eaLnBrk="0" hangingPunct="0"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  <a:cs typeface="+mn-cs"/>
            </a:endParaRPr>
          </a:p>
        </p:txBody>
      </p:sp>
      <p:sp>
        <p:nvSpPr>
          <p:cNvPr id="1027" name="Rectangle 44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457200"/>
            <a:ext cx="84582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Title text should go here--one line only</a:t>
            </a:r>
            <a:br>
              <a:rPr lang="en-US"/>
            </a:br>
            <a:endParaRPr lang="en-US"/>
          </a:p>
        </p:txBody>
      </p:sp>
      <p:sp>
        <p:nvSpPr>
          <p:cNvPr id="1028" name="Rectangle 4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071563"/>
            <a:ext cx="7848600" cy="426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4"/>
            <a:r>
              <a:rPr lang="en-US" dirty="0"/>
              <a:t>sixth level</a:t>
            </a:r>
          </a:p>
          <a:p>
            <a:pPr lvl="4"/>
            <a:r>
              <a:rPr lang="en-US" dirty="0"/>
              <a:t>seventh level</a:t>
            </a:r>
          </a:p>
          <a:p>
            <a:pPr lvl="4"/>
            <a:r>
              <a:rPr lang="en-US" dirty="0"/>
              <a:t>eighth level</a:t>
            </a:r>
          </a:p>
        </p:txBody>
      </p:sp>
      <p:sp>
        <p:nvSpPr>
          <p:cNvPr id="1070" name="Rectangle 46"/>
          <p:cNvSpPr>
            <a:spLocks noChangeArrowheads="1"/>
          </p:cNvSpPr>
          <p:nvPr/>
        </p:nvSpPr>
        <p:spPr bwMode="auto">
          <a:xfrm>
            <a:off x="0" y="6477000"/>
            <a:ext cx="5334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eaLnBrk="0" hangingPunct="0">
              <a:defRPr/>
            </a:pPr>
            <a:fld id="{03475996-E69B-4BEC-94F1-9A532D3D88B1}" type="slidenum">
              <a:rPr lang="en-US" sz="1400" b="0" i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pPr eaLnBrk="0" hangingPunct="0">
                <a:defRPr/>
              </a:pPr>
              <a:t>‹#›</a:t>
            </a:fld>
            <a:endParaRPr lang="en-US" sz="1400" b="0" i="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pic>
        <p:nvPicPr>
          <p:cNvPr id="1030" name="Picture 47" descr="bar_blank"/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89"/>
          <a:stretch>
            <a:fillRect/>
          </a:stretch>
        </p:blipFill>
        <p:spPr bwMode="auto">
          <a:xfrm>
            <a:off x="0" y="0"/>
            <a:ext cx="9144000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56678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4" r:id="rId1"/>
    <p:sldLayoutId id="2147483965" r:id="rId2"/>
    <p:sldLayoutId id="2147483966" r:id="rId3"/>
    <p:sldLayoutId id="2147483967" r:id="rId4"/>
    <p:sldLayoutId id="2147483968" r:id="rId5"/>
    <p:sldLayoutId id="2147483969" r:id="rId6"/>
    <p:sldLayoutId id="2147483970" r:id="rId7"/>
    <p:sldLayoutId id="2147483971" r:id="rId8"/>
    <p:sldLayoutId id="2147483972" r:id="rId9"/>
    <p:sldLayoutId id="2147483973" r:id="rId10"/>
    <p:sldLayoutId id="2147483974" r:id="rId11"/>
    <p:sldLayoutId id="2147483975" r:id="rId12"/>
    <p:sldLayoutId id="2147483976" r:id="rId13"/>
    <p:sldLayoutId id="2147483977" r:id="rId14"/>
    <p:sldLayoutId id="2147483978" r:id="rId15"/>
    <p:sldLayoutId id="2147483979" r:id="rId16"/>
  </p:sldLayoutIdLst>
  <p:hf hdr="0" ftr="0" dt="0"/>
  <p:txStyles>
    <p:titleStyle>
      <a:lvl1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2pPr>
      <a:lvl3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3pPr>
      <a:lvl4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4pPr>
      <a:lvl5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5pPr>
      <a:lvl6pPr marL="4572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6pPr>
      <a:lvl7pPr marL="9144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7pPr>
      <a:lvl8pPr marL="13716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8pPr>
      <a:lvl9pPr marL="18288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defRPr sz="2400" b="0" i="0">
          <a:solidFill>
            <a:schemeClr val="tx1"/>
          </a:solidFill>
          <a:latin typeface="Aptos Display" panose="020B0004020202020204" pitchFamily="34" charset="0"/>
          <a:ea typeface="+mn-ea"/>
          <a:cs typeface="+mn-cs"/>
        </a:defRPr>
      </a:lvl1pPr>
      <a:lvl2pPr marL="4572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itchFamily="2" charset="2"/>
        <a:buChar char="n"/>
        <a:defRPr sz="2400" b="0" i="0">
          <a:solidFill>
            <a:schemeClr val="tx1"/>
          </a:solidFill>
          <a:latin typeface="Aptos Display" panose="020B0004020202020204" pitchFamily="34" charset="0"/>
        </a:defRPr>
      </a:lvl2pPr>
      <a:lvl3pPr marL="912813" indent="-341313" algn="l" rtl="0" eaLnBrk="0" fontAlgn="base" hangingPunct="0">
        <a:spcBef>
          <a:spcPct val="20000"/>
        </a:spcBef>
        <a:spcAft>
          <a:spcPct val="0"/>
        </a:spcAft>
        <a:buChar char="–"/>
        <a:defRPr sz="2400" b="0" i="0">
          <a:solidFill>
            <a:schemeClr val="tx1"/>
          </a:solidFill>
          <a:latin typeface="Aptos Display" panose="020B0004020202020204" pitchFamily="34" charset="0"/>
        </a:defRPr>
      </a:lvl3pPr>
      <a:lvl4pPr marL="1370013" indent="-3429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400" b="0" i="0">
          <a:solidFill>
            <a:schemeClr val="tx1"/>
          </a:solidFill>
          <a:latin typeface="Aptos Display" panose="020B0004020202020204" pitchFamily="34" charset="0"/>
        </a:defRPr>
      </a:lvl4pPr>
      <a:lvl5pPr marL="1827213" indent="-342900" algn="l" rtl="0" eaLnBrk="0" fontAlgn="base" hangingPunct="0">
        <a:spcBef>
          <a:spcPct val="20000"/>
        </a:spcBef>
        <a:spcAft>
          <a:spcPct val="0"/>
        </a:spcAft>
        <a:buChar char="»"/>
        <a:defRPr sz="2400" b="0" i="0">
          <a:solidFill>
            <a:schemeClr val="tx1"/>
          </a:solidFill>
          <a:latin typeface="Aptos Display" panose="020B0004020202020204" pitchFamily="34" charset="0"/>
        </a:defRPr>
      </a:lvl5pPr>
      <a:lvl6pPr marL="22844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6pPr>
      <a:lvl7pPr marL="27416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7pPr>
      <a:lvl8pPr marL="31988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8pPr>
      <a:lvl9pPr marL="36560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Rectangle 4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477000"/>
            <a:ext cx="5334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>
              <a:defRPr sz="1400" b="0" i="0">
                <a:latin typeface="Aptos Display" panose="020B0004020202020204" pitchFamily="34" charset="0"/>
              </a:defRPr>
            </a:lvl1pPr>
          </a:lstStyle>
          <a:p>
            <a:pPr eaLnBrk="0" hangingPunct="0">
              <a:defRPr/>
            </a:pPr>
            <a:fld id="{1B448838-B529-4FC4-88D2-DC47433D45BA}" type="slidenum">
              <a:rPr lang="en-US" smtClean="0">
                <a:solidFill>
                  <a:srgbClr val="000000"/>
                </a:solidFill>
                <a:cs typeface="+mn-cs"/>
              </a:rPr>
              <a:pPr eaLnBrk="0" hangingPunct="0"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  <a:cs typeface="+mn-cs"/>
            </a:endParaRPr>
          </a:p>
        </p:txBody>
      </p:sp>
      <p:sp>
        <p:nvSpPr>
          <p:cNvPr id="1027" name="Rectangle 44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457200"/>
            <a:ext cx="84582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Title text should go here--one line only</a:t>
            </a:r>
            <a:br>
              <a:rPr lang="en-US"/>
            </a:br>
            <a:endParaRPr lang="en-US"/>
          </a:p>
        </p:txBody>
      </p:sp>
      <p:sp>
        <p:nvSpPr>
          <p:cNvPr id="1028" name="Rectangle 4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071563"/>
            <a:ext cx="7848600" cy="426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4"/>
            <a:r>
              <a:rPr lang="en-US" dirty="0"/>
              <a:t>sixth level</a:t>
            </a:r>
          </a:p>
          <a:p>
            <a:pPr lvl="4"/>
            <a:r>
              <a:rPr lang="en-US" dirty="0"/>
              <a:t>seventh level</a:t>
            </a:r>
          </a:p>
          <a:p>
            <a:pPr lvl="4"/>
            <a:r>
              <a:rPr lang="en-US" dirty="0"/>
              <a:t>eighth level</a:t>
            </a:r>
          </a:p>
        </p:txBody>
      </p:sp>
      <p:sp>
        <p:nvSpPr>
          <p:cNvPr id="1070" name="Rectangle 46"/>
          <p:cNvSpPr>
            <a:spLocks noChangeArrowheads="1"/>
          </p:cNvSpPr>
          <p:nvPr/>
        </p:nvSpPr>
        <p:spPr bwMode="auto">
          <a:xfrm>
            <a:off x="0" y="6477000"/>
            <a:ext cx="5334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eaLnBrk="0" hangingPunct="0">
              <a:defRPr/>
            </a:pPr>
            <a:fld id="{03475996-E69B-4BEC-94F1-9A532D3D88B1}" type="slidenum">
              <a:rPr lang="en-US" sz="1400" b="0" i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pPr eaLnBrk="0" hangingPunct="0">
                <a:defRPr/>
              </a:pPr>
              <a:t>‹#›</a:t>
            </a:fld>
            <a:endParaRPr lang="en-US" sz="1400" b="0" i="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pic>
        <p:nvPicPr>
          <p:cNvPr id="1030" name="Picture 47" descr="bar_blank"/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89"/>
          <a:stretch>
            <a:fillRect/>
          </a:stretch>
        </p:blipFill>
        <p:spPr bwMode="auto">
          <a:xfrm>
            <a:off x="0" y="0"/>
            <a:ext cx="9144000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6120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1" r:id="rId1"/>
    <p:sldLayoutId id="2147483982" r:id="rId2"/>
    <p:sldLayoutId id="2147483983" r:id="rId3"/>
    <p:sldLayoutId id="2147483984" r:id="rId4"/>
    <p:sldLayoutId id="2147483985" r:id="rId5"/>
    <p:sldLayoutId id="2147483986" r:id="rId6"/>
    <p:sldLayoutId id="2147483987" r:id="rId7"/>
    <p:sldLayoutId id="2147483988" r:id="rId8"/>
    <p:sldLayoutId id="2147483989" r:id="rId9"/>
    <p:sldLayoutId id="2147483990" r:id="rId10"/>
    <p:sldLayoutId id="2147483991" r:id="rId11"/>
    <p:sldLayoutId id="2147483992" r:id="rId12"/>
    <p:sldLayoutId id="2147483993" r:id="rId13"/>
    <p:sldLayoutId id="2147483994" r:id="rId14"/>
    <p:sldLayoutId id="2147483995" r:id="rId15"/>
    <p:sldLayoutId id="2147483996" r:id="rId16"/>
  </p:sldLayoutIdLst>
  <p:hf hdr="0" ftr="0" dt="0"/>
  <p:txStyles>
    <p:titleStyle>
      <a:lvl1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2pPr>
      <a:lvl3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3pPr>
      <a:lvl4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4pPr>
      <a:lvl5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5pPr>
      <a:lvl6pPr marL="4572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6pPr>
      <a:lvl7pPr marL="9144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7pPr>
      <a:lvl8pPr marL="13716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8pPr>
      <a:lvl9pPr marL="18288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defRPr sz="2400" b="0" i="0">
          <a:solidFill>
            <a:schemeClr val="tx1"/>
          </a:solidFill>
          <a:latin typeface="Aptos Display" panose="020B0004020202020204" pitchFamily="34" charset="0"/>
          <a:ea typeface="+mn-ea"/>
          <a:cs typeface="+mn-cs"/>
        </a:defRPr>
      </a:lvl1pPr>
      <a:lvl2pPr marL="4572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itchFamily="2" charset="2"/>
        <a:buChar char="n"/>
        <a:defRPr sz="2400" b="0" i="0">
          <a:solidFill>
            <a:schemeClr val="tx1"/>
          </a:solidFill>
          <a:latin typeface="Aptos Display" panose="020B0004020202020204" pitchFamily="34" charset="0"/>
        </a:defRPr>
      </a:lvl2pPr>
      <a:lvl3pPr marL="912813" indent="-341313" algn="l" rtl="0" eaLnBrk="0" fontAlgn="base" hangingPunct="0">
        <a:spcBef>
          <a:spcPct val="20000"/>
        </a:spcBef>
        <a:spcAft>
          <a:spcPct val="0"/>
        </a:spcAft>
        <a:buChar char="–"/>
        <a:defRPr sz="2400" b="0" i="0">
          <a:solidFill>
            <a:schemeClr val="tx1"/>
          </a:solidFill>
          <a:latin typeface="Aptos Display" panose="020B0004020202020204" pitchFamily="34" charset="0"/>
        </a:defRPr>
      </a:lvl3pPr>
      <a:lvl4pPr marL="1370013" indent="-3429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400" b="0" i="0">
          <a:solidFill>
            <a:schemeClr val="tx1"/>
          </a:solidFill>
          <a:latin typeface="Aptos Display" panose="020B0004020202020204" pitchFamily="34" charset="0"/>
        </a:defRPr>
      </a:lvl4pPr>
      <a:lvl5pPr marL="1827213" indent="-342900" algn="l" rtl="0" eaLnBrk="0" fontAlgn="base" hangingPunct="0">
        <a:spcBef>
          <a:spcPct val="20000"/>
        </a:spcBef>
        <a:spcAft>
          <a:spcPct val="0"/>
        </a:spcAft>
        <a:buChar char="»"/>
        <a:defRPr sz="2400" b="0" i="0">
          <a:solidFill>
            <a:schemeClr val="tx1"/>
          </a:solidFill>
          <a:latin typeface="Aptos Display" panose="020B0004020202020204" pitchFamily="34" charset="0"/>
        </a:defRPr>
      </a:lvl5pPr>
      <a:lvl6pPr marL="22844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6pPr>
      <a:lvl7pPr marL="27416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7pPr>
      <a:lvl8pPr marL="31988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8pPr>
      <a:lvl9pPr marL="36560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Rectangle 4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477000"/>
            <a:ext cx="5334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>
              <a:defRPr sz="1400" b="0" i="0">
                <a:latin typeface="Aptos Display" panose="020B0004020202020204" pitchFamily="34" charset="0"/>
              </a:defRPr>
            </a:lvl1pPr>
          </a:lstStyle>
          <a:p>
            <a:pPr eaLnBrk="0" hangingPunct="0">
              <a:defRPr/>
            </a:pPr>
            <a:fld id="{1B448838-B529-4FC4-88D2-DC47433D45BA}" type="slidenum">
              <a:rPr lang="en-US" smtClean="0">
                <a:solidFill>
                  <a:srgbClr val="000000"/>
                </a:solidFill>
                <a:cs typeface="+mn-cs"/>
              </a:rPr>
              <a:pPr eaLnBrk="0" hangingPunct="0">
                <a:defRPr/>
              </a:pPr>
              <a:t>‹#›</a:t>
            </a:fld>
            <a:endParaRPr lang="en-US" dirty="0">
              <a:solidFill>
                <a:srgbClr val="000000"/>
              </a:solidFill>
              <a:latin typeface="Times New Roman" pitchFamily="18" charset="0"/>
              <a:cs typeface="+mn-cs"/>
            </a:endParaRPr>
          </a:p>
        </p:txBody>
      </p:sp>
      <p:sp>
        <p:nvSpPr>
          <p:cNvPr id="1027" name="Rectangle 44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457200"/>
            <a:ext cx="84582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Title text should go here--one line only</a:t>
            </a:r>
            <a:br>
              <a:rPr lang="en-US"/>
            </a:br>
            <a:endParaRPr lang="en-US"/>
          </a:p>
        </p:txBody>
      </p:sp>
      <p:sp>
        <p:nvSpPr>
          <p:cNvPr id="1028" name="Rectangle 4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071563"/>
            <a:ext cx="7848600" cy="426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4"/>
            <a:r>
              <a:rPr lang="en-US" dirty="0"/>
              <a:t>sixth level</a:t>
            </a:r>
          </a:p>
          <a:p>
            <a:pPr lvl="4"/>
            <a:r>
              <a:rPr lang="en-US" dirty="0"/>
              <a:t>seventh level</a:t>
            </a:r>
          </a:p>
          <a:p>
            <a:pPr lvl="4"/>
            <a:r>
              <a:rPr lang="en-US" dirty="0"/>
              <a:t>eighth level</a:t>
            </a:r>
          </a:p>
        </p:txBody>
      </p:sp>
      <p:sp>
        <p:nvSpPr>
          <p:cNvPr id="1070" name="Rectangle 46"/>
          <p:cNvSpPr>
            <a:spLocks noChangeArrowheads="1"/>
          </p:cNvSpPr>
          <p:nvPr/>
        </p:nvSpPr>
        <p:spPr bwMode="auto">
          <a:xfrm>
            <a:off x="0" y="6477000"/>
            <a:ext cx="5334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eaLnBrk="0" hangingPunct="0">
              <a:defRPr/>
            </a:pPr>
            <a:fld id="{03475996-E69B-4BEC-94F1-9A532D3D88B1}" type="slidenum">
              <a:rPr lang="en-US" sz="1400" b="0" i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pPr eaLnBrk="0" hangingPunct="0">
                <a:defRPr/>
              </a:pPr>
              <a:t>‹#›</a:t>
            </a:fld>
            <a:endParaRPr lang="en-US" sz="1400" b="0" i="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pic>
        <p:nvPicPr>
          <p:cNvPr id="1030" name="Picture 47" descr="bar_blank"/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89"/>
          <a:stretch>
            <a:fillRect/>
          </a:stretch>
        </p:blipFill>
        <p:spPr bwMode="auto">
          <a:xfrm>
            <a:off x="0" y="0"/>
            <a:ext cx="9144000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31736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8" r:id="rId1"/>
    <p:sldLayoutId id="2147483999" r:id="rId2"/>
    <p:sldLayoutId id="2147484000" r:id="rId3"/>
    <p:sldLayoutId id="2147484001" r:id="rId4"/>
    <p:sldLayoutId id="2147484002" r:id="rId5"/>
    <p:sldLayoutId id="2147484003" r:id="rId6"/>
    <p:sldLayoutId id="2147484004" r:id="rId7"/>
    <p:sldLayoutId id="2147484005" r:id="rId8"/>
    <p:sldLayoutId id="2147484006" r:id="rId9"/>
    <p:sldLayoutId id="2147484007" r:id="rId10"/>
    <p:sldLayoutId id="2147484008" r:id="rId11"/>
    <p:sldLayoutId id="2147484009" r:id="rId12"/>
    <p:sldLayoutId id="2147484010" r:id="rId13"/>
    <p:sldLayoutId id="2147484012" r:id="rId14"/>
    <p:sldLayoutId id="2147484013" r:id="rId15"/>
  </p:sldLayoutIdLst>
  <p:hf hdr="0" ftr="0" dt="0"/>
  <p:txStyles>
    <p:titleStyle>
      <a:lvl1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2pPr>
      <a:lvl3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3pPr>
      <a:lvl4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4pPr>
      <a:lvl5pPr algn="l" rtl="0" eaLnBrk="0" fontAlgn="base" hangingPunct="0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5pPr>
      <a:lvl6pPr marL="4572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6pPr>
      <a:lvl7pPr marL="9144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7pPr>
      <a:lvl8pPr marL="13716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8pPr>
      <a:lvl9pPr marL="1828800" algn="l" rtl="0" eaLnBrk="1" fontAlgn="base" hangingPunct="1">
        <a:lnSpc>
          <a:spcPts val="3900"/>
        </a:lnSpc>
        <a:spcBef>
          <a:spcPct val="0"/>
        </a:spcBef>
        <a:spcAft>
          <a:spcPct val="0"/>
        </a:spcAft>
        <a:defRPr sz="3600" b="1">
          <a:solidFill>
            <a:srgbClr val="003399"/>
          </a:solidFill>
          <a:latin typeface="Arial Narrow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defRPr sz="2400" b="0" i="0">
          <a:solidFill>
            <a:schemeClr val="tx1"/>
          </a:solidFill>
          <a:latin typeface="Aptos Display" panose="020B0004020202020204" pitchFamily="34" charset="0"/>
          <a:ea typeface="+mn-ea"/>
          <a:cs typeface="+mn-cs"/>
        </a:defRPr>
      </a:lvl1pPr>
      <a:lvl2pPr marL="4572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itchFamily="2" charset="2"/>
        <a:buChar char="n"/>
        <a:defRPr sz="2400" b="0" i="0">
          <a:solidFill>
            <a:schemeClr val="tx1"/>
          </a:solidFill>
          <a:latin typeface="Aptos Display" panose="020B0004020202020204" pitchFamily="34" charset="0"/>
        </a:defRPr>
      </a:lvl2pPr>
      <a:lvl3pPr marL="912813" indent="-341313" algn="l" rtl="0" eaLnBrk="0" fontAlgn="base" hangingPunct="0">
        <a:spcBef>
          <a:spcPct val="20000"/>
        </a:spcBef>
        <a:spcAft>
          <a:spcPct val="0"/>
        </a:spcAft>
        <a:buChar char="–"/>
        <a:defRPr sz="2400" b="0" i="0">
          <a:solidFill>
            <a:schemeClr val="tx1"/>
          </a:solidFill>
          <a:latin typeface="Aptos Display" panose="020B0004020202020204" pitchFamily="34" charset="0"/>
        </a:defRPr>
      </a:lvl3pPr>
      <a:lvl4pPr marL="1370013" indent="-3429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400" b="0" i="0">
          <a:solidFill>
            <a:schemeClr val="tx1"/>
          </a:solidFill>
          <a:latin typeface="Aptos Display" panose="020B0004020202020204" pitchFamily="34" charset="0"/>
        </a:defRPr>
      </a:lvl4pPr>
      <a:lvl5pPr marL="1827213" indent="-342900" algn="l" rtl="0" eaLnBrk="0" fontAlgn="base" hangingPunct="0">
        <a:spcBef>
          <a:spcPct val="20000"/>
        </a:spcBef>
        <a:spcAft>
          <a:spcPct val="0"/>
        </a:spcAft>
        <a:buChar char="»"/>
        <a:defRPr sz="2400" b="0" i="0">
          <a:solidFill>
            <a:schemeClr val="tx1"/>
          </a:solidFill>
          <a:latin typeface="Aptos Display" panose="020B0004020202020204" pitchFamily="34" charset="0"/>
        </a:defRPr>
      </a:lvl5pPr>
      <a:lvl6pPr marL="22844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6pPr>
      <a:lvl7pPr marL="27416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7pPr>
      <a:lvl8pPr marL="31988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8pPr>
      <a:lvl9pPr marL="3656013" indent="-342900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4" Type="http://schemas.openxmlformats.org/officeDocument/2006/relationships/notesSlide" Target="../notesSlides/notesSlide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9144000" cy="6858000"/>
          </a:xfrm>
        </p:spPr>
        <p:txBody>
          <a:bodyPr>
            <a:noAutofit/>
          </a:bodyPr>
          <a:lstStyle/>
          <a:p>
            <a:br>
              <a:rPr lang="en-US" sz="4800" b="1" dirty="0">
                <a:solidFill>
                  <a:srgbClr val="FFFF00"/>
                </a:solidFill>
              </a:rPr>
            </a:br>
            <a:br>
              <a:rPr lang="en-US" sz="4800" b="1" dirty="0">
                <a:solidFill>
                  <a:srgbClr val="FFFF00"/>
                </a:solidFill>
              </a:rPr>
            </a:br>
            <a:r>
              <a:rPr lang="en-US" sz="6600" b="1" dirty="0">
                <a:solidFill>
                  <a:srgbClr val="FFFF00"/>
                </a:solidFill>
              </a:rPr>
              <a:t>Combining Datasets</a:t>
            </a:r>
            <a:br>
              <a:rPr lang="en-US" sz="6600" b="1" dirty="0">
                <a:solidFill>
                  <a:srgbClr val="FFFF00"/>
                </a:solidFill>
              </a:rPr>
            </a:br>
            <a:r>
              <a:rPr lang="en-US" sz="6600" b="1" dirty="0">
                <a:solidFill>
                  <a:srgbClr val="FFFF00"/>
                </a:solidFill>
              </a:rPr>
              <a:t>in SAS</a:t>
            </a:r>
            <a:br>
              <a:rPr lang="en-US" sz="4800" b="1" dirty="0">
                <a:solidFill>
                  <a:srgbClr val="FFFF00"/>
                </a:solidFill>
              </a:rPr>
            </a:br>
            <a:br>
              <a:rPr lang="en-US" sz="4800" b="1" dirty="0">
                <a:solidFill>
                  <a:srgbClr val="FFFF00"/>
                </a:solidFill>
              </a:rPr>
            </a:br>
            <a:br>
              <a:rPr lang="en-US" sz="1800" b="1" dirty="0">
                <a:solidFill>
                  <a:srgbClr val="FFFF00"/>
                </a:solidFill>
              </a:rPr>
            </a:br>
            <a:br>
              <a:rPr lang="en-US" sz="4800" b="1" dirty="0"/>
            </a:br>
            <a:r>
              <a:rPr lang="en-US" sz="2800" b="1" dirty="0">
                <a:solidFill>
                  <a:srgbClr val="FFC000"/>
                </a:solidFill>
              </a:rPr>
              <a:t>STAT 7500 - Statistical Programming</a:t>
            </a:r>
            <a:br>
              <a:rPr lang="en-US" sz="2800" b="1" dirty="0">
                <a:solidFill>
                  <a:srgbClr val="FFC000"/>
                </a:solidFill>
              </a:rPr>
            </a:br>
            <a:r>
              <a:rPr lang="en-US" sz="2800" b="1" dirty="0">
                <a:solidFill>
                  <a:srgbClr val="FFC000"/>
                </a:solidFill>
              </a:rPr>
              <a:t>Dr. Fitzgerald</a:t>
            </a:r>
            <a:br>
              <a:rPr lang="en-US" sz="2800" b="1" dirty="0">
                <a:solidFill>
                  <a:srgbClr val="FFC000"/>
                </a:solidFill>
              </a:rPr>
            </a:br>
            <a:r>
              <a:rPr lang="en-US" sz="2800" b="1" dirty="0">
                <a:solidFill>
                  <a:srgbClr val="FFC000"/>
                </a:solidFill>
              </a:rPr>
              <a:t>Fall 2025</a:t>
            </a:r>
            <a:endParaRPr lang="en-US" b="1" dirty="0">
              <a:solidFill>
                <a:srgbClr val="FFC000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Combining Datasets </a:t>
            </a:r>
            <a:r>
              <a:rPr lang="en-US" dirty="0"/>
              <a:t>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Sorting data (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proc sort</a:t>
            </a:r>
            <a:r>
              <a:rPr lang="en-US" dirty="0"/>
              <a:t>)</a:t>
            </a:r>
          </a:p>
          <a:p>
            <a:r>
              <a:rPr lang="en-US" dirty="0"/>
              <a:t>Program Data Vector (PDV)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Set</a:t>
            </a:r>
            <a:r>
              <a:rPr lang="en-US" dirty="0"/>
              <a:t> (DATA Step)</a:t>
            </a:r>
          </a:p>
          <a:p>
            <a:pPr lvl="1"/>
            <a:r>
              <a:rPr lang="en-US" dirty="0"/>
              <a:t>“Appending” and “Concatenating”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Merge</a:t>
            </a:r>
            <a:r>
              <a:rPr lang="en-US" dirty="0"/>
              <a:t> (DATA Step)</a:t>
            </a:r>
          </a:p>
          <a:p>
            <a:r>
              <a:rPr lang="en-US" dirty="0"/>
              <a:t>Nonmatching data in set and merge</a:t>
            </a:r>
          </a:p>
          <a:p>
            <a:r>
              <a:rPr lang="en-US" dirty="0"/>
              <a:t>Issues with merging data</a:t>
            </a:r>
          </a:p>
        </p:txBody>
      </p:sp>
    </p:spTree>
    <p:extLst>
      <p:ext uri="{BB962C8B-B14F-4D97-AF65-F5344CB8AC3E}">
        <p14:creationId xmlns:p14="http://schemas.microsoft.com/office/powerpoint/2010/main" val="796696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3AEA43D-0A91-4B81-90E3-56B00FEA828F}"/>
              </a:ext>
            </a:extLst>
          </p:cNvPr>
          <p:cNvSpPr txBox="1"/>
          <p:nvPr/>
        </p:nvSpPr>
        <p:spPr>
          <a:xfrm>
            <a:off x="1126426" y="2002210"/>
            <a:ext cx="458628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1" dirty="0">
                <a:latin typeface="Courier New" panose="02070309020205020404" pitchFamily="49" charset="0"/>
              </a:rPr>
              <a:t>proc</a:t>
            </a:r>
            <a:r>
              <a:rPr lang="en-US" sz="1600" dirty="0">
                <a:latin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</a:rPr>
              <a:t>sort</a:t>
            </a:r>
            <a:r>
              <a:rPr lang="en-US" sz="1600" dirty="0">
                <a:latin typeface="Courier New" panose="02070309020205020404" pitchFamily="49" charset="0"/>
              </a:rPr>
              <a:t> data=club;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	by id;</a:t>
            </a:r>
          </a:p>
          <a:p>
            <a:pPr algn="l"/>
            <a:r>
              <a:rPr lang="en-US" sz="1600" b="1" dirty="0">
                <a:latin typeface="Courier New" panose="02070309020205020404" pitchFamily="49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</a:p>
          <a:p>
            <a:pPr algn="l"/>
            <a:endParaRPr lang="en-US" sz="1600" dirty="0">
              <a:latin typeface="Courier New" panose="02070309020205020404" pitchFamily="49" charset="0"/>
            </a:endParaRPr>
          </a:p>
          <a:p>
            <a:pPr algn="l"/>
            <a:r>
              <a:rPr lang="en-US" sz="1600" b="1" dirty="0">
                <a:latin typeface="Courier New" panose="02070309020205020404" pitchFamily="49" charset="0"/>
              </a:rPr>
              <a:t>proc</a:t>
            </a:r>
            <a:r>
              <a:rPr lang="en-US" sz="1600" dirty="0">
                <a:latin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</a:rPr>
              <a:t> data=club;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  title 'Original Data Set Sorted by ID';</a:t>
            </a:r>
          </a:p>
          <a:p>
            <a:pPr algn="l"/>
            <a:r>
              <a:rPr lang="en-US" sz="1600" b="1" dirty="0">
                <a:latin typeface="Courier New" panose="02070309020205020404" pitchFamily="49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F1B989-DEF0-4EDB-8277-399F6B22F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8674" y="3838944"/>
            <a:ext cx="3650914" cy="2085402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E2CEBB2-0417-86E7-E651-02426F78F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 SORT</a:t>
            </a:r>
          </a:p>
        </p:txBody>
      </p:sp>
    </p:spTree>
    <p:extLst>
      <p:ext uri="{BB962C8B-B14F-4D97-AF65-F5344CB8AC3E}">
        <p14:creationId xmlns:p14="http://schemas.microsoft.com/office/powerpoint/2010/main" val="1068227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3AEA43D-0A91-4B81-90E3-56B00FEA828F}"/>
              </a:ext>
            </a:extLst>
          </p:cNvPr>
          <p:cNvSpPr txBox="1"/>
          <p:nvPr/>
        </p:nvSpPr>
        <p:spPr>
          <a:xfrm>
            <a:off x="781812" y="1905507"/>
            <a:ext cx="744778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1" dirty="0">
                <a:latin typeface="Courier New" panose="02070309020205020404" pitchFamily="49" charset="0"/>
              </a:rPr>
              <a:t>proc</a:t>
            </a:r>
            <a:r>
              <a:rPr lang="en-US" sz="1600" dirty="0">
                <a:latin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</a:rPr>
              <a:t>sort</a:t>
            </a:r>
            <a:r>
              <a:rPr lang="en-US" sz="1600" dirty="0">
                <a:latin typeface="Courier New" panose="02070309020205020404" pitchFamily="49" charset="0"/>
              </a:rPr>
              <a:t> data=club;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	by descending </a:t>
            </a:r>
            <a:r>
              <a:rPr lang="en-US" sz="1600" dirty="0" err="1">
                <a:latin typeface="Courier New" panose="02070309020205020404" pitchFamily="49" charset="0"/>
              </a:rPr>
              <a:t>percent_diff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</a:p>
          <a:p>
            <a:pPr algn="l"/>
            <a:r>
              <a:rPr lang="en-US" sz="1600" b="1" dirty="0">
                <a:latin typeface="Courier New" panose="02070309020205020404" pitchFamily="49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</a:p>
          <a:p>
            <a:pPr algn="l"/>
            <a:endParaRPr lang="en-US" sz="1600" dirty="0">
              <a:latin typeface="Courier New" panose="02070309020205020404" pitchFamily="49" charset="0"/>
            </a:endParaRPr>
          </a:p>
          <a:p>
            <a:pPr algn="l"/>
            <a:r>
              <a:rPr lang="en-US" sz="1600" b="1" dirty="0">
                <a:latin typeface="Courier New" panose="02070309020205020404" pitchFamily="49" charset="0"/>
              </a:rPr>
              <a:t>proc</a:t>
            </a:r>
            <a:r>
              <a:rPr lang="en-US" sz="1600" dirty="0">
                <a:latin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</a:rPr>
              <a:t> data=club;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  title 'Original Data Set Sorted by </a:t>
            </a:r>
            <a:r>
              <a:rPr lang="en-US" sz="1600" dirty="0" err="1">
                <a:latin typeface="Courier New" panose="02070309020205020404" pitchFamily="49" charset="0"/>
              </a:rPr>
              <a:t>percent_diff</a:t>
            </a:r>
            <a:r>
              <a:rPr lang="en-US" sz="1600" dirty="0">
                <a:latin typeface="Courier New" panose="02070309020205020404" pitchFamily="49" charset="0"/>
              </a:rPr>
              <a:t> (descending order)';</a:t>
            </a:r>
          </a:p>
          <a:p>
            <a:pPr algn="l"/>
            <a:r>
              <a:rPr lang="en-US" sz="1600" b="1" dirty="0">
                <a:latin typeface="Courier New" panose="02070309020205020404" pitchFamily="49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90BC05-6D6D-4E14-AF31-D7CCF8C23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6060" y="4267200"/>
            <a:ext cx="3832977" cy="198353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814669F2-FE63-5B9E-9740-D740D0CF0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 SORT</a:t>
            </a:r>
          </a:p>
        </p:txBody>
      </p:sp>
    </p:spTree>
    <p:extLst>
      <p:ext uri="{BB962C8B-B14F-4D97-AF65-F5344CB8AC3E}">
        <p14:creationId xmlns:p14="http://schemas.microsoft.com/office/powerpoint/2010/main" val="2742568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3AEA43D-0A91-4B81-90E3-56B00FEA828F}"/>
              </a:ext>
            </a:extLst>
          </p:cNvPr>
          <p:cNvSpPr txBox="1"/>
          <p:nvPr/>
        </p:nvSpPr>
        <p:spPr>
          <a:xfrm>
            <a:off x="1181290" y="1903029"/>
            <a:ext cx="7384352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1" dirty="0">
                <a:latin typeface="Courier New" panose="02070309020205020404" pitchFamily="49" charset="0"/>
              </a:rPr>
              <a:t>proc</a:t>
            </a:r>
            <a:r>
              <a:rPr lang="en-US" sz="1600" dirty="0">
                <a:latin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</a:rPr>
              <a:t>sort</a:t>
            </a:r>
            <a:r>
              <a:rPr lang="en-US" sz="1600" dirty="0">
                <a:latin typeface="Courier New" panose="02070309020205020404" pitchFamily="49" charset="0"/>
              </a:rPr>
              <a:t> data=club;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	by team descending </a:t>
            </a:r>
            <a:r>
              <a:rPr lang="en-US" sz="1600" dirty="0" err="1">
                <a:latin typeface="Courier New" panose="02070309020205020404" pitchFamily="49" charset="0"/>
              </a:rPr>
              <a:t>percent_diff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</a:p>
          <a:p>
            <a:pPr algn="l"/>
            <a:r>
              <a:rPr lang="en-US" sz="1600" b="1" dirty="0">
                <a:latin typeface="Courier New" panose="02070309020205020404" pitchFamily="49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</a:p>
          <a:p>
            <a:pPr algn="l"/>
            <a:endParaRPr lang="en-US" sz="1600" dirty="0">
              <a:latin typeface="Courier New" panose="02070309020205020404" pitchFamily="49" charset="0"/>
            </a:endParaRPr>
          </a:p>
          <a:p>
            <a:pPr algn="l"/>
            <a:r>
              <a:rPr lang="en-US" sz="1600" b="1" dirty="0">
                <a:latin typeface="Courier New" panose="02070309020205020404" pitchFamily="49" charset="0"/>
              </a:rPr>
              <a:t>proc</a:t>
            </a:r>
            <a:r>
              <a:rPr lang="en-US" sz="1600" dirty="0">
                <a:latin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</a:rPr>
              <a:t> data=club;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  title 'Original Data Set Sorted by Team and then </a:t>
            </a:r>
            <a:r>
              <a:rPr lang="en-US" sz="1600" dirty="0" err="1">
                <a:latin typeface="Courier New" panose="02070309020205020404" pitchFamily="49" charset="0"/>
              </a:rPr>
              <a:t>percent_diff</a:t>
            </a:r>
            <a:r>
              <a:rPr lang="en-US" sz="1600" dirty="0">
                <a:latin typeface="Courier New" panose="02070309020205020404" pitchFamily="49" charset="0"/>
              </a:rPr>
              <a:t> (descending order)';</a:t>
            </a:r>
          </a:p>
          <a:p>
            <a:pPr algn="l"/>
            <a:r>
              <a:rPr lang="en-US" sz="1600" b="1" dirty="0">
                <a:latin typeface="Courier New" panose="02070309020205020404" pitchFamily="49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0A339A-8E70-424A-B195-9925D5B85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4343400"/>
            <a:ext cx="4808685" cy="20464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2915EC-1FF8-4662-BE79-63B81F11A2EE}"/>
              </a:ext>
            </a:extLst>
          </p:cNvPr>
          <p:cNvSpPr txBox="1"/>
          <p:nvPr/>
        </p:nvSpPr>
        <p:spPr>
          <a:xfrm>
            <a:off x="7010400" y="4212481"/>
            <a:ext cx="18228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 sorted by team first (alphabetically) and then by percent difference within team second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135AB86-43D1-786A-6D05-DAB1DBCF9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 SORT</a:t>
            </a:r>
          </a:p>
        </p:txBody>
      </p:sp>
    </p:spTree>
    <p:extLst>
      <p:ext uri="{BB962C8B-B14F-4D97-AF65-F5344CB8AC3E}">
        <p14:creationId xmlns:p14="http://schemas.microsoft.com/office/powerpoint/2010/main" val="1624029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50000"/>
                  </a:schemeClr>
                </a:solidFill>
              </a:rPr>
              <a:t>PROC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6800"/>
            <a:ext cx="8686800" cy="5791200"/>
          </a:xfrm>
        </p:spPr>
        <p:txBody>
          <a:bodyPr/>
          <a:lstStyle/>
          <a:p>
            <a:pPr>
              <a:spcBef>
                <a:spcPts val="400"/>
              </a:spcBef>
            </a:pPr>
            <a:r>
              <a:rPr lang="en-US" sz="2000" dirty="0"/>
              <a:t>Sort the data by one or more variables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000" dirty="0"/>
              <a:t>	</a:t>
            </a:r>
            <a:r>
              <a:rPr lang="en-US" sz="2000" dirty="0" err="1">
                <a:solidFill>
                  <a:schemeClr val="tx2">
                    <a:lumMod val="75000"/>
                  </a:schemeClr>
                </a:solidFill>
              </a:rPr>
              <a:t>proc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 sort data=</a:t>
            </a:r>
            <a:r>
              <a:rPr lang="en-US" sz="2000" dirty="0" err="1">
                <a:solidFill>
                  <a:schemeClr val="tx2">
                    <a:lumMod val="75000"/>
                  </a:schemeClr>
                </a:solidFill>
              </a:rPr>
              <a:t>mydata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; by ID;</a:t>
            </a:r>
          </a:p>
          <a:p>
            <a:pPr>
              <a:spcBef>
                <a:spcPts val="400"/>
              </a:spcBef>
            </a:pPr>
            <a:r>
              <a:rPr lang="en-US" sz="2000" dirty="0"/>
              <a:t>Can sort in descending order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000" dirty="0"/>
              <a:t>	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by descending ID;</a:t>
            </a:r>
          </a:p>
          <a:p>
            <a:pPr>
              <a:spcBef>
                <a:spcPts val="400"/>
              </a:spcBef>
            </a:pPr>
            <a:r>
              <a:rPr lang="en-US" sz="2000" dirty="0"/>
              <a:t>Can sort sequentially by more than one variable</a:t>
            </a:r>
          </a:p>
          <a:p>
            <a:pPr marL="457200" lvl="1" indent="0">
              <a:spcBef>
                <a:spcPts val="400"/>
              </a:spcBef>
              <a:buNone/>
            </a:pP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proc sort data=</a:t>
            </a:r>
            <a:r>
              <a:rPr lang="en-US" sz="2000" dirty="0" err="1">
                <a:solidFill>
                  <a:schemeClr val="tx2">
                    <a:lumMod val="75000"/>
                  </a:schemeClr>
                </a:solidFill>
              </a:rPr>
              <a:t>mydata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; by id age; </a:t>
            </a:r>
            <a:r>
              <a:rPr lang="en-US" sz="2000" dirty="0"/>
              <a:t>(sorts by id and age within id)</a:t>
            </a:r>
          </a:p>
          <a:p>
            <a:pPr>
              <a:spcBef>
                <a:spcPts val="400"/>
              </a:spcBef>
            </a:pPr>
            <a:r>
              <a:rPr lang="en-US" sz="2000" dirty="0"/>
              <a:t>Necessary for some statements (like 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merge</a:t>
            </a:r>
            <a:r>
              <a:rPr lang="en-US" sz="2000" dirty="0"/>
              <a:t>)</a:t>
            </a:r>
          </a:p>
          <a:p>
            <a:pPr>
              <a:spcBef>
                <a:spcPts val="400"/>
              </a:spcBef>
            </a:pPr>
            <a:r>
              <a:rPr lang="en-US" sz="2000" dirty="0"/>
              <a:t>Can remove duplicates</a:t>
            </a:r>
          </a:p>
          <a:p>
            <a:pPr marL="457200" lvl="1" indent="0">
              <a:spcBef>
                <a:spcPts val="400"/>
              </a:spcBef>
              <a:buNone/>
            </a:pPr>
            <a:r>
              <a:rPr lang="en-US" sz="2000" dirty="0"/>
              <a:t>Use 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out=</a:t>
            </a:r>
            <a:r>
              <a:rPr lang="en-US" sz="2000" dirty="0" err="1">
                <a:solidFill>
                  <a:schemeClr val="tx2">
                    <a:lumMod val="75000"/>
                  </a:schemeClr>
                </a:solidFill>
              </a:rPr>
              <a:t>newdsname</a:t>
            </a:r>
            <a:r>
              <a:rPr lang="en-US" sz="2000" dirty="0"/>
              <a:t> so you don’t overwrite the data!</a:t>
            </a:r>
          </a:p>
          <a:p>
            <a:pPr marL="457200" indent="0">
              <a:spcBef>
                <a:spcPts val="400"/>
              </a:spcBef>
              <a:buNone/>
            </a:pP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proc sort data=</a:t>
            </a:r>
            <a:r>
              <a:rPr lang="en-US" sz="2000" dirty="0" err="1">
                <a:solidFill>
                  <a:schemeClr val="tx2">
                    <a:lumMod val="75000"/>
                  </a:schemeClr>
                </a:solidFill>
              </a:rPr>
              <a:t>mydata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 out=</a:t>
            </a:r>
            <a:r>
              <a:rPr lang="en-US" sz="2000" dirty="0" err="1">
                <a:solidFill>
                  <a:schemeClr val="tx2">
                    <a:lumMod val="75000"/>
                  </a:schemeClr>
                </a:solidFill>
              </a:rPr>
              <a:t>newdata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2">
                    <a:lumMod val="75000"/>
                  </a:schemeClr>
                </a:solidFill>
              </a:rPr>
              <a:t>nodup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; by ID;</a:t>
            </a:r>
          </a:p>
          <a:p>
            <a:pPr marL="457200" indent="0">
              <a:spcBef>
                <a:spcPts val="400"/>
              </a:spcBef>
              <a:buNone/>
            </a:pPr>
            <a:r>
              <a:rPr lang="en-US" sz="2000" dirty="0"/>
              <a:t>removes cases that are identical in all variables</a:t>
            </a:r>
          </a:p>
          <a:p>
            <a:pPr marL="457200" indent="0">
              <a:spcBef>
                <a:spcPts val="400"/>
              </a:spcBef>
              <a:buNone/>
            </a:pP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proc sort data=</a:t>
            </a:r>
            <a:r>
              <a:rPr lang="en-US" sz="2000" dirty="0" err="1">
                <a:solidFill>
                  <a:schemeClr val="tx2">
                    <a:lumMod val="75000"/>
                  </a:schemeClr>
                </a:solidFill>
              </a:rPr>
              <a:t>mydata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 out=</a:t>
            </a:r>
            <a:r>
              <a:rPr lang="en-US" sz="2000" dirty="0" err="1">
                <a:solidFill>
                  <a:schemeClr val="tx2">
                    <a:lumMod val="75000"/>
                  </a:schemeClr>
                </a:solidFill>
              </a:rPr>
              <a:t>newdata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2">
                    <a:lumMod val="75000"/>
                  </a:schemeClr>
                </a:solidFill>
              </a:rPr>
              <a:t>nodupkey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; by ID;</a:t>
            </a:r>
          </a:p>
          <a:p>
            <a:pPr marL="457200" indent="0">
              <a:spcBef>
                <a:spcPts val="400"/>
              </a:spcBef>
              <a:buNone/>
            </a:pPr>
            <a:r>
              <a:rPr lang="en-US" sz="2000" dirty="0"/>
              <a:t>removes cases with identical variable(s) in 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</a:rPr>
              <a:t>by</a:t>
            </a:r>
            <a:r>
              <a:rPr lang="en-US" sz="2000" dirty="0"/>
              <a:t> statement</a:t>
            </a:r>
          </a:p>
        </p:txBody>
      </p:sp>
    </p:spTree>
    <p:extLst>
      <p:ext uri="{BB962C8B-B14F-4D97-AF65-F5344CB8AC3E}">
        <p14:creationId xmlns:p14="http://schemas.microsoft.com/office/powerpoint/2010/main" val="1922299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nodup</a:t>
            </a:r>
            <a:r>
              <a:rPr lang="en-US" dirty="0"/>
              <a:t> vs.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nodupkey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029200"/>
          </a:xfrm>
        </p:spPr>
        <p:txBody>
          <a:bodyPr/>
          <a:lstStyle/>
          <a:p>
            <a:r>
              <a:rPr lang="en-US" sz="2800" dirty="0" err="1">
                <a:solidFill>
                  <a:schemeClr val="tx2">
                    <a:lumMod val="75000"/>
                  </a:schemeClr>
                </a:solidFill>
              </a:rPr>
              <a:t>nodup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800" dirty="0"/>
              <a:t>&amp; </a:t>
            </a:r>
            <a:r>
              <a:rPr lang="en-US" sz="2800" dirty="0" err="1">
                <a:solidFill>
                  <a:schemeClr val="tx2">
                    <a:lumMod val="75000"/>
                  </a:schemeClr>
                </a:solidFill>
              </a:rPr>
              <a:t>nodupkey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800" dirty="0"/>
              <a:t>(in 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proc sort</a:t>
            </a:r>
            <a:r>
              <a:rPr lang="en-US" sz="2800" dirty="0"/>
              <a:t>)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800" dirty="0"/>
              <a:t>restrict duplicates</a:t>
            </a:r>
          </a:p>
          <a:p>
            <a:r>
              <a:rPr lang="en-US" dirty="0"/>
              <a:t>Consider the following data:</a:t>
            </a:r>
          </a:p>
          <a:p>
            <a:pPr marL="2286000" indent="0">
              <a:buNone/>
            </a:pPr>
            <a:r>
              <a:rPr lang="en-US" sz="1600" dirty="0"/>
              <a:t>	ID	Var1</a:t>
            </a:r>
          </a:p>
          <a:p>
            <a:pPr marL="2286000" indent="0">
              <a:buNone/>
            </a:pPr>
            <a:r>
              <a:rPr lang="en-US" sz="1600" dirty="0"/>
              <a:t>	001	100</a:t>
            </a:r>
          </a:p>
          <a:p>
            <a:pPr marL="2286000" indent="0">
              <a:buNone/>
            </a:pPr>
            <a:r>
              <a:rPr lang="en-US" sz="1600" dirty="0"/>
              <a:t>	001 	100</a:t>
            </a:r>
          </a:p>
          <a:p>
            <a:pPr marL="2286000" indent="0">
              <a:buNone/>
            </a:pPr>
            <a:r>
              <a:rPr lang="en-US" sz="1600" dirty="0"/>
              <a:t>	001	200</a:t>
            </a:r>
          </a:p>
          <a:p>
            <a:pPr marL="2286000" indent="0">
              <a:buNone/>
            </a:pPr>
            <a:r>
              <a:rPr lang="en-US" sz="1600" dirty="0"/>
              <a:t>	002	100</a:t>
            </a:r>
          </a:p>
          <a:p>
            <a:pPr marL="2286000" indent="0">
              <a:buNone/>
            </a:pPr>
            <a:r>
              <a:rPr lang="en-US" sz="1600" dirty="0"/>
              <a:t>	002 	200</a:t>
            </a:r>
          </a:p>
          <a:p>
            <a:r>
              <a:rPr lang="en-US" sz="2800" dirty="0" err="1">
                <a:solidFill>
                  <a:schemeClr val="tx2">
                    <a:lumMod val="75000"/>
                  </a:schemeClr>
                </a:solidFill>
              </a:rPr>
              <a:t>nodup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800" dirty="0"/>
              <a:t>(with 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by ID</a:t>
            </a:r>
            <a:r>
              <a:rPr lang="en-US" sz="2800" dirty="0"/>
              <a:t>) removes</a:t>
            </a:r>
            <a:r>
              <a:rPr lang="en-US" sz="2800" dirty="0">
                <a:solidFill>
                  <a:srgbClr val="FF0000"/>
                </a:solidFill>
              </a:rPr>
              <a:t> the 2</a:t>
            </a:r>
            <a:r>
              <a:rPr lang="en-US" sz="2800" baseline="30000" dirty="0">
                <a:solidFill>
                  <a:srgbClr val="FF0000"/>
                </a:solidFill>
              </a:rPr>
              <a:t>nd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 err="1">
                <a:solidFill>
                  <a:srgbClr val="FF0000"/>
                </a:solidFill>
              </a:rPr>
              <a:t>obs</a:t>
            </a:r>
            <a:endParaRPr lang="en-US" sz="2800" dirty="0">
              <a:solidFill>
                <a:srgbClr val="FF0000"/>
              </a:solidFill>
            </a:endParaRPr>
          </a:p>
          <a:p>
            <a:pPr lvl="1"/>
            <a:r>
              <a:rPr lang="en-US" sz="2400" dirty="0"/>
              <a:t>Keeps only the 1</a:t>
            </a:r>
            <a:r>
              <a:rPr lang="en-US" sz="2400" baseline="30000" dirty="0"/>
              <a:t>st</a:t>
            </a:r>
            <a:r>
              <a:rPr lang="en-US" sz="2400" dirty="0"/>
              <a:t> instance of the fully matched row</a:t>
            </a:r>
          </a:p>
          <a:p>
            <a:r>
              <a:rPr lang="en-US" sz="2800" dirty="0" err="1">
                <a:solidFill>
                  <a:schemeClr val="tx2">
                    <a:lumMod val="75000"/>
                  </a:schemeClr>
                </a:solidFill>
              </a:rPr>
              <a:t>nodupkey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800" dirty="0"/>
              <a:t>with 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by ID </a:t>
            </a:r>
            <a:r>
              <a:rPr lang="en-US" sz="2800" dirty="0"/>
              <a:t>removes </a:t>
            </a:r>
            <a:r>
              <a:rPr lang="en-U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the 2</a:t>
            </a:r>
            <a:r>
              <a:rPr lang="en-US" sz="2800" baseline="30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nd</a:t>
            </a:r>
            <a:r>
              <a:rPr lang="en-U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, 3</a:t>
            </a:r>
            <a:r>
              <a:rPr lang="en-US" sz="2800" baseline="30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rd</a:t>
            </a:r>
            <a:r>
              <a:rPr lang="en-U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, and 5</a:t>
            </a:r>
            <a:r>
              <a:rPr lang="en-US" sz="2800" baseline="30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th</a:t>
            </a:r>
            <a:r>
              <a:rPr lang="en-U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</a:t>
            </a:r>
            <a:r>
              <a:rPr lang="en-US" sz="28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obs</a:t>
            </a:r>
            <a:endParaRPr lang="en-US" sz="28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lvl="1"/>
            <a:r>
              <a:rPr lang="en-US" sz="2400" dirty="0"/>
              <a:t>Keeps only the first row per BY group</a:t>
            </a:r>
          </a:p>
        </p:txBody>
      </p:sp>
      <p:sp>
        <p:nvSpPr>
          <p:cNvPr id="4" name="Rounded Rectangle 3"/>
          <p:cNvSpPr/>
          <p:nvPr/>
        </p:nvSpPr>
        <p:spPr bwMode="auto">
          <a:xfrm>
            <a:off x="2819400" y="3276600"/>
            <a:ext cx="1828800" cy="304800"/>
          </a:xfrm>
          <a:prstGeom prst="roundRect">
            <a:avLst/>
          </a:prstGeom>
          <a:solidFill>
            <a:srgbClr val="FF0000">
              <a:alpha val="50000"/>
            </a:srgbClr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u="none" strike="noStrike" cap="none" normalizeH="0" baseline="30000" dirty="0">
              <a:ln>
                <a:noFill/>
              </a:ln>
              <a:solidFill>
                <a:schemeClr val="tx1"/>
              </a:solidFill>
              <a:effectLst/>
              <a:latin typeface="Aptos Display" panose="020B0004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 bwMode="auto">
          <a:xfrm>
            <a:off x="3200400" y="3581400"/>
            <a:ext cx="1828800" cy="304800"/>
          </a:xfrm>
          <a:prstGeom prst="roundRect">
            <a:avLst/>
          </a:prstGeom>
          <a:solidFill>
            <a:schemeClr val="tx2">
              <a:lumMod val="90000"/>
              <a:alpha val="50000"/>
            </a:schemeClr>
          </a:solidFill>
          <a:ln w="254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u="none" strike="noStrike" cap="none" normalizeH="0" baseline="30000" dirty="0">
              <a:ln>
                <a:noFill/>
              </a:ln>
              <a:solidFill>
                <a:schemeClr val="tx1"/>
              </a:solidFill>
              <a:effectLst/>
              <a:latin typeface="Aptos Display" panose="020B0004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 bwMode="auto">
          <a:xfrm>
            <a:off x="3200400" y="4114800"/>
            <a:ext cx="1828800" cy="304800"/>
          </a:xfrm>
          <a:prstGeom prst="roundRect">
            <a:avLst/>
          </a:prstGeom>
          <a:solidFill>
            <a:schemeClr val="tx2">
              <a:lumMod val="90000"/>
              <a:alpha val="50000"/>
            </a:schemeClr>
          </a:solidFill>
          <a:ln w="254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u="none" strike="noStrike" cap="none" normalizeH="0" baseline="30000" dirty="0">
              <a:ln>
                <a:noFill/>
              </a:ln>
              <a:solidFill>
                <a:schemeClr val="tx1"/>
              </a:solidFill>
              <a:effectLst/>
              <a:latin typeface="Aptos Display" panose="020B0004020202020204" pitchFamily="34" charset="0"/>
            </a:endParaRPr>
          </a:p>
        </p:txBody>
      </p:sp>
      <p:sp>
        <p:nvSpPr>
          <p:cNvPr id="10" name="Rounded Rectangle 3">
            <a:extLst>
              <a:ext uri="{FF2B5EF4-FFF2-40B4-BE49-F238E27FC236}">
                <a16:creationId xmlns:a16="http://schemas.microsoft.com/office/drawing/2014/main" id="{B134AA8F-B5CC-4526-B028-F6CAA6F4967E}"/>
              </a:ext>
            </a:extLst>
          </p:cNvPr>
          <p:cNvSpPr/>
          <p:nvPr/>
        </p:nvSpPr>
        <p:spPr bwMode="auto">
          <a:xfrm>
            <a:off x="3200400" y="3271284"/>
            <a:ext cx="1828800" cy="304800"/>
          </a:xfrm>
          <a:prstGeom prst="roundRect">
            <a:avLst/>
          </a:prstGeom>
          <a:solidFill>
            <a:schemeClr val="tx2">
              <a:lumMod val="90000"/>
              <a:alpha val="50000"/>
            </a:schemeClr>
          </a:solidFill>
          <a:ln w="254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u="none" strike="noStrike" cap="none" normalizeH="0" baseline="30000" dirty="0">
              <a:ln>
                <a:noFill/>
              </a:ln>
              <a:solidFill>
                <a:schemeClr val="tx1"/>
              </a:solidFill>
              <a:effectLst/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0667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Appending and Concatenating (SET Statement)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 eaLnBrk="1" hangingPunct="1"/>
            <a:r>
              <a:rPr lang="en-US" dirty="0"/>
              <a:t>Appending and concatenating involves combining SAS data sets (vertically), one after the other, into a single SAS data set.</a:t>
            </a:r>
          </a:p>
          <a:p>
            <a:pPr marL="0" indent="0" eaLnBrk="1" hangingPunct="1"/>
            <a:endParaRPr lang="en-US" dirty="0"/>
          </a:p>
          <a:p>
            <a:pPr marL="0" indent="0" eaLnBrk="1" hangingPunct="1"/>
            <a:endParaRPr lang="en-US" dirty="0"/>
          </a:p>
          <a:p>
            <a:pPr marL="0" indent="0" eaLnBrk="1" hangingPunct="1"/>
            <a:endParaRPr lang="en-US" dirty="0"/>
          </a:p>
        </p:txBody>
      </p:sp>
      <p:sp>
        <p:nvSpPr>
          <p:cNvPr id="13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67394D5B-8296-40CD-9DFB-DB53222A6BBD}" type="slidenum">
              <a:rPr lang="en-US">
                <a:solidFill>
                  <a:srgbClr val="000000"/>
                </a:solidFill>
              </a:rPr>
              <a:pPr>
                <a:defRPr/>
              </a:pPr>
              <a:t>8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1509" name="Rectangle 7"/>
          <p:cNvSpPr>
            <a:spLocks noChangeArrowheads="1"/>
          </p:cNvSpPr>
          <p:nvPr/>
        </p:nvSpPr>
        <p:spPr bwMode="auto">
          <a:xfrm>
            <a:off x="679450" y="2230438"/>
            <a:ext cx="2409825" cy="3795712"/>
          </a:xfrm>
          <a:prstGeom prst="rect">
            <a:avLst/>
          </a:prstGeom>
          <a:solidFill>
            <a:srgbClr val="F2F2F2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21510" name="Text Box 6"/>
          <p:cNvSpPr txBox="1">
            <a:spLocks noChangeArrowheads="1"/>
          </p:cNvSpPr>
          <p:nvPr/>
        </p:nvSpPr>
        <p:spPr bwMode="auto">
          <a:xfrm>
            <a:off x="1614488" y="3824288"/>
            <a:ext cx="501740" cy="91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med" len="lg"/>
                <a:tailEnd type="none" w="med" len="lg"/>
              </a14:hiddenLine>
            </a:ext>
          </a:extLst>
        </p:spPr>
        <p:txBody>
          <a:bodyPr wrap="none" lIns="88900" tIns="88900" rIns="88900" bIns="889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l" eaLnBrk="0" hangingPunct="0"/>
            <a:r>
              <a:rPr lang="en-US" sz="48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+</a:t>
            </a:r>
          </a:p>
        </p:txBody>
      </p:sp>
      <p:sp>
        <p:nvSpPr>
          <p:cNvPr id="21511" name="Rectangle 8"/>
          <p:cNvSpPr>
            <a:spLocks noChangeArrowheads="1"/>
          </p:cNvSpPr>
          <p:nvPr/>
        </p:nvSpPr>
        <p:spPr bwMode="auto">
          <a:xfrm>
            <a:off x="3430588" y="2330451"/>
            <a:ext cx="5064125" cy="3795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lvl="1" indent="-342900" algn="l" eaLnBrk="0" hangingPunct="0">
              <a:spcBef>
                <a:spcPct val="20000"/>
              </a:spcBef>
              <a:buClr>
                <a:srgbClr val="003399"/>
              </a:buClr>
              <a:buSzPct val="70000"/>
              <a:buFont typeface="Wingdings" pitchFamily="2" charset="2"/>
              <a:buChar char="n"/>
            </a:pPr>
            <a:r>
              <a:rPr lang="en-US" sz="20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Appending adds the observations in the second data set directly to the end of the original data set</a:t>
            </a:r>
          </a:p>
          <a:p>
            <a:pPr lvl="2" indent="-342900" algn="l" eaLnBrk="0" hangingPunct="0">
              <a:spcBef>
                <a:spcPct val="20000"/>
              </a:spcBef>
              <a:buClr>
                <a:srgbClr val="003399"/>
              </a:buClr>
              <a:buSzPct val="70000"/>
              <a:buFont typeface="Wingdings" pitchFamily="2" charset="2"/>
              <a:buChar char="n"/>
            </a:pPr>
            <a:r>
              <a:rPr lang="en-US" sz="2000" dirty="0">
                <a:solidFill>
                  <a:srgbClr val="000000"/>
                </a:solidFill>
                <a:latin typeface="Aptos Display" panose="020B0004020202020204" pitchFamily="34" charset="0"/>
              </a:rPr>
              <a:t>Modifies, doesn’t create new dataset</a:t>
            </a:r>
          </a:p>
          <a:p>
            <a:pPr lvl="2" indent="-342900" algn="l" eaLnBrk="0" hangingPunct="0">
              <a:spcBef>
                <a:spcPct val="20000"/>
              </a:spcBef>
              <a:buClr>
                <a:srgbClr val="003399"/>
              </a:buClr>
              <a:buSzPct val="70000"/>
              <a:buFont typeface="Wingdings" pitchFamily="2" charset="2"/>
              <a:buChar char="n"/>
            </a:pPr>
            <a:r>
              <a:rPr lang="en-US" sz="2000" dirty="0">
                <a:solidFill>
                  <a:srgbClr val="000000"/>
                </a:solidFill>
                <a:latin typeface="Aptos Display" panose="020B0004020202020204" pitchFamily="34" charset="0"/>
              </a:rPr>
              <a:t>Requires matching structures </a:t>
            </a:r>
          </a:p>
          <a:p>
            <a:pPr lvl="2" indent="-342900" algn="l" eaLnBrk="0" hangingPunct="0">
              <a:spcBef>
                <a:spcPct val="20000"/>
              </a:spcBef>
              <a:buClr>
                <a:srgbClr val="003399"/>
              </a:buClr>
              <a:buSzPct val="70000"/>
              <a:buFont typeface="Wingdings" pitchFamily="2" charset="2"/>
              <a:buChar char="n"/>
            </a:pPr>
            <a:r>
              <a:rPr lang="en-US" sz="2000" dirty="0">
                <a:solidFill>
                  <a:srgbClr val="000000"/>
                </a:solidFill>
                <a:latin typeface="Aptos Display" panose="020B0004020202020204" pitchFamily="34" charset="0"/>
              </a:rPr>
              <a:t>PROC APPEND</a:t>
            </a:r>
          </a:p>
          <a:p>
            <a:pPr lvl="2" indent="-342900" algn="l" eaLnBrk="0" hangingPunct="0">
              <a:spcBef>
                <a:spcPct val="20000"/>
              </a:spcBef>
              <a:buClr>
                <a:srgbClr val="003399"/>
              </a:buClr>
              <a:buSzPct val="70000"/>
              <a:buFont typeface="Wingdings" pitchFamily="2" charset="2"/>
              <a:buChar char="n"/>
            </a:pPr>
            <a:endParaRPr lang="en-US" sz="20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  <a:p>
            <a:pPr lvl="1" indent="-342900" algn="l" eaLnBrk="0" hangingPunct="0">
              <a:spcBef>
                <a:spcPct val="20000"/>
              </a:spcBef>
              <a:buClr>
                <a:srgbClr val="003399"/>
              </a:buClr>
              <a:buSzPct val="70000"/>
              <a:buFont typeface="Wingdings" pitchFamily="2" charset="2"/>
              <a:buChar char="n"/>
            </a:pPr>
            <a:r>
              <a:rPr lang="en-US" sz="20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Concatenating copies all observations from the first data set and then copies all observations from one or more successive data sets into a new data set. </a:t>
            </a:r>
          </a:p>
          <a:p>
            <a:pPr lvl="2" indent="-342900" algn="l" eaLnBrk="0" hangingPunct="0">
              <a:spcBef>
                <a:spcPct val="20000"/>
              </a:spcBef>
              <a:buClr>
                <a:srgbClr val="003399"/>
              </a:buClr>
              <a:buSzPct val="70000"/>
              <a:buFont typeface="Wingdings" pitchFamily="2" charset="2"/>
              <a:buChar char="n"/>
            </a:pPr>
            <a:r>
              <a:rPr lang="en-US" sz="20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More flexible, but slower</a:t>
            </a:r>
          </a:p>
          <a:p>
            <a:pPr lvl="2" indent="-342900" algn="l" eaLnBrk="0" hangingPunct="0">
              <a:spcBef>
                <a:spcPct val="20000"/>
              </a:spcBef>
              <a:buClr>
                <a:srgbClr val="003399"/>
              </a:buClr>
              <a:buSzPct val="70000"/>
              <a:buFont typeface="Wingdings" pitchFamily="2" charset="2"/>
              <a:buChar char="n"/>
            </a:pPr>
            <a:r>
              <a:rPr lang="en-US" sz="20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DATA step</a:t>
            </a:r>
          </a:p>
        </p:txBody>
      </p:sp>
      <p:graphicFrame>
        <p:nvGraphicFramePr>
          <p:cNvPr id="450857" name="Group 297"/>
          <p:cNvGraphicFramePr>
            <a:graphicFrameLocks noGrp="1"/>
          </p:cNvGraphicFramePr>
          <p:nvPr/>
        </p:nvGraphicFramePr>
        <p:xfrm>
          <a:off x="946150" y="4678363"/>
          <a:ext cx="1870075" cy="1097280"/>
        </p:xfrm>
        <a:graphic>
          <a:graphicData uri="http://schemas.openxmlformats.org/drawingml/2006/table">
            <a:tbl>
              <a:tblPr/>
              <a:tblGrid>
                <a:gridCol w="57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0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241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ptos Display" panose="020B0004020202020204" pitchFamily="34" charset="0"/>
                        </a:rPr>
                        <a:t>SAS Data Set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24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4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50858" name="Group 298"/>
          <p:cNvGraphicFramePr>
            <a:graphicFrameLocks noGrp="1"/>
          </p:cNvGraphicFramePr>
          <p:nvPr/>
        </p:nvGraphicFramePr>
        <p:xfrm>
          <a:off x="946150" y="2449513"/>
          <a:ext cx="1870075" cy="1371600"/>
        </p:xfrm>
        <a:graphic>
          <a:graphicData uri="http://schemas.openxmlformats.org/drawingml/2006/table">
            <a:tbl>
              <a:tblPr/>
              <a:tblGrid>
                <a:gridCol w="579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0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ptos Display" panose="020B0004020202020204" pitchFamily="34" charset="0"/>
                        </a:rPr>
                        <a:t>SAS Data Set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9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7963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7963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4440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Merging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071563"/>
            <a:ext cx="7848600" cy="5348287"/>
          </a:xfrm>
        </p:spPr>
        <p:txBody>
          <a:bodyPr/>
          <a:lstStyle/>
          <a:p>
            <a:pPr marL="0" indent="0" eaLnBrk="1" hangingPunct="1"/>
            <a:r>
              <a:rPr lang="en-US"/>
              <a:t>Merging involves combining observations from two or more SAS data sets into a single observation in a new SAS data set.</a:t>
            </a:r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r>
              <a:rPr lang="en-US"/>
              <a:t>Observations can be merged based on their positions in the original data sets or merged by one or more common variables. </a:t>
            </a:r>
          </a:p>
        </p:txBody>
      </p:sp>
      <p:sp>
        <p:nvSpPr>
          <p:cNvPr id="12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95E043C-4E7F-4258-8302-5F6FFE4D68E2}" type="slidenum">
              <a:rPr lang="en-US">
                <a:solidFill>
                  <a:srgbClr val="000000"/>
                </a:solidFill>
              </a:rPr>
              <a:pPr>
                <a:defRPr/>
              </a:pPr>
              <a:t>9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2533" name="Rectangle 7"/>
          <p:cNvSpPr>
            <a:spLocks noChangeAspect="1" noChangeArrowheads="1"/>
          </p:cNvSpPr>
          <p:nvPr/>
        </p:nvSpPr>
        <p:spPr bwMode="auto">
          <a:xfrm>
            <a:off x="720725" y="2382838"/>
            <a:ext cx="4910138" cy="2066925"/>
          </a:xfrm>
          <a:prstGeom prst="rect">
            <a:avLst/>
          </a:prstGeom>
          <a:solidFill>
            <a:srgbClr val="F2F2F2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graphicFrame>
        <p:nvGraphicFramePr>
          <p:cNvPr id="452096" name="Group 512"/>
          <p:cNvGraphicFramePr>
            <a:graphicFrameLocks noGrp="1"/>
          </p:cNvGraphicFramePr>
          <p:nvPr/>
        </p:nvGraphicFramePr>
        <p:xfrm>
          <a:off x="3659188" y="2703513"/>
          <a:ext cx="1757362" cy="1384552"/>
        </p:xfrm>
        <a:graphic>
          <a:graphicData uri="http://schemas.openxmlformats.org/drawingml/2006/table">
            <a:tbl>
              <a:tblPr/>
              <a:tblGrid>
                <a:gridCol w="728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257"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ptos Display" panose="020B0004020202020204" pitchFamily="34" charset="0"/>
                        </a:rPr>
                        <a:t>SAS Data Set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57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257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57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7272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52097" name="Group 513"/>
          <p:cNvGraphicFramePr>
            <a:graphicFrameLocks noGrp="1"/>
          </p:cNvGraphicFramePr>
          <p:nvPr/>
        </p:nvGraphicFramePr>
        <p:xfrm>
          <a:off x="946150" y="2709863"/>
          <a:ext cx="1870075" cy="1371600"/>
        </p:xfrm>
        <a:graphic>
          <a:graphicData uri="http://schemas.openxmlformats.org/drawingml/2006/table">
            <a:tbl>
              <a:tblPr/>
              <a:tblGrid>
                <a:gridCol w="579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0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ptos Display" panose="020B0004020202020204" pitchFamily="34" charset="0"/>
                        </a:rPr>
                        <a:t>SAS Data Set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9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7963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7963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575" name="Text Box 439"/>
          <p:cNvSpPr txBox="1">
            <a:spLocks noChangeArrowheads="1"/>
          </p:cNvSpPr>
          <p:nvPr/>
        </p:nvSpPr>
        <p:spPr bwMode="auto">
          <a:xfrm>
            <a:off x="2965450" y="3071813"/>
            <a:ext cx="501740" cy="91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med" len="lg"/>
                <a:tailEnd type="none" w="med" len="lg"/>
              </a14:hiddenLine>
            </a:ext>
          </a:extLst>
        </p:spPr>
        <p:txBody>
          <a:bodyPr wrap="none" lIns="88900" tIns="88900" rIns="88900" bIns="889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l" eaLnBrk="0" hangingPunct="0"/>
            <a:r>
              <a:rPr lang="en-US" sz="48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3734779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Example: Appending a Data Set</a:t>
            </a:r>
          </a:p>
        </p:txBody>
      </p:sp>
      <p:sp>
        <p:nvSpPr>
          <p:cNvPr id="23555" name="Rectangle 5"/>
          <p:cNvSpPr>
            <a:spLocks noGrp="1" noChangeArrowheads="1"/>
          </p:cNvSpPr>
          <p:nvPr>
            <p:ph type="body" sz="half" idx="1"/>
          </p:nvPr>
        </p:nvSpPr>
        <p:spPr>
          <a:xfrm>
            <a:off x="685800" y="1071563"/>
            <a:ext cx="7740650" cy="4267200"/>
          </a:xfrm>
        </p:spPr>
        <p:txBody>
          <a:bodyPr/>
          <a:lstStyle/>
          <a:p>
            <a:pPr marL="0" indent="0" eaLnBrk="1" hangingPunct="1"/>
            <a:r>
              <a:rPr lang="en-US"/>
              <a:t>One data set is appended to a master data set.</a:t>
            </a:r>
          </a:p>
        </p:txBody>
      </p:sp>
      <p:sp>
        <p:nvSpPr>
          <p:cNvPr id="228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B47FBF3-6DBD-447D-8B9E-A2BF877FE1AE}" type="slidenum">
              <a:rPr lang="en-US">
                <a:solidFill>
                  <a:srgbClr val="000000"/>
                </a:solidFill>
              </a:rPr>
              <a:pPr>
                <a:defRPr/>
              </a:pPr>
              <a:t>10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3557" name="AutoShape 509"/>
          <p:cNvSpPr>
            <a:spLocks noChangeArrowheads="1"/>
          </p:cNvSpPr>
          <p:nvPr/>
        </p:nvSpPr>
        <p:spPr bwMode="auto">
          <a:xfrm>
            <a:off x="4687888" y="3503613"/>
            <a:ext cx="622300" cy="536575"/>
          </a:xfrm>
          <a:prstGeom prst="rightArrow">
            <a:avLst>
              <a:gd name="adj1" fmla="val 50000"/>
              <a:gd name="adj2" fmla="val 28994"/>
            </a:avLst>
          </a:prstGeom>
          <a:solidFill>
            <a:schemeClr val="tx1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23558" name="Rectangle 3"/>
          <p:cNvSpPr>
            <a:spLocks noChangeArrowheads="1"/>
          </p:cNvSpPr>
          <p:nvPr/>
        </p:nvSpPr>
        <p:spPr bwMode="auto">
          <a:xfrm>
            <a:off x="703263" y="1687513"/>
            <a:ext cx="3868737" cy="4146550"/>
          </a:xfrm>
          <a:prstGeom prst="rect">
            <a:avLst/>
          </a:prstGeom>
          <a:solidFill>
            <a:srgbClr val="F2F2F2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graphicFrame>
        <p:nvGraphicFramePr>
          <p:cNvPr id="460383" name="Group 1631"/>
          <p:cNvGraphicFramePr>
            <a:graphicFrameLocks noGrp="1"/>
          </p:cNvGraphicFramePr>
          <p:nvPr/>
        </p:nvGraphicFramePr>
        <p:xfrm>
          <a:off x="5457825" y="2560638"/>
          <a:ext cx="3586163" cy="2506663"/>
        </p:xfrm>
        <a:graphic>
          <a:graphicData uri="http://schemas.openxmlformats.org/drawingml/2006/table">
            <a:tbl>
              <a:tblPr/>
              <a:tblGrid>
                <a:gridCol w="1093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8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74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19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HireYear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19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Stacey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2006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9294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Gloria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2007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19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James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2007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119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Brett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2008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119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Renee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2008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60384" name="Group 1632"/>
          <p:cNvGraphicFramePr>
            <a:graphicFrameLocks noGrp="1"/>
          </p:cNvGraphicFramePr>
          <p:nvPr/>
        </p:nvGraphicFramePr>
        <p:xfrm>
          <a:off x="833438" y="4154488"/>
          <a:ext cx="3586162" cy="1465262"/>
        </p:xfrm>
        <a:graphic>
          <a:graphicData uri="http://schemas.openxmlformats.org/drawingml/2006/table">
            <a:tbl>
              <a:tblPr/>
              <a:tblGrid>
                <a:gridCol w="10937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85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812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Emps2008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HireYear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Brett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2008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Renee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2008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60385" name="Group 1633"/>
          <p:cNvGraphicFramePr>
            <a:graphicFrameLocks noGrp="1"/>
          </p:cNvGraphicFramePr>
          <p:nvPr/>
        </p:nvGraphicFramePr>
        <p:xfrm>
          <a:off x="833438" y="1854200"/>
          <a:ext cx="3586162" cy="1811339"/>
        </p:xfrm>
        <a:graphic>
          <a:graphicData uri="http://schemas.openxmlformats.org/drawingml/2006/table">
            <a:tbl>
              <a:tblPr/>
              <a:tblGrid>
                <a:gridCol w="10937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85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95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HireYear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Stacey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2006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Gloria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2007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James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2007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632" name="Oval 1509"/>
          <p:cNvSpPr>
            <a:spLocks noChangeArrowheads="1"/>
          </p:cNvSpPr>
          <p:nvPr/>
        </p:nvSpPr>
        <p:spPr bwMode="auto">
          <a:xfrm>
            <a:off x="665163" y="1766888"/>
            <a:ext cx="1225550" cy="576262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 type="none" w="med" len="lg"/>
            <a:tailEnd type="non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88900" tIns="88900" rIns="88900" bIns="88900" anchor="ctr"/>
          <a:lstStyle/>
          <a:p>
            <a:pPr algn="l" eaLnBrk="0" hangingPunct="0"/>
            <a:endParaRPr lang="en-US" sz="2000" noProof="1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23633" name="Oval 1513"/>
          <p:cNvSpPr>
            <a:spLocks noChangeArrowheads="1"/>
          </p:cNvSpPr>
          <p:nvPr/>
        </p:nvSpPr>
        <p:spPr bwMode="auto">
          <a:xfrm>
            <a:off x="5243513" y="2454275"/>
            <a:ext cx="1225550" cy="576263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 type="none" w="med" len="lg"/>
            <a:tailEnd type="non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88900" tIns="88900" rIns="88900" bIns="88900" anchor="ctr"/>
          <a:lstStyle/>
          <a:p>
            <a:pPr algn="l" eaLnBrk="0" hangingPunct="0"/>
            <a:endParaRPr lang="en-US" sz="2000" noProof="1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05526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Example: Concatenating Data Sets</a:t>
            </a:r>
          </a:p>
        </p:txBody>
      </p:sp>
      <p:sp>
        <p:nvSpPr>
          <p:cNvPr id="24579" name="Rectangle 5"/>
          <p:cNvSpPr>
            <a:spLocks noGrp="1" noChangeArrowheads="1"/>
          </p:cNvSpPr>
          <p:nvPr>
            <p:ph type="body" sz="half" idx="1"/>
          </p:nvPr>
        </p:nvSpPr>
        <p:spPr>
          <a:xfrm>
            <a:off x="685800" y="1071563"/>
            <a:ext cx="7824788" cy="4267200"/>
          </a:xfrm>
        </p:spPr>
        <p:txBody>
          <a:bodyPr/>
          <a:lstStyle/>
          <a:p>
            <a:pPr marL="0" indent="0" eaLnBrk="1" hangingPunct="1"/>
            <a:r>
              <a:rPr lang="en-US"/>
              <a:t>Two data sets are concatenated to create a new data set.</a:t>
            </a:r>
          </a:p>
        </p:txBody>
      </p:sp>
      <p:sp>
        <p:nvSpPr>
          <p:cNvPr id="22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6B1F282-1304-4292-9291-F0F784DCA463}" type="slidenum">
              <a:rPr lang="en-US">
                <a:solidFill>
                  <a:srgbClr val="000000"/>
                </a:solidFill>
              </a:rPr>
              <a:pPr>
                <a:defRPr/>
              </a:pPr>
              <a:t>11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4581" name="Rectangle 3"/>
          <p:cNvSpPr>
            <a:spLocks noChangeArrowheads="1"/>
          </p:cNvSpPr>
          <p:nvPr/>
        </p:nvSpPr>
        <p:spPr bwMode="auto">
          <a:xfrm>
            <a:off x="703263" y="1687513"/>
            <a:ext cx="3757612" cy="4146550"/>
          </a:xfrm>
          <a:prstGeom prst="rect">
            <a:avLst/>
          </a:prstGeom>
          <a:solidFill>
            <a:srgbClr val="F2F2F2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graphicFrame>
        <p:nvGraphicFramePr>
          <p:cNvPr id="466502" name="Group 582"/>
          <p:cNvGraphicFramePr>
            <a:graphicFrameLocks noGrp="1"/>
          </p:cNvGraphicFramePr>
          <p:nvPr/>
        </p:nvGraphicFramePr>
        <p:xfrm>
          <a:off x="865188" y="4141788"/>
          <a:ext cx="3438525" cy="1465262"/>
        </p:xfrm>
        <a:graphic>
          <a:graphicData uri="http://schemas.openxmlformats.org/drawingml/2006/table">
            <a:tbl>
              <a:tblPr/>
              <a:tblGrid>
                <a:gridCol w="10937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0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812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EmpsFR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Country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Pierre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France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Sophie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France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66503" name="Group 583"/>
          <p:cNvGraphicFramePr>
            <a:graphicFrameLocks noGrp="1"/>
          </p:cNvGraphicFramePr>
          <p:nvPr/>
        </p:nvGraphicFramePr>
        <p:xfrm>
          <a:off x="5451475" y="2560638"/>
          <a:ext cx="3433763" cy="2506663"/>
        </p:xfrm>
        <a:graphic>
          <a:graphicData uri="http://schemas.openxmlformats.org/drawingml/2006/table">
            <a:tbl>
              <a:tblPr/>
              <a:tblGrid>
                <a:gridCol w="1093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74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EmpsAll1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19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Country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19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Lars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Denmark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9294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Kari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Denmark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19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Jonas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Denmark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119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Pierre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France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119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Sophie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France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66504" name="Group 584"/>
          <p:cNvGraphicFramePr>
            <a:graphicFrameLocks noGrp="1"/>
          </p:cNvGraphicFramePr>
          <p:nvPr/>
        </p:nvGraphicFramePr>
        <p:xfrm>
          <a:off x="850900" y="1854200"/>
          <a:ext cx="3438525" cy="1811339"/>
        </p:xfrm>
        <a:graphic>
          <a:graphicData uri="http://schemas.openxmlformats.org/drawingml/2006/table">
            <a:tbl>
              <a:tblPr/>
              <a:tblGrid>
                <a:gridCol w="1093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0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95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EmpsDK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Country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Lars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Denmark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Kari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Denmark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Jonas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Denmark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655" name="AutoShape 488"/>
          <p:cNvSpPr>
            <a:spLocks noChangeArrowheads="1"/>
          </p:cNvSpPr>
          <p:nvPr/>
        </p:nvSpPr>
        <p:spPr bwMode="auto">
          <a:xfrm>
            <a:off x="4687888" y="3503613"/>
            <a:ext cx="622300" cy="536575"/>
          </a:xfrm>
          <a:prstGeom prst="rightArrow">
            <a:avLst>
              <a:gd name="adj1" fmla="val 50000"/>
              <a:gd name="adj2" fmla="val 28994"/>
            </a:avLst>
          </a:prstGeom>
          <a:solidFill>
            <a:schemeClr val="tx1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08579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Compiling/Executing a SET statement in SAS</a:t>
            </a:r>
          </a:p>
        </p:txBody>
      </p:sp>
      <p:sp>
        <p:nvSpPr>
          <p:cNvPr id="63491" name="Rectangle 2"/>
          <p:cNvSpPr>
            <a:spLocks noGrp="1" noChangeArrowheads="1"/>
          </p:cNvSpPr>
          <p:nvPr>
            <p:ph idx="1"/>
          </p:nvPr>
        </p:nvSpPr>
        <p:spPr>
          <a:xfrm>
            <a:off x="685800" y="1066800"/>
            <a:ext cx="7848600" cy="5534025"/>
          </a:xfrm>
        </p:spPr>
        <p:txBody>
          <a:bodyPr/>
          <a:lstStyle/>
          <a:p>
            <a:pPr marL="0" indent="0" eaLnBrk="1" hangingPunct="1"/>
            <a:r>
              <a:rPr lang="en-US"/>
              <a:t>Concatenate </a:t>
            </a:r>
            <a:r>
              <a:rPr lang="en-US" sz="2800" b="1">
                <a:latin typeface="Courier New" pitchFamily="49" charset="0"/>
              </a:rPr>
              <a:t>EmpsDK</a:t>
            </a:r>
            <a:r>
              <a:rPr lang="en-US"/>
              <a:t> and </a:t>
            </a:r>
            <a:r>
              <a:rPr lang="en-US" sz="2800" b="1">
                <a:latin typeface="Courier New" pitchFamily="49" charset="0"/>
              </a:rPr>
              <a:t>EmpsFR</a:t>
            </a:r>
            <a:r>
              <a:rPr lang="en-US"/>
              <a:t> to create a new data set named </a:t>
            </a:r>
            <a:r>
              <a:rPr lang="en-US" sz="2800" b="1">
                <a:latin typeface="Courier New" pitchFamily="49" charset="0"/>
              </a:rPr>
              <a:t>EmpsAll1</a:t>
            </a:r>
            <a:r>
              <a:rPr lang="en-US"/>
              <a:t>.</a:t>
            </a:r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r>
              <a:rPr lang="en-US"/>
              <a:t>The data sets contain the same variables.</a:t>
            </a:r>
          </a:p>
        </p:txBody>
      </p:sp>
      <p:sp>
        <p:nvSpPr>
          <p:cNvPr id="13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A4A4353-9337-4A93-BE1F-61E5BB8CD7FD}" type="slidenum">
              <a:rPr lang="en-US">
                <a:solidFill>
                  <a:srgbClr val="000000"/>
                </a:solidFill>
              </a:rPr>
              <a:pPr>
                <a:defRPr/>
              </a:pPr>
              <a:t>12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graphicFrame>
        <p:nvGraphicFramePr>
          <p:cNvPr id="472286" name="Group 222"/>
          <p:cNvGraphicFramePr>
            <a:graphicFrameLocks noGrp="1"/>
          </p:cNvGraphicFramePr>
          <p:nvPr/>
        </p:nvGraphicFramePr>
        <p:xfrm>
          <a:off x="5127625" y="2112963"/>
          <a:ext cx="3438525" cy="1465262"/>
        </p:xfrm>
        <a:graphic>
          <a:graphicData uri="http://schemas.openxmlformats.org/drawingml/2006/table">
            <a:tbl>
              <a:tblPr/>
              <a:tblGrid>
                <a:gridCol w="1093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0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812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EmpsFR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Country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Pierre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France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Sophie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France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72287" name="Group 223"/>
          <p:cNvGraphicFramePr>
            <a:graphicFrameLocks noGrp="1"/>
          </p:cNvGraphicFramePr>
          <p:nvPr/>
        </p:nvGraphicFramePr>
        <p:xfrm>
          <a:off x="666750" y="2108200"/>
          <a:ext cx="3438525" cy="1811339"/>
        </p:xfrm>
        <a:graphic>
          <a:graphicData uri="http://schemas.openxmlformats.org/drawingml/2006/table">
            <a:tbl>
              <a:tblPr/>
              <a:tblGrid>
                <a:gridCol w="1093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0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95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EmpsDK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Country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Lars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Denmark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Kari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Denmark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Jonas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Denmark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3535" name="Text Box 138"/>
          <p:cNvSpPr txBox="1">
            <a:spLocks noChangeArrowheads="1"/>
          </p:cNvSpPr>
          <p:nvPr/>
        </p:nvSpPr>
        <p:spPr bwMode="auto">
          <a:xfrm>
            <a:off x="8003137" y="6324600"/>
            <a:ext cx="928138" cy="4257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med" len="lg"/>
                <a:tailEnd type="none" w="med" len="lg"/>
              </a14:hiddenLine>
            </a:ext>
          </a:extLst>
        </p:spPr>
        <p:txBody>
          <a:bodyPr wrap="none" lIns="88900" tIns="88900" rIns="88900" bIns="889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/>
            <a:r>
              <a:rPr lang="en-US" sz="16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p110d02</a:t>
            </a:r>
          </a:p>
        </p:txBody>
      </p:sp>
      <p:sp>
        <p:nvSpPr>
          <p:cNvPr id="63536" name="Text Box 149"/>
          <p:cNvSpPr txBox="1">
            <a:spLocks noChangeArrowheads="1"/>
          </p:cNvSpPr>
          <p:nvPr/>
        </p:nvSpPr>
        <p:spPr bwMode="auto">
          <a:xfrm>
            <a:off x="2371725" y="4854575"/>
            <a:ext cx="4014882" cy="1058238"/>
          </a:xfrm>
          <a:prstGeom prst="rect">
            <a:avLst/>
          </a:prstGeom>
          <a:solidFill>
            <a:srgbClr val="FFFFFF"/>
          </a:solidFill>
          <a:ln w="38100">
            <a:solidFill>
              <a:schemeClr val="tx2"/>
            </a:solidFill>
            <a:miter lim="800000"/>
            <a:headEnd type="none" w="med" len="lg"/>
            <a:tailEnd type="none" w="med" len="lg"/>
          </a:ln>
        </p:spPr>
        <p:txBody>
          <a:bodyPr wrap="none" tIns="50800" rIns="50800" bIns="508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data EmpsAll1;</a:t>
            </a:r>
          </a:p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   set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EmpsDK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EmpsFR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;</a:t>
            </a:r>
          </a:p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run;</a:t>
            </a:r>
          </a:p>
        </p:txBody>
      </p:sp>
    </p:spTree>
    <p:extLst>
      <p:ext uri="{BB962C8B-B14F-4D97-AF65-F5344CB8AC3E}">
        <p14:creationId xmlns:p14="http://schemas.microsoft.com/office/powerpoint/2010/main" val="15468829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Compilation  </a:t>
            </a:r>
          </a:p>
        </p:txBody>
      </p:sp>
      <p:sp>
        <p:nvSpPr>
          <p:cNvPr id="193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CD58965-6821-4D90-97D6-A504ED304EA1}" type="slidenum">
              <a:rPr lang="en-US">
                <a:solidFill>
                  <a:srgbClr val="000000"/>
                </a:solidFill>
              </a:rPr>
              <a:pPr>
                <a:defRPr/>
              </a:pPr>
              <a:t>13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graphicFrame>
        <p:nvGraphicFramePr>
          <p:cNvPr id="914771" name="Group 339"/>
          <p:cNvGraphicFramePr>
            <a:graphicFrameLocks noGrp="1"/>
          </p:cNvGraphicFramePr>
          <p:nvPr/>
        </p:nvGraphicFramePr>
        <p:xfrm>
          <a:off x="5127625" y="998538"/>
          <a:ext cx="3438525" cy="1452563"/>
        </p:xfrm>
        <a:graphic>
          <a:graphicData uri="http://schemas.openxmlformats.org/drawingml/2006/table">
            <a:tbl>
              <a:tblPr/>
              <a:tblGrid>
                <a:gridCol w="1093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0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813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EmpsFR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44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Country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5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Pierre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France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5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Sophie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France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14772" name="Group 340"/>
          <p:cNvGraphicFramePr>
            <a:graphicFrameLocks noGrp="1"/>
          </p:cNvGraphicFramePr>
          <p:nvPr/>
        </p:nvGraphicFramePr>
        <p:xfrm>
          <a:off x="666750" y="993775"/>
          <a:ext cx="3438525" cy="1811339"/>
        </p:xfrm>
        <a:graphic>
          <a:graphicData uri="http://schemas.openxmlformats.org/drawingml/2006/table">
            <a:tbl>
              <a:tblPr/>
              <a:tblGrid>
                <a:gridCol w="1093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0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95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EmpsDK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Country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Lars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Denmark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Kari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Denmark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Jonas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Denmark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14773" name="Group 341"/>
          <p:cNvGraphicFramePr>
            <a:graphicFrameLocks noGrp="1"/>
          </p:cNvGraphicFramePr>
          <p:nvPr/>
        </p:nvGraphicFramePr>
        <p:xfrm>
          <a:off x="666750" y="4305300"/>
          <a:ext cx="3433763" cy="1057494"/>
        </p:xfrm>
        <a:graphic>
          <a:graphicData uri="http://schemas.openxmlformats.org/drawingml/2006/table">
            <a:tbl>
              <a:tblPr/>
              <a:tblGrid>
                <a:gridCol w="1093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540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 Display" panose="020B0004020202020204" pitchFamily="34" charset="0"/>
                        </a:rPr>
                        <a:t>PDV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867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Country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867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14774" name="Group 342"/>
          <p:cNvGraphicFramePr>
            <a:graphicFrameLocks noGrp="1"/>
          </p:cNvGraphicFramePr>
          <p:nvPr/>
        </p:nvGraphicFramePr>
        <p:xfrm>
          <a:off x="5133975" y="4246563"/>
          <a:ext cx="3433763" cy="773112"/>
        </p:xfrm>
        <a:graphic>
          <a:graphicData uri="http://schemas.openxmlformats.org/drawingml/2006/table">
            <a:tbl>
              <a:tblPr/>
              <a:tblGrid>
                <a:gridCol w="1093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895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EmpsAll1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217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Country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4584" name="Text Box 189"/>
          <p:cNvSpPr txBox="1">
            <a:spLocks noChangeArrowheads="1"/>
          </p:cNvSpPr>
          <p:nvPr/>
        </p:nvSpPr>
        <p:spPr bwMode="auto">
          <a:xfrm>
            <a:off x="2589213" y="3016250"/>
            <a:ext cx="4014882" cy="1058238"/>
          </a:xfrm>
          <a:prstGeom prst="rect">
            <a:avLst/>
          </a:prstGeom>
          <a:solidFill>
            <a:srgbClr val="FFFFFF"/>
          </a:solidFill>
          <a:ln w="38100">
            <a:solidFill>
              <a:schemeClr val="tx2"/>
            </a:solidFill>
            <a:miter lim="800000"/>
            <a:headEnd type="none" w="med" len="lg"/>
            <a:tailEnd type="none" w="med" len="lg"/>
          </a:ln>
        </p:spPr>
        <p:txBody>
          <a:bodyPr wrap="none" tIns="50800" rIns="50800" bIns="508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data EmpsAll1;</a:t>
            </a:r>
          </a:p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   set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EmpsDK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EmpsFR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;</a:t>
            </a:r>
          </a:p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run;</a:t>
            </a:r>
          </a:p>
        </p:txBody>
      </p:sp>
      <p:sp>
        <p:nvSpPr>
          <p:cNvPr id="64585" name="Animation Flag"/>
          <p:cNvSpPr txBox="1">
            <a:spLocks noChangeArrowheads="1"/>
          </p:cNvSpPr>
          <p:nvPr/>
        </p:nvSpPr>
        <p:spPr bwMode="auto">
          <a:xfrm>
            <a:off x="8572500" y="6451600"/>
            <a:ext cx="37221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med" len="lg"/>
                <a:tailEnd type="none" w="med" len="lg"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l" eaLnBrk="0" hangingPunct="0"/>
            <a:r>
              <a:rPr lang="en-US" sz="20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...</a:t>
            </a:r>
          </a:p>
        </p:txBody>
      </p:sp>
      <p:sp>
        <p:nvSpPr>
          <p:cNvPr id="64586" name="Rectangle 19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911600" y="3371850"/>
            <a:ext cx="1120775" cy="336550"/>
          </a:xfrm>
          <a:prstGeom prst="rect">
            <a:avLst/>
          </a:prstGeom>
          <a:solidFill>
            <a:srgbClr val="99CCFF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med" len="lg"/>
                <a:tailEnd type="none" w="med" len="lg"/>
              </a14:hiddenLine>
            </a:ext>
          </a:extLst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64587" name="Rectangle 19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189538" y="3371850"/>
            <a:ext cx="1120775" cy="336550"/>
          </a:xfrm>
          <a:prstGeom prst="rect">
            <a:avLst/>
          </a:prstGeom>
          <a:solidFill>
            <a:srgbClr val="99CCFF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med" len="lg"/>
                <a:tailEnd type="none" w="med" len="lg"/>
              </a14:hiddenLine>
            </a:ext>
          </a:extLst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227687-A738-4110-8F2F-F5F714C7B277}"/>
              </a:ext>
            </a:extLst>
          </p:cNvPr>
          <p:cNvSpPr txBox="1"/>
          <p:nvPr/>
        </p:nvSpPr>
        <p:spPr>
          <a:xfrm>
            <a:off x="1160824" y="5438163"/>
            <a:ext cx="7010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u="none" strike="noStrike" baseline="0" dirty="0">
                <a:solidFill>
                  <a:srgbClr val="FF0000"/>
                </a:solidFill>
                <a:latin typeface="Aptos Display" panose="020B0004020202020204" pitchFamily="34" charset="0"/>
              </a:rPr>
              <a:t>Program Data Vector (PDV) is a logical area of memory</a:t>
            </a:r>
          </a:p>
          <a:p>
            <a:pPr algn="ctr"/>
            <a:r>
              <a:rPr lang="en-US" sz="2000" u="none" strike="noStrike" baseline="0" dirty="0">
                <a:solidFill>
                  <a:srgbClr val="FF0000"/>
                </a:solidFill>
                <a:latin typeface="Aptos Display" panose="020B0004020202020204" pitchFamily="34" charset="0"/>
              </a:rPr>
              <a:t>that is created during the data step processing. Behind</a:t>
            </a:r>
            <a:r>
              <a:rPr lang="en-US" sz="2000" u="none" strike="noStrike" dirty="0">
                <a:solidFill>
                  <a:srgbClr val="FF0000"/>
                </a:solidFill>
                <a:latin typeface="Aptos Display" panose="020B0004020202020204" pitchFamily="34" charset="0"/>
              </a:rPr>
              <a:t> the scenes, SAS processes one row at a time in memory.</a:t>
            </a:r>
            <a:endParaRPr lang="en-US" sz="2000" u="none" strike="noStrike" baseline="0" dirty="0">
              <a:solidFill>
                <a:srgbClr val="FF0000"/>
              </a:solidFill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3044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Example: Merging Data Sets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 eaLnBrk="1" hangingPunct="1"/>
            <a:r>
              <a:rPr lang="en-US"/>
              <a:t>Two data sets are merged to create a new data set.</a:t>
            </a:r>
          </a:p>
        </p:txBody>
      </p:sp>
      <p:sp>
        <p:nvSpPr>
          <p:cNvPr id="207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D9BF8D4-F6BE-4D8E-920D-2C8C2D4AE3D8}" type="slidenum">
              <a:rPr lang="en-US">
                <a:solidFill>
                  <a:srgbClr val="000000"/>
                </a:solidFill>
              </a:rPr>
              <a:pPr>
                <a:defRPr/>
              </a:pPr>
              <a:t>14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5605" name="Rectangle 486"/>
          <p:cNvSpPr>
            <a:spLocks noChangeArrowheads="1"/>
          </p:cNvSpPr>
          <p:nvPr/>
        </p:nvSpPr>
        <p:spPr bwMode="auto">
          <a:xfrm>
            <a:off x="146050" y="1697038"/>
            <a:ext cx="8851900" cy="2219325"/>
          </a:xfrm>
          <a:prstGeom prst="rect">
            <a:avLst/>
          </a:prstGeom>
          <a:solidFill>
            <a:srgbClr val="F2F2F2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graphicFrame>
        <p:nvGraphicFramePr>
          <p:cNvPr id="661635" name="Group 1155"/>
          <p:cNvGraphicFramePr>
            <a:graphicFrameLocks noGrp="1"/>
          </p:cNvGraphicFramePr>
          <p:nvPr/>
        </p:nvGraphicFramePr>
        <p:xfrm>
          <a:off x="452438" y="1892300"/>
          <a:ext cx="3281362" cy="1811339"/>
        </p:xfrm>
        <a:graphic>
          <a:graphicData uri="http://schemas.openxmlformats.org/drawingml/2006/table">
            <a:tbl>
              <a:tblPr/>
              <a:tblGrid>
                <a:gridCol w="10937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95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EmpsAU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EmpID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Togar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121150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Kylie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Birin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61636" name="Group 1156"/>
          <p:cNvGraphicFramePr>
            <a:graphicFrameLocks noGrp="1"/>
          </p:cNvGraphicFramePr>
          <p:nvPr/>
        </p:nvGraphicFramePr>
        <p:xfrm>
          <a:off x="5141913" y="1879600"/>
          <a:ext cx="3559175" cy="1811339"/>
        </p:xfrm>
        <a:graphic>
          <a:graphicData uri="http://schemas.openxmlformats.org/drawingml/2006/table">
            <a:tbl>
              <a:tblPr/>
              <a:tblGrid>
                <a:gridCol w="10937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95"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PhoneH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EmpID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Phone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121150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+61(2)5555-1793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121151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+61(2)5555-1849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121152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+61(2)5555-1665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647" name="AutoShape 491"/>
          <p:cNvSpPr>
            <a:spLocks noChangeArrowheads="1"/>
          </p:cNvSpPr>
          <p:nvPr/>
        </p:nvSpPr>
        <p:spPr bwMode="auto">
          <a:xfrm rot="5400000">
            <a:off x="4259263" y="4240212"/>
            <a:ext cx="622300" cy="536575"/>
          </a:xfrm>
          <a:prstGeom prst="rightArrow">
            <a:avLst>
              <a:gd name="adj1" fmla="val 50000"/>
              <a:gd name="adj2" fmla="val 28994"/>
            </a:avLst>
          </a:prstGeom>
          <a:solidFill>
            <a:schemeClr val="tx1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graphicFrame>
        <p:nvGraphicFramePr>
          <p:cNvPr id="661637" name="Group 1157"/>
          <p:cNvGraphicFramePr>
            <a:graphicFrameLocks noGrp="1"/>
          </p:cNvGraphicFramePr>
          <p:nvPr/>
        </p:nvGraphicFramePr>
        <p:xfrm>
          <a:off x="1692275" y="4695825"/>
          <a:ext cx="5746750" cy="1811339"/>
        </p:xfrm>
        <a:graphic>
          <a:graphicData uri="http://schemas.openxmlformats.org/drawingml/2006/table">
            <a:tbl>
              <a:tblPr/>
              <a:tblGrid>
                <a:gridCol w="1093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37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53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95">
                <a:tc gridSpan="4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EmpsAUH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EmpID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Phone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Togar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121150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+61(2)5555-1793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Kylie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+61(2)5555-1849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Birin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+61(2)5555-1665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676" name="Line 1037"/>
          <p:cNvSpPr>
            <a:spLocks noChangeShapeType="1"/>
          </p:cNvSpPr>
          <p:nvPr/>
        </p:nvSpPr>
        <p:spPr bwMode="auto">
          <a:xfrm>
            <a:off x="3768725" y="2824163"/>
            <a:ext cx="1325563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25677" name="Line 1038"/>
          <p:cNvSpPr>
            <a:spLocks noChangeShapeType="1"/>
          </p:cNvSpPr>
          <p:nvPr/>
        </p:nvSpPr>
        <p:spPr bwMode="auto">
          <a:xfrm>
            <a:off x="3768725" y="3186113"/>
            <a:ext cx="1325563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25678" name="Line 1039"/>
          <p:cNvSpPr>
            <a:spLocks noChangeShapeType="1"/>
          </p:cNvSpPr>
          <p:nvPr/>
        </p:nvSpPr>
        <p:spPr bwMode="auto">
          <a:xfrm>
            <a:off x="3768725" y="3529013"/>
            <a:ext cx="1325563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2733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Match-Merging</a:t>
            </a:r>
          </a:p>
        </p:txBody>
      </p:sp>
      <p:sp>
        <p:nvSpPr>
          <p:cNvPr id="1187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 eaLnBrk="1" hangingPunct="1"/>
            <a:r>
              <a:rPr lang="en-US" i="1"/>
              <a:t>Match-merging</a:t>
            </a:r>
            <a:r>
              <a:rPr lang="en-US"/>
              <a:t> combines observations from two or more SAS data sets into a single observation in a new data set based on the values of one or more common variables.</a:t>
            </a:r>
          </a:p>
        </p:txBody>
      </p:sp>
      <p:sp>
        <p:nvSpPr>
          <p:cNvPr id="3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3148ACE-B0A1-413F-B57A-9BD961C61815}" type="slidenum">
              <a:rPr lang="en-US">
                <a:solidFill>
                  <a:srgbClr val="000000"/>
                </a:solidFill>
              </a:rPr>
              <a:pPr>
                <a:defRPr/>
              </a:pPr>
              <a:t>15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118789" name="Rectangle 351"/>
          <p:cNvSpPr>
            <a:spLocks noChangeArrowheads="1"/>
          </p:cNvSpPr>
          <p:nvPr/>
        </p:nvSpPr>
        <p:spPr bwMode="auto">
          <a:xfrm>
            <a:off x="2816225" y="4868863"/>
            <a:ext cx="3590925" cy="1755775"/>
          </a:xfrm>
          <a:prstGeom prst="rect">
            <a:avLst/>
          </a:prstGeom>
          <a:solidFill>
            <a:srgbClr val="F2F2F2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8790" name="Rectangle 350"/>
          <p:cNvSpPr>
            <a:spLocks noChangeArrowheads="1"/>
          </p:cNvSpPr>
          <p:nvPr/>
        </p:nvSpPr>
        <p:spPr bwMode="auto">
          <a:xfrm>
            <a:off x="4981575" y="2646363"/>
            <a:ext cx="3590925" cy="1755775"/>
          </a:xfrm>
          <a:prstGeom prst="rect">
            <a:avLst/>
          </a:prstGeom>
          <a:solidFill>
            <a:srgbClr val="F2F2F2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8791" name="Rectangle 349"/>
          <p:cNvSpPr>
            <a:spLocks noChangeArrowheads="1"/>
          </p:cNvSpPr>
          <p:nvPr/>
        </p:nvSpPr>
        <p:spPr bwMode="auto">
          <a:xfrm>
            <a:off x="676275" y="2652713"/>
            <a:ext cx="3590925" cy="1755775"/>
          </a:xfrm>
          <a:prstGeom prst="rect">
            <a:avLst/>
          </a:prstGeom>
          <a:solidFill>
            <a:srgbClr val="F2F2F2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graphicFrame>
        <p:nvGraphicFramePr>
          <p:cNvPr id="680528" name="Group 592"/>
          <p:cNvGraphicFramePr>
            <a:graphicFrameLocks noGrp="1"/>
          </p:cNvGraphicFramePr>
          <p:nvPr/>
        </p:nvGraphicFramePr>
        <p:xfrm>
          <a:off x="855663" y="2470150"/>
          <a:ext cx="1231900" cy="1740034"/>
        </p:xfrm>
        <a:graphic>
          <a:graphicData uri="http://schemas.openxmlformats.org/drawingml/2006/table">
            <a:tbl>
              <a:tblPr/>
              <a:tblGrid>
                <a:gridCol w="411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626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A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B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C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3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80529" name="Group 593"/>
          <p:cNvGraphicFramePr>
            <a:graphicFrameLocks noGrp="1"/>
          </p:cNvGraphicFramePr>
          <p:nvPr/>
        </p:nvGraphicFramePr>
        <p:xfrm>
          <a:off x="2806700" y="2471738"/>
          <a:ext cx="1231900" cy="1740034"/>
        </p:xfrm>
        <a:graphic>
          <a:graphicData uri="http://schemas.openxmlformats.org/drawingml/2006/table">
            <a:tbl>
              <a:tblPr/>
              <a:tblGrid>
                <a:gridCol w="411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626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C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D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1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3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8838" name="Line 116"/>
          <p:cNvSpPr>
            <a:spLocks noChangeShapeType="1"/>
          </p:cNvSpPr>
          <p:nvPr/>
        </p:nvSpPr>
        <p:spPr bwMode="auto">
          <a:xfrm>
            <a:off x="2093913" y="3332163"/>
            <a:ext cx="7143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8839" name="Line 117"/>
          <p:cNvSpPr>
            <a:spLocks noChangeShapeType="1"/>
          </p:cNvSpPr>
          <p:nvPr/>
        </p:nvSpPr>
        <p:spPr bwMode="auto">
          <a:xfrm>
            <a:off x="2098675" y="3694113"/>
            <a:ext cx="7143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8840" name="Line 118"/>
          <p:cNvSpPr>
            <a:spLocks noChangeShapeType="1"/>
          </p:cNvSpPr>
          <p:nvPr/>
        </p:nvSpPr>
        <p:spPr bwMode="auto">
          <a:xfrm>
            <a:off x="2093913" y="4032250"/>
            <a:ext cx="7143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graphicFrame>
        <p:nvGraphicFramePr>
          <p:cNvPr id="680530" name="Group 594"/>
          <p:cNvGraphicFramePr>
            <a:graphicFrameLocks noGrp="1"/>
          </p:cNvGraphicFramePr>
          <p:nvPr/>
        </p:nvGraphicFramePr>
        <p:xfrm>
          <a:off x="7132638" y="2457450"/>
          <a:ext cx="1231900" cy="1732098"/>
        </p:xfrm>
        <a:graphic>
          <a:graphicData uri="http://schemas.openxmlformats.org/drawingml/2006/table">
            <a:tbl>
              <a:tblPr/>
              <a:tblGrid>
                <a:gridCol w="411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626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C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D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77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1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1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84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80531" name="Group 595"/>
          <p:cNvGraphicFramePr>
            <a:graphicFrameLocks noGrp="1"/>
          </p:cNvGraphicFramePr>
          <p:nvPr/>
        </p:nvGraphicFramePr>
        <p:xfrm>
          <a:off x="5178425" y="2457450"/>
          <a:ext cx="1231900" cy="1740034"/>
        </p:xfrm>
        <a:graphic>
          <a:graphicData uri="http://schemas.openxmlformats.org/drawingml/2006/table">
            <a:tbl>
              <a:tblPr/>
              <a:tblGrid>
                <a:gridCol w="411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626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A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B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C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8887" name="Line 231"/>
          <p:cNvSpPr>
            <a:spLocks noChangeShapeType="1"/>
          </p:cNvSpPr>
          <p:nvPr/>
        </p:nvSpPr>
        <p:spPr bwMode="auto">
          <a:xfrm>
            <a:off x="6413500" y="4029075"/>
            <a:ext cx="7143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8888" name="Line 232"/>
          <p:cNvSpPr>
            <a:spLocks noChangeShapeType="1"/>
          </p:cNvSpPr>
          <p:nvPr/>
        </p:nvSpPr>
        <p:spPr bwMode="auto">
          <a:xfrm>
            <a:off x="6413500" y="3302000"/>
            <a:ext cx="7143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8889" name="Line 233"/>
          <p:cNvSpPr>
            <a:spLocks noChangeShapeType="1"/>
          </p:cNvSpPr>
          <p:nvPr/>
        </p:nvSpPr>
        <p:spPr bwMode="auto">
          <a:xfrm>
            <a:off x="6413500" y="3300413"/>
            <a:ext cx="728663" cy="385762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8890" name="Line 234"/>
          <p:cNvSpPr>
            <a:spLocks noChangeShapeType="1"/>
          </p:cNvSpPr>
          <p:nvPr/>
        </p:nvSpPr>
        <p:spPr bwMode="auto">
          <a:xfrm>
            <a:off x="6399213" y="3638550"/>
            <a:ext cx="728662" cy="385763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graphicFrame>
        <p:nvGraphicFramePr>
          <p:cNvPr id="680532" name="Group 596"/>
          <p:cNvGraphicFramePr>
            <a:graphicFrameLocks noGrp="1"/>
          </p:cNvGraphicFramePr>
          <p:nvPr/>
        </p:nvGraphicFramePr>
        <p:xfrm>
          <a:off x="4970463" y="4691063"/>
          <a:ext cx="1231900" cy="1732096"/>
        </p:xfrm>
        <a:graphic>
          <a:graphicData uri="http://schemas.openxmlformats.org/drawingml/2006/table">
            <a:tbl>
              <a:tblPr/>
              <a:tblGrid>
                <a:gridCol w="411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626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36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C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D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77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36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3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84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4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80533" name="Group 597"/>
          <p:cNvGraphicFramePr>
            <a:graphicFrameLocks noGrp="1"/>
          </p:cNvGraphicFramePr>
          <p:nvPr/>
        </p:nvGraphicFramePr>
        <p:xfrm>
          <a:off x="3016250" y="4691063"/>
          <a:ext cx="1231900" cy="1740034"/>
        </p:xfrm>
        <a:graphic>
          <a:graphicData uri="http://schemas.openxmlformats.org/drawingml/2006/table">
            <a:tbl>
              <a:tblPr/>
              <a:tblGrid>
                <a:gridCol w="411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626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A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B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C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4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8937" name="Line 347"/>
          <p:cNvSpPr>
            <a:spLocks noChangeShapeType="1"/>
          </p:cNvSpPr>
          <p:nvPr/>
        </p:nvSpPr>
        <p:spPr bwMode="auto">
          <a:xfrm>
            <a:off x="4251325" y="6262688"/>
            <a:ext cx="7143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8938" name="Line 348"/>
          <p:cNvSpPr>
            <a:spLocks noChangeShapeType="1"/>
          </p:cNvSpPr>
          <p:nvPr/>
        </p:nvSpPr>
        <p:spPr bwMode="auto">
          <a:xfrm flipV="1">
            <a:off x="4237038" y="5567363"/>
            <a:ext cx="742950" cy="30480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0236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Match-Merging</a:t>
            </a:r>
          </a:p>
        </p:txBody>
      </p:sp>
      <p:sp>
        <p:nvSpPr>
          <p:cNvPr id="352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5221525-F1EE-44B6-AF3D-B38786FA8664}" type="slidenum">
              <a:rPr lang="en-US">
                <a:solidFill>
                  <a:srgbClr val="000000"/>
                </a:solidFill>
              </a:rPr>
              <a:pPr>
                <a:defRPr/>
              </a:pPr>
              <a:t>16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119812" name="Rectangle 725"/>
          <p:cNvSpPr>
            <a:spLocks noChangeArrowheads="1"/>
          </p:cNvSpPr>
          <p:nvPr/>
        </p:nvSpPr>
        <p:spPr bwMode="auto">
          <a:xfrm>
            <a:off x="258763" y="3011488"/>
            <a:ext cx="3590925" cy="1755775"/>
          </a:xfrm>
          <a:prstGeom prst="rect">
            <a:avLst/>
          </a:prstGeom>
          <a:solidFill>
            <a:srgbClr val="F2F2F2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9813" name="Rectangle 724"/>
          <p:cNvSpPr>
            <a:spLocks noChangeArrowheads="1"/>
          </p:cNvSpPr>
          <p:nvPr/>
        </p:nvSpPr>
        <p:spPr bwMode="auto">
          <a:xfrm>
            <a:off x="257175" y="4973638"/>
            <a:ext cx="3590925" cy="1755775"/>
          </a:xfrm>
          <a:prstGeom prst="rect">
            <a:avLst/>
          </a:prstGeom>
          <a:solidFill>
            <a:srgbClr val="F2F2F2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9814" name="Rectangle 723"/>
          <p:cNvSpPr>
            <a:spLocks noChangeArrowheads="1"/>
          </p:cNvSpPr>
          <p:nvPr/>
        </p:nvSpPr>
        <p:spPr bwMode="auto">
          <a:xfrm>
            <a:off x="252413" y="1042988"/>
            <a:ext cx="3590925" cy="1755775"/>
          </a:xfrm>
          <a:prstGeom prst="rect">
            <a:avLst/>
          </a:prstGeom>
          <a:solidFill>
            <a:srgbClr val="F2F2F2"/>
          </a:solidFill>
          <a:ln w="38100">
            <a:solidFill>
              <a:srgbClr val="000000"/>
            </a:solidFill>
            <a:miter lim="800000"/>
            <a:headEnd type="none" w="med" len="lg"/>
            <a:tailEnd type="none" w="med" len="lg"/>
          </a:ln>
        </p:spPr>
        <p:txBody>
          <a:bodyPr wrap="none" lIns="88900" tIns="88900" rIns="88900" bIns="88900" anchor="ctr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graphicFrame>
        <p:nvGraphicFramePr>
          <p:cNvPr id="670662" name="Group 966"/>
          <p:cNvGraphicFramePr>
            <a:graphicFrameLocks noGrp="1"/>
          </p:cNvGraphicFramePr>
          <p:nvPr/>
        </p:nvGraphicFramePr>
        <p:xfrm>
          <a:off x="452438" y="881063"/>
          <a:ext cx="1231900" cy="1740034"/>
        </p:xfrm>
        <a:graphic>
          <a:graphicData uri="http://schemas.openxmlformats.org/drawingml/2006/table">
            <a:tbl>
              <a:tblPr/>
              <a:tblGrid>
                <a:gridCol w="411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626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A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B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C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3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70663" name="Group 967"/>
          <p:cNvGraphicFramePr>
            <a:graphicFrameLocks noGrp="1"/>
          </p:cNvGraphicFramePr>
          <p:nvPr/>
        </p:nvGraphicFramePr>
        <p:xfrm>
          <a:off x="2403475" y="882650"/>
          <a:ext cx="1231900" cy="1740034"/>
        </p:xfrm>
        <a:graphic>
          <a:graphicData uri="http://schemas.openxmlformats.org/drawingml/2006/table">
            <a:tbl>
              <a:tblPr/>
              <a:tblGrid>
                <a:gridCol w="411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626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C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D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1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3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70664" name="Group 968"/>
          <p:cNvGraphicFramePr>
            <a:graphicFrameLocks noGrp="1"/>
          </p:cNvGraphicFramePr>
          <p:nvPr/>
        </p:nvGraphicFramePr>
        <p:xfrm>
          <a:off x="2405063" y="2827338"/>
          <a:ext cx="1231900" cy="1732096"/>
        </p:xfrm>
        <a:graphic>
          <a:graphicData uri="http://schemas.openxmlformats.org/drawingml/2006/table">
            <a:tbl>
              <a:tblPr/>
              <a:tblGrid>
                <a:gridCol w="411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626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36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C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D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77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1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36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1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84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70665" name="Group 969"/>
          <p:cNvGraphicFramePr>
            <a:graphicFrameLocks noGrp="1"/>
          </p:cNvGraphicFramePr>
          <p:nvPr/>
        </p:nvGraphicFramePr>
        <p:xfrm>
          <a:off x="450850" y="2827338"/>
          <a:ext cx="1231900" cy="1740034"/>
        </p:xfrm>
        <a:graphic>
          <a:graphicData uri="http://schemas.openxmlformats.org/drawingml/2006/table">
            <a:tbl>
              <a:tblPr/>
              <a:tblGrid>
                <a:gridCol w="411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626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A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B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C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9907" name="Rectangle 587"/>
          <p:cNvSpPr>
            <a:spLocks noChangeArrowheads="1"/>
          </p:cNvSpPr>
          <p:nvPr/>
        </p:nvSpPr>
        <p:spPr bwMode="auto">
          <a:xfrm>
            <a:off x="4164013" y="1047750"/>
            <a:ext cx="4633912" cy="5629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algn="l" eaLnBrk="0" hangingPunct="0">
              <a:spcBef>
                <a:spcPct val="20000"/>
              </a:spcBef>
              <a:buClr>
                <a:srgbClr val="000000"/>
              </a:buClr>
              <a:buFont typeface="Monotype Sorts" pitchFamily="2" charset="2"/>
              <a:buNone/>
            </a:pPr>
            <a:r>
              <a:rPr lang="en-US" sz="2000" u="sng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One-to-One</a:t>
            </a:r>
          </a:p>
          <a:p>
            <a:pPr algn="l" eaLnBrk="0" hangingPunct="0">
              <a:spcBef>
                <a:spcPct val="20000"/>
              </a:spcBef>
              <a:buClr>
                <a:srgbClr val="000000"/>
              </a:buClr>
              <a:buFont typeface="Monotype Sorts" pitchFamily="2" charset="2"/>
              <a:buNone/>
            </a:pPr>
            <a:r>
              <a:rPr lang="en-US" sz="20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A single observation in one data set is related to one and only one observation from another data set based on the values of one or more selected variables. </a:t>
            </a:r>
          </a:p>
          <a:p>
            <a:pPr algn="l" eaLnBrk="0" hangingPunct="0">
              <a:spcBef>
                <a:spcPct val="20000"/>
              </a:spcBef>
              <a:buClr>
                <a:srgbClr val="000000"/>
              </a:buClr>
              <a:buFont typeface="Monotype Sorts" pitchFamily="2" charset="2"/>
              <a:buNone/>
            </a:pPr>
            <a:endParaRPr lang="en-US" sz="10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  <a:p>
            <a:pPr algn="l" eaLnBrk="0" hangingPunct="0">
              <a:spcBef>
                <a:spcPct val="20000"/>
              </a:spcBef>
              <a:buClr>
                <a:srgbClr val="000000"/>
              </a:buClr>
              <a:buFont typeface="Monotype Sorts" pitchFamily="2" charset="2"/>
              <a:buNone/>
            </a:pPr>
            <a:r>
              <a:rPr lang="en-US" sz="2000" u="sng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One-to-Many or Many-to-One</a:t>
            </a:r>
            <a:r>
              <a:rPr lang="en-US" sz="20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 </a:t>
            </a:r>
          </a:p>
          <a:p>
            <a:pPr algn="l" eaLnBrk="0" hangingPunct="0">
              <a:spcBef>
                <a:spcPct val="20000"/>
              </a:spcBef>
              <a:buClr>
                <a:srgbClr val="000000"/>
              </a:buClr>
              <a:buFont typeface="Monotype Sorts" pitchFamily="2" charset="2"/>
              <a:buNone/>
            </a:pPr>
            <a:r>
              <a:rPr lang="en-US" sz="20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A single observation in one data set is related to more than one observation from another data set based on the values of one or more selected variables and vice versa.</a:t>
            </a:r>
          </a:p>
          <a:p>
            <a:pPr algn="l" eaLnBrk="0" hangingPunct="0">
              <a:spcBef>
                <a:spcPct val="20000"/>
              </a:spcBef>
              <a:buClr>
                <a:srgbClr val="000000"/>
              </a:buClr>
              <a:buFont typeface="Monotype Sorts" pitchFamily="2" charset="2"/>
              <a:buNone/>
            </a:pPr>
            <a:endParaRPr lang="en-US" sz="10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  <a:p>
            <a:pPr algn="l" eaLnBrk="0" hangingPunct="0">
              <a:spcBef>
                <a:spcPct val="20000"/>
              </a:spcBef>
              <a:buClr>
                <a:srgbClr val="000000"/>
              </a:buClr>
              <a:buFont typeface="Monotype Sorts" pitchFamily="2" charset="2"/>
              <a:buNone/>
            </a:pPr>
            <a:r>
              <a:rPr lang="en-US" sz="2000" u="sng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Nonmatches</a:t>
            </a:r>
          </a:p>
          <a:p>
            <a:pPr algn="l" eaLnBrk="0" hangingPunct="0">
              <a:spcBef>
                <a:spcPct val="20000"/>
              </a:spcBef>
              <a:buClr>
                <a:srgbClr val="000000"/>
              </a:buClr>
              <a:buFont typeface="Monotype Sorts" pitchFamily="2" charset="2"/>
              <a:buNone/>
            </a:pPr>
            <a:r>
              <a:rPr lang="en-US" sz="20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At least one single observation in one data set is unrelated to any observation from another data set based on the values of one or more selected variables.</a:t>
            </a:r>
          </a:p>
        </p:txBody>
      </p:sp>
      <p:sp>
        <p:nvSpPr>
          <p:cNvPr id="119908" name="Line 595"/>
          <p:cNvSpPr>
            <a:spLocks noChangeShapeType="1"/>
          </p:cNvSpPr>
          <p:nvPr/>
        </p:nvSpPr>
        <p:spPr bwMode="auto">
          <a:xfrm>
            <a:off x="1690688" y="1743075"/>
            <a:ext cx="7143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9909" name="Line 596"/>
          <p:cNvSpPr>
            <a:spLocks noChangeShapeType="1"/>
          </p:cNvSpPr>
          <p:nvPr/>
        </p:nvSpPr>
        <p:spPr bwMode="auto">
          <a:xfrm>
            <a:off x="1695450" y="2105025"/>
            <a:ext cx="7143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9910" name="Line 597"/>
          <p:cNvSpPr>
            <a:spLocks noChangeShapeType="1"/>
          </p:cNvSpPr>
          <p:nvPr/>
        </p:nvSpPr>
        <p:spPr bwMode="auto">
          <a:xfrm>
            <a:off x="1690688" y="2443163"/>
            <a:ext cx="7143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9911" name="Line 598"/>
          <p:cNvSpPr>
            <a:spLocks noChangeShapeType="1"/>
          </p:cNvSpPr>
          <p:nvPr/>
        </p:nvSpPr>
        <p:spPr bwMode="auto">
          <a:xfrm>
            <a:off x="1685925" y="4398963"/>
            <a:ext cx="7143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9912" name="Line 599"/>
          <p:cNvSpPr>
            <a:spLocks noChangeShapeType="1"/>
          </p:cNvSpPr>
          <p:nvPr/>
        </p:nvSpPr>
        <p:spPr bwMode="auto">
          <a:xfrm>
            <a:off x="1685925" y="3671888"/>
            <a:ext cx="7143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9913" name="Line 600"/>
          <p:cNvSpPr>
            <a:spLocks noChangeShapeType="1"/>
          </p:cNvSpPr>
          <p:nvPr/>
        </p:nvSpPr>
        <p:spPr bwMode="auto">
          <a:xfrm>
            <a:off x="1685925" y="3670300"/>
            <a:ext cx="728663" cy="385763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9914" name="Line 601"/>
          <p:cNvSpPr>
            <a:spLocks noChangeShapeType="1"/>
          </p:cNvSpPr>
          <p:nvPr/>
        </p:nvSpPr>
        <p:spPr bwMode="auto">
          <a:xfrm>
            <a:off x="1671638" y="4008438"/>
            <a:ext cx="728662" cy="385762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graphicFrame>
        <p:nvGraphicFramePr>
          <p:cNvPr id="670666" name="Group 970"/>
          <p:cNvGraphicFramePr>
            <a:graphicFrameLocks noGrp="1"/>
          </p:cNvGraphicFramePr>
          <p:nvPr/>
        </p:nvGraphicFramePr>
        <p:xfrm>
          <a:off x="2405063" y="4813300"/>
          <a:ext cx="1231900" cy="1732098"/>
        </p:xfrm>
        <a:graphic>
          <a:graphicData uri="http://schemas.openxmlformats.org/drawingml/2006/table">
            <a:tbl>
              <a:tblPr/>
              <a:tblGrid>
                <a:gridCol w="411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626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C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D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77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3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84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4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70667" name="Group 971"/>
          <p:cNvGraphicFramePr>
            <a:graphicFrameLocks noGrp="1"/>
          </p:cNvGraphicFramePr>
          <p:nvPr/>
        </p:nvGraphicFramePr>
        <p:xfrm>
          <a:off x="450850" y="4813300"/>
          <a:ext cx="1231900" cy="1740034"/>
        </p:xfrm>
        <a:graphic>
          <a:graphicData uri="http://schemas.openxmlformats.org/drawingml/2006/table">
            <a:tbl>
              <a:tblPr/>
              <a:tblGrid>
                <a:gridCol w="411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626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A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B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C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36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4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9961" name="Line 718"/>
          <p:cNvSpPr>
            <a:spLocks noChangeShapeType="1"/>
          </p:cNvSpPr>
          <p:nvPr/>
        </p:nvSpPr>
        <p:spPr bwMode="auto">
          <a:xfrm>
            <a:off x="1685925" y="6384925"/>
            <a:ext cx="7143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19962" name="Line 721"/>
          <p:cNvSpPr>
            <a:spLocks noChangeShapeType="1"/>
          </p:cNvSpPr>
          <p:nvPr/>
        </p:nvSpPr>
        <p:spPr bwMode="auto">
          <a:xfrm flipV="1">
            <a:off x="1671638" y="5689600"/>
            <a:ext cx="742950" cy="30480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4808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13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One-to-One Merge</a:t>
            </a:r>
          </a:p>
        </p:txBody>
      </p:sp>
      <p:sp>
        <p:nvSpPr>
          <p:cNvPr id="134147" name="Rectangle 2"/>
          <p:cNvSpPr>
            <a:spLocks noGrp="1" noChangeArrowheads="1"/>
          </p:cNvSpPr>
          <p:nvPr>
            <p:ph idx="1"/>
          </p:nvPr>
        </p:nvSpPr>
        <p:spPr>
          <a:xfrm>
            <a:off x="685800" y="1066800"/>
            <a:ext cx="7848600" cy="5534025"/>
          </a:xfrm>
        </p:spPr>
        <p:txBody>
          <a:bodyPr/>
          <a:lstStyle/>
          <a:p>
            <a:pPr marL="0" indent="0" eaLnBrk="1" hangingPunct="1"/>
            <a:r>
              <a:rPr lang="en-US" dirty="0"/>
              <a:t>Merge </a:t>
            </a:r>
            <a:r>
              <a:rPr lang="en-US" sz="2800" b="1" dirty="0" err="1">
                <a:latin typeface="Courier New" pitchFamily="49" charset="0"/>
              </a:rPr>
              <a:t>EmpsAU</a:t>
            </a:r>
            <a:r>
              <a:rPr lang="en-US" dirty="0"/>
              <a:t> and </a:t>
            </a:r>
            <a:r>
              <a:rPr lang="en-US" sz="2800" b="1" dirty="0" err="1">
                <a:latin typeface="Courier New" pitchFamily="49" charset="0"/>
              </a:rPr>
              <a:t>PhoneH</a:t>
            </a:r>
            <a:r>
              <a:rPr lang="en-US" dirty="0"/>
              <a:t> by </a:t>
            </a:r>
            <a:r>
              <a:rPr lang="en-US" sz="2800" b="1" dirty="0" err="1">
                <a:latin typeface="Courier New" pitchFamily="49" charset="0"/>
              </a:rPr>
              <a:t>EmpID</a:t>
            </a:r>
            <a:r>
              <a:rPr lang="en-US" dirty="0"/>
              <a:t> to create </a:t>
            </a:r>
            <a:br>
              <a:rPr lang="en-US" dirty="0"/>
            </a:br>
            <a:r>
              <a:rPr lang="en-US" dirty="0"/>
              <a:t>a new data set named </a:t>
            </a:r>
            <a:r>
              <a:rPr lang="en-US" sz="2800" b="1" dirty="0" err="1">
                <a:latin typeface="Courier New" pitchFamily="49" charset="0"/>
              </a:rPr>
              <a:t>EmpsAUH</a:t>
            </a:r>
            <a:r>
              <a:rPr lang="en-US" dirty="0"/>
              <a:t>.</a:t>
            </a:r>
          </a:p>
          <a:p>
            <a:pPr marL="0" indent="0" eaLnBrk="1" hangingPunct="1"/>
            <a:endParaRPr lang="en-US" dirty="0"/>
          </a:p>
          <a:p>
            <a:pPr marL="0" indent="0" eaLnBrk="1" hangingPunct="1"/>
            <a:endParaRPr lang="en-US" dirty="0"/>
          </a:p>
          <a:p>
            <a:pPr marL="0" indent="0" eaLnBrk="1" hangingPunct="1"/>
            <a:endParaRPr lang="en-US" dirty="0"/>
          </a:p>
          <a:p>
            <a:pPr marL="0" indent="0" eaLnBrk="1" hangingPunct="1"/>
            <a:endParaRPr lang="en-US" dirty="0"/>
          </a:p>
          <a:p>
            <a:pPr marL="0" indent="0" eaLnBrk="1" hangingPunct="1"/>
            <a:endParaRPr lang="en-US" dirty="0"/>
          </a:p>
          <a:p>
            <a:pPr marL="0" indent="0" eaLnBrk="1" hangingPunct="1"/>
            <a:r>
              <a:rPr lang="en-US" dirty="0"/>
              <a:t>The data sets must be sorted by </a:t>
            </a:r>
            <a:r>
              <a:rPr lang="en-US" sz="2800" b="1" dirty="0" err="1">
                <a:latin typeface="Courier New" pitchFamily="49" charset="0"/>
              </a:rPr>
              <a:t>EmpID</a:t>
            </a:r>
            <a:r>
              <a:rPr lang="en-US" dirty="0"/>
              <a:t>.</a:t>
            </a:r>
          </a:p>
        </p:txBody>
      </p:sp>
      <p:sp>
        <p:nvSpPr>
          <p:cNvPr id="127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5CF7DB2-5243-4DB9-80AD-155D945AF031}" type="slidenum">
              <a:rPr lang="en-US">
                <a:solidFill>
                  <a:srgbClr val="000000"/>
                </a:solidFill>
              </a:rPr>
              <a:pPr>
                <a:defRPr/>
              </a:pPr>
              <a:t>17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134149" name="Text Box 252"/>
          <p:cNvSpPr txBox="1">
            <a:spLocks noChangeArrowheads="1"/>
          </p:cNvSpPr>
          <p:nvPr/>
        </p:nvSpPr>
        <p:spPr bwMode="auto">
          <a:xfrm>
            <a:off x="698500" y="4922838"/>
            <a:ext cx="4383088" cy="1358900"/>
          </a:xfrm>
          <a:prstGeom prst="rect">
            <a:avLst/>
          </a:prstGeom>
          <a:solidFill>
            <a:srgbClr val="FFFFFF"/>
          </a:solidFill>
          <a:ln w="38100">
            <a:solidFill>
              <a:schemeClr val="tx2"/>
            </a:solidFill>
            <a:miter lim="800000"/>
            <a:headEnd type="none" w="med" len="lg"/>
            <a:tailEnd type="none" w="med" len="lg"/>
          </a:ln>
        </p:spPr>
        <p:txBody>
          <a:bodyPr wrap="none" tIns="50800" rIns="50800" bIns="508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data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EmpsAUH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;</a:t>
            </a:r>
          </a:p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   merge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EmpsAU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PhoneH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;</a:t>
            </a:r>
          </a:p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   by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EmpID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;</a:t>
            </a:r>
          </a:p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run;</a:t>
            </a:r>
          </a:p>
        </p:txBody>
      </p:sp>
      <p:sp>
        <p:nvSpPr>
          <p:cNvPr id="134150" name="Text Box 133"/>
          <p:cNvSpPr txBox="1">
            <a:spLocks noChangeArrowheads="1"/>
          </p:cNvSpPr>
          <p:nvPr/>
        </p:nvSpPr>
        <p:spPr bwMode="auto">
          <a:xfrm>
            <a:off x="8003137" y="6324600"/>
            <a:ext cx="928138" cy="4257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med" len="lg"/>
                <a:tailEnd type="none" w="med" len="lg"/>
              </a14:hiddenLine>
            </a:ext>
          </a:extLst>
        </p:spPr>
        <p:txBody>
          <a:bodyPr wrap="none" lIns="88900" tIns="88900" rIns="88900" bIns="889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/>
            <a:r>
              <a:rPr lang="en-US" sz="16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p110d05</a:t>
            </a:r>
          </a:p>
        </p:txBody>
      </p:sp>
      <p:graphicFrame>
        <p:nvGraphicFramePr>
          <p:cNvPr id="694613" name="Group 341"/>
          <p:cNvGraphicFramePr>
            <a:graphicFrameLocks noGrp="1"/>
          </p:cNvGraphicFramePr>
          <p:nvPr/>
        </p:nvGraphicFramePr>
        <p:xfrm>
          <a:off x="692150" y="2114550"/>
          <a:ext cx="3281363" cy="1835151"/>
        </p:xfrm>
        <a:graphic>
          <a:graphicData uri="http://schemas.openxmlformats.org/drawingml/2006/table">
            <a:tbl>
              <a:tblPr/>
              <a:tblGrid>
                <a:gridCol w="1093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37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94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EmpsAU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95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EmpID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35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Togar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121150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35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Kylie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35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Birin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94614" name="Group 342"/>
          <p:cNvGraphicFramePr>
            <a:graphicFrameLocks noGrp="1"/>
          </p:cNvGraphicFramePr>
          <p:nvPr/>
        </p:nvGraphicFramePr>
        <p:xfrm>
          <a:off x="4926013" y="2114550"/>
          <a:ext cx="3559175" cy="1811339"/>
        </p:xfrm>
        <a:graphic>
          <a:graphicData uri="http://schemas.openxmlformats.org/drawingml/2006/table">
            <a:tbl>
              <a:tblPr/>
              <a:tblGrid>
                <a:gridCol w="10937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95"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PhoneH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EmpID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Phone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121150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+61(2)5555-1793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121151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+61(2)5555-1849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121152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+61(2)5555-1665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192" name="Line 256"/>
          <p:cNvSpPr>
            <a:spLocks noChangeShapeType="1"/>
          </p:cNvSpPr>
          <p:nvPr/>
        </p:nvSpPr>
        <p:spPr bwMode="auto">
          <a:xfrm>
            <a:off x="3979863" y="3071813"/>
            <a:ext cx="954087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34193" name="Line 257"/>
          <p:cNvSpPr>
            <a:spLocks noChangeShapeType="1"/>
          </p:cNvSpPr>
          <p:nvPr/>
        </p:nvSpPr>
        <p:spPr bwMode="auto">
          <a:xfrm>
            <a:off x="3984625" y="3433763"/>
            <a:ext cx="96202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34194" name="Line 258"/>
          <p:cNvSpPr>
            <a:spLocks noChangeShapeType="1"/>
          </p:cNvSpPr>
          <p:nvPr/>
        </p:nvSpPr>
        <p:spPr bwMode="auto">
          <a:xfrm>
            <a:off x="3979863" y="3771900"/>
            <a:ext cx="939800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B665E1-5E53-49C9-9503-D9D974F8A60E}"/>
              </a:ext>
            </a:extLst>
          </p:cNvPr>
          <p:cNvSpPr txBox="1"/>
          <p:nvPr/>
        </p:nvSpPr>
        <p:spPr>
          <a:xfrm>
            <a:off x="6166711" y="5391090"/>
            <a:ext cx="25183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  <a:latin typeface="Aptos Display" panose="020B0004020202020204" pitchFamily="34" charset="0"/>
              </a:rPr>
              <a:t>This is new code for us</a:t>
            </a:r>
          </a:p>
        </p:txBody>
      </p:sp>
    </p:spTree>
    <p:extLst>
      <p:ext uri="{BB962C8B-B14F-4D97-AF65-F5344CB8AC3E}">
        <p14:creationId xmlns:p14="http://schemas.microsoft.com/office/powerpoint/2010/main" val="11710346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12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One-to-Many Merge</a:t>
            </a:r>
          </a:p>
        </p:txBody>
      </p:sp>
      <p:sp>
        <p:nvSpPr>
          <p:cNvPr id="144387" name="Rectangle 121"/>
          <p:cNvSpPr>
            <a:spLocks noGrp="1" noChangeArrowheads="1"/>
          </p:cNvSpPr>
          <p:nvPr>
            <p:ph idx="1"/>
          </p:nvPr>
        </p:nvSpPr>
        <p:spPr>
          <a:xfrm>
            <a:off x="685800" y="1066800"/>
            <a:ext cx="7940675" cy="5534025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tabLst>
                <a:tab pos="5035550" algn="l"/>
              </a:tabLst>
            </a:pPr>
            <a:r>
              <a:rPr lang="en-US"/>
              <a:t>Merge </a:t>
            </a:r>
            <a:r>
              <a:rPr lang="en-US" sz="2800" b="1">
                <a:latin typeface="Courier New" pitchFamily="49" charset="0"/>
              </a:rPr>
              <a:t>EmpsAU</a:t>
            </a:r>
            <a:r>
              <a:rPr lang="en-US"/>
              <a:t> and </a:t>
            </a:r>
            <a:r>
              <a:rPr lang="en-US" sz="2800" b="1">
                <a:latin typeface="Courier New" pitchFamily="49" charset="0"/>
              </a:rPr>
              <a:t>PhoneHW</a:t>
            </a:r>
            <a:r>
              <a:rPr lang="en-US"/>
              <a:t> by </a:t>
            </a:r>
            <a:r>
              <a:rPr lang="en-US" sz="2800" b="1">
                <a:latin typeface="Courier New" pitchFamily="49" charset="0"/>
              </a:rPr>
              <a:t>EmpID</a:t>
            </a:r>
            <a:r>
              <a:rPr lang="en-US"/>
              <a:t> to create </a:t>
            </a:r>
            <a:br>
              <a:rPr lang="en-US"/>
            </a:br>
            <a:r>
              <a:rPr lang="en-US"/>
              <a:t>a new data set named </a:t>
            </a:r>
            <a:r>
              <a:rPr lang="en-US" sz="2800" b="1">
                <a:latin typeface="Courier New" pitchFamily="49" charset="0"/>
              </a:rPr>
              <a:t>EmpsAUHW</a:t>
            </a:r>
            <a:r>
              <a:rPr lang="en-US"/>
              <a:t>.</a:t>
            </a:r>
          </a:p>
          <a:p>
            <a:pPr marL="0" indent="0" eaLnBrk="1" hangingPunct="1">
              <a:lnSpc>
                <a:spcPct val="90000"/>
              </a:lnSpc>
              <a:tabLst>
                <a:tab pos="5035550" algn="l"/>
              </a:tabLst>
            </a:pPr>
            <a:endParaRPr lang="en-US"/>
          </a:p>
          <a:p>
            <a:pPr marL="0" indent="0" eaLnBrk="1" hangingPunct="1">
              <a:lnSpc>
                <a:spcPct val="90000"/>
              </a:lnSpc>
              <a:tabLst>
                <a:tab pos="5035550" algn="l"/>
              </a:tabLst>
            </a:pPr>
            <a:endParaRPr lang="en-US"/>
          </a:p>
          <a:p>
            <a:pPr marL="0" indent="0" eaLnBrk="1" hangingPunct="1">
              <a:lnSpc>
                <a:spcPct val="90000"/>
              </a:lnSpc>
              <a:tabLst>
                <a:tab pos="5035550" algn="l"/>
              </a:tabLst>
            </a:pPr>
            <a:endParaRPr lang="en-US"/>
          </a:p>
          <a:p>
            <a:pPr marL="0" indent="0" eaLnBrk="1" hangingPunct="1">
              <a:lnSpc>
                <a:spcPct val="90000"/>
              </a:lnSpc>
              <a:tabLst>
                <a:tab pos="5035550" algn="l"/>
              </a:tabLst>
            </a:pPr>
            <a:endParaRPr lang="en-US"/>
          </a:p>
          <a:p>
            <a:pPr marL="0" indent="0" eaLnBrk="1" hangingPunct="1">
              <a:lnSpc>
                <a:spcPct val="90000"/>
              </a:lnSpc>
              <a:tabLst>
                <a:tab pos="5035550" algn="l"/>
              </a:tabLst>
            </a:pPr>
            <a:endParaRPr lang="en-US"/>
          </a:p>
          <a:p>
            <a:pPr marL="0" indent="0" eaLnBrk="1" hangingPunct="1">
              <a:lnSpc>
                <a:spcPct val="90000"/>
              </a:lnSpc>
              <a:tabLst>
                <a:tab pos="5035550" algn="l"/>
              </a:tabLst>
            </a:pPr>
            <a:endParaRPr lang="en-US"/>
          </a:p>
          <a:p>
            <a:pPr marL="0" indent="0" eaLnBrk="1" hangingPunct="1">
              <a:lnSpc>
                <a:spcPct val="90000"/>
              </a:lnSpc>
              <a:tabLst>
                <a:tab pos="5035550" algn="l"/>
              </a:tabLst>
            </a:pPr>
            <a:endParaRPr lang="en-US"/>
          </a:p>
          <a:p>
            <a:pPr marL="0" indent="0" eaLnBrk="1" hangingPunct="1">
              <a:lnSpc>
                <a:spcPct val="90000"/>
              </a:lnSpc>
              <a:tabLst>
                <a:tab pos="5035550" algn="l"/>
              </a:tabLst>
            </a:pPr>
            <a:endParaRPr lang="en-US"/>
          </a:p>
          <a:p>
            <a:pPr marL="0" indent="0" eaLnBrk="1" hangingPunct="1">
              <a:lnSpc>
                <a:spcPct val="90000"/>
              </a:lnSpc>
              <a:tabLst>
                <a:tab pos="5035550" algn="l"/>
              </a:tabLst>
            </a:pPr>
            <a:r>
              <a:rPr lang="en-US"/>
              <a:t>					The data sets are 	sorted by </a:t>
            </a:r>
            <a:r>
              <a:rPr lang="en-US" sz="2800" b="1">
                <a:latin typeface="Courier New" pitchFamily="49" charset="0"/>
              </a:rPr>
              <a:t>EmpID</a:t>
            </a:r>
            <a:r>
              <a:rPr lang="en-US"/>
              <a:t>.</a:t>
            </a:r>
          </a:p>
        </p:txBody>
      </p:sp>
      <p:sp>
        <p:nvSpPr>
          <p:cNvPr id="17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D9B5EB5-ADD7-4F5A-B916-F10B6DA51C54}" type="slidenum">
              <a:rPr lang="en-US">
                <a:solidFill>
                  <a:srgbClr val="000000"/>
                </a:solidFill>
              </a:rPr>
              <a:pPr>
                <a:defRPr/>
              </a:pPr>
              <a:t>18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graphicFrame>
        <p:nvGraphicFramePr>
          <p:cNvPr id="695759" name="Group 463"/>
          <p:cNvGraphicFramePr>
            <a:graphicFrameLocks noGrp="1"/>
          </p:cNvGraphicFramePr>
          <p:nvPr/>
        </p:nvGraphicFramePr>
        <p:xfrm>
          <a:off x="4459288" y="1992313"/>
          <a:ext cx="4348162" cy="2849565"/>
        </p:xfrm>
        <a:graphic>
          <a:graphicData uri="http://schemas.openxmlformats.org/drawingml/2006/table">
            <a:tbl>
              <a:tblPr/>
              <a:tblGrid>
                <a:gridCol w="10937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53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67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PhoneHW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1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EmpID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Type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Phone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14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121150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Home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+61(2)5555-1793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14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121150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Work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+61(2)5555-1794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14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121151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Home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+61(2)5555-1849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114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121151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Work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+61(2)5555-1850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114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121152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Home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+61(2)5555-1665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6114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121152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Work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+61(2)5555-1666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4424" name="Text Box 120"/>
          <p:cNvSpPr txBox="1">
            <a:spLocks noChangeArrowheads="1"/>
          </p:cNvSpPr>
          <p:nvPr/>
        </p:nvSpPr>
        <p:spPr bwMode="auto">
          <a:xfrm>
            <a:off x="698500" y="5175250"/>
            <a:ext cx="4567238" cy="1358900"/>
          </a:xfrm>
          <a:prstGeom prst="rect">
            <a:avLst/>
          </a:prstGeom>
          <a:solidFill>
            <a:srgbClr val="FFFFFF"/>
          </a:solidFill>
          <a:ln w="38100">
            <a:solidFill>
              <a:schemeClr val="tx2"/>
            </a:solidFill>
            <a:miter lim="800000"/>
            <a:headEnd type="none" w="med" len="lg"/>
            <a:tailEnd type="none" w="med" len="lg"/>
          </a:ln>
        </p:spPr>
        <p:txBody>
          <a:bodyPr wrap="none" tIns="50800" rIns="50800" bIns="508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data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EmpsAUHW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;</a:t>
            </a:r>
          </a:p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   merge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EmpsAU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PhoneHW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;</a:t>
            </a:r>
          </a:p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   by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EmpID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;</a:t>
            </a:r>
          </a:p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run;</a:t>
            </a:r>
          </a:p>
        </p:txBody>
      </p:sp>
      <p:sp>
        <p:nvSpPr>
          <p:cNvPr id="144425" name="Text Box 123"/>
          <p:cNvSpPr txBox="1">
            <a:spLocks noChangeArrowheads="1"/>
          </p:cNvSpPr>
          <p:nvPr/>
        </p:nvSpPr>
        <p:spPr bwMode="auto">
          <a:xfrm>
            <a:off x="8003137" y="6324600"/>
            <a:ext cx="928138" cy="4257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med" len="lg"/>
                <a:tailEnd type="none" w="med" len="lg"/>
              </a14:hiddenLine>
            </a:ext>
          </a:extLst>
        </p:spPr>
        <p:txBody>
          <a:bodyPr wrap="none" lIns="88900" tIns="88900" rIns="88900" bIns="889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/>
            <a:r>
              <a:rPr lang="en-US" sz="16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p110d06</a:t>
            </a:r>
          </a:p>
        </p:txBody>
      </p:sp>
      <p:graphicFrame>
        <p:nvGraphicFramePr>
          <p:cNvPr id="695760" name="Group 464"/>
          <p:cNvGraphicFramePr>
            <a:graphicFrameLocks noGrp="1"/>
          </p:cNvGraphicFramePr>
          <p:nvPr/>
        </p:nvGraphicFramePr>
        <p:xfrm>
          <a:off x="361950" y="2478088"/>
          <a:ext cx="3281363" cy="1811339"/>
        </p:xfrm>
        <a:graphic>
          <a:graphicData uri="http://schemas.openxmlformats.org/drawingml/2006/table">
            <a:tbl>
              <a:tblPr/>
              <a:tblGrid>
                <a:gridCol w="1093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37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95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EmpsAU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EmpID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Togar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121150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Kylie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Birin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4449" name="Line 372"/>
          <p:cNvSpPr>
            <a:spLocks noChangeShapeType="1"/>
          </p:cNvSpPr>
          <p:nvPr/>
        </p:nvSpPr>
        <p:spPr bwMode="auto">
          <a:xfrm flipV="1">
            <a:off x="3636963" y="3605213"/>
            <a:ext cx="817562" cy="15875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44450" name="Line 373"/>
          <p:cNvSpPr>
            <a:spLocks noChangeShapeType="1"/>
          </p:cNvSpPr>
          <p:nvPr/>
        </p:nvSpPr>
        <p:spPr bwMode="auto">
          <a:xfrm>
            <a:off x="3633788" y="3757613"/>
            <a:ext cx="822325" cy="21272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44451" name="Line 374"/>
          <p:cNvSpPr>
            <a:spLocks noChangeShapeType="1"/>
          </p:cNvSpPr>
          <p:nvPr/>
        </p:nvSpPr>
        <p:spPr bwMode="auto">
          <a:xfrm flipV="1">
            <a:off x="3636963" y="3248025"/>
            <a:ext cx="817562" cy="15875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44452" name="Line 375"/>
          <p:cNvSpPr>
            <a:spLocks noChangeShapeType="1"/>
          </p:cNvSpPr>
          <p:nvPr/>
        </p:nvSpPr>
        <p:spPr bwMode="auto">
          <a:xfrm flipV="1">
            <a:off x="3636963" y="2914650"/>
            <a:ext cx="817562" cy="48260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44453" name="Line 376"/>
          <p:cNvSpPr>
            <a:spLocks noChangeShapeType="1"/>
          </p:cNvSpPr>
          <p:nvPr/>
        </p:nvSpPr>
        <p:spPr bwMode="auto">
          <a:xfrm>
            <a:off x="3633788" y="4110038"/>
            <a:ext cx="822325" cy="21272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44454" name="Line 377"/>
          <p:cNvSpPr>
            <a:spLocks noChangeShapeType="1"/>
          </p:cNvSpPr>
          <p:nvPr/>
        </p:nvSpPr>
        <p:spPr bwMode="auto">
          <a:xfrm>
            <a:off x="3633788" y="4119563"/>
            <a:ext cx="812800" cy="541337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64382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Final Results</a:t>
            </a:r>
          </a:p>
        </p:txBody>
      </p:sp>
      <p:sp>
        <p:nvSpPr>
          <p:cNvPr id="12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CAE1F93-F6EB-4BCE-94D7-8FA30865F83C}" type="slidenum">
              <a:rPr lang="en-US">
                <a:solidFill>
                  <a:srgbClr val="000000"/>
                </a:solidFill>
              </a:rPr>
              <a:pPr>
                <a:defRPr/>
              </a:pPr>
              <a:t>19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graphicFrame>
        <p:nvGraphicFramePr>
          <p:cNvPr id="723344" name="Group 400"/>
          <p:cNvGraphicFramePr>
            <a:graphicFrameLocks noGrp="1"/>
          </p:cNvGraphicFramePr>
          <p:nvPr/>
        </p:nvGraphicFramePr>
        <p:xfrm>
          <a:off x="684213" y="1058863"/>
          <a:ext cx="6473825" cy="2884487"/>
        </p:xfrm>
        <a:graphic>
          <a:graphicData uri="http://schemas.openxmlformats.org/drawingml/2006/table">
            <a:tbl>
              <a:tblPr/>
              <a:tblGrid>
                <a:gridCol w="1031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37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9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53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6767">
                <a:tc gridSpan="5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EmpsAUHW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13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EmpID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Type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urier New" pitchFamily="49" charset="0"/>
                        </a:rPr>
                        <a:t>Phone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42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Togar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121150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Home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+61(2)5555-1793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13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Togar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121150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Work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+61(2)5555-1794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13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Kylie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Home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+61(2)5555-1849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113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Kylie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Work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+61(2)5555-1850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113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Birin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Home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+61(2)5555-1665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6113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Birin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Work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+61(2)5555-1666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71609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Nonmatches Merge</a:t>
            </a:r>
          </a:p>
        </p:txBody>
      </p:sp>
      <p:sp>
        <p:nvSpPr>
          <p:cNvPr id="168963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066800"/>
            <a:ext cx="7848600" cy="5534025"/>
          </a:xfrm>
        </p:spPr>
        <p:txBody>
          <a:bodyPr/>
          <a:lstStyle/>
          <a:p>
            <a:pPr marL="0" indent="0" eaLnBrk="1" hangingPunct="1"/>
            <a:r>
              <a:rPr lang="en-US"/>
              <a:t>Merge </a:t>
            </a:r>
            <a:r>
              <a:rPr lang="en-US" sz="2800" b="1">
                <a:latin typeface="Courier New" pitchFamily="49" charset="0"/>
              </a:rPr>
              <a:t>EmpsAU</a:t>
            </a:r>
            <a:r>
              <a:rPr lang="en-US"/>
              <a:t> and </a:t>
            </a:r>
            <a:r>
              <a:rPr lang="en-US" sz="2800" b="1">
                <a:latin typeface="Courier New" pitchFamily="49" charset="0"/>
              </a:rPr>
              <a:t>PhoneC</a:t>
            </a:r>
            <a:r>
              <a:rPr lang="en-US"/>
              <a:t> by </a:t>
            </a:r>
            <a:r>
              <a:rPr lang="en-US" sz="2800" b="1">
                <a:latin typeface="Courier New" pitchFamily="49" charset="0"/>
              </a:rPr>
              <a:t>EmpID</a:t>
            </a:r>
            <a:r>
              <a:rPr lang="en-US"/>
              <a:t> to create </a:t>
            </a:r>
            <a:br>
              <a:rPr lang="en-US"/>
            </a:br>
            <a:r>
              <a:rPr lang="en-US"/>
              <a:t>a new data set named </a:t>
            </a:r>
            <a:r>
              <a:rPr lang="en-US" sz="2800" b="1">
                <a:latin typeface="Courier New" pitchFamily="49" charset="0"/>
              </a:rPr>
              <a:t>EmpsAUC</a:t>
            </a:r>
            <a:r>
              <a:rPr lang="en-US"/>
              <a:t>.</a:t>
            </a:r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r>
              <a:rPr lang="en-US"/>
              <a:t>The data sets are sorted by </a:t>
            </a:r>
            <a:r>
              <a:rPr lang="en-US" sz="2800" b="1">
                <a:latin typeface="Courier New" pitchFamily="49" charset="0"/>
              </a:rPr>
              <a:t>EmpID</a:t>
            </a:r>
            <a:r>
              <a:rPr lang="en-US"/>
              <a:t>.</a:t>
            </a:r>
          </a:p>
        </p:txBody>
      </p:sp>
      <p:sp>
        <p:nvSpPr>
          <p:cNvPr id="1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D346852-BDC7-43B5-9626-C8828995EC5A}" type="slidenum">
              <a:rPr lang="en-US">
                <a:solidFill>
                  <a:srgbClr val="000000"/>
                </a:solidFill>
              </a:rPr>
              <a:pPr>
                <a:defRPr/>
              </a:pPr>
              <a:t>20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168965" name="Text Box 2"/>
          <p:cNvSpPr txBox="1">
            <a:spLocks noChangeArrowheads="1"/>
          </p:cNvSpPr>
          <p:nvPr/>
        </p:nvSpPr>
        <p:spPr bwMode="auto">
          <a:xfrm>
            <a:off x="698500" y="4922838"/>
            <a:ext cx="4383088" cy="1358900"/>
          </a:xfrm>
          <a:prstGeom prst="rect">
            <a:avLst/>
          </a:prstGeom>
          <a:solidFill>
            <a:srgbClr val="FFFFFF"/>
          </a:solidFill>
          <a:ln w="38100">
            <a:solidFill>
              <a:schemeClr val="tx2"/>
            </a:solidFill>
            <a:miter lim="800000"/>
            <a:headEnd type="none" w="med" len="lg"/>
            <a:tailEnd type="none" w="med" len="lg"/>
          </a:ln>
        </p:spPr>
        <p:txBody>
          <a:bodyPr wrap="none" tIns="50800" rIns="50800" bIns="508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data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EmpsAUC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;</a:t>
            </a:r>
          </a:p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   merge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EmpsAU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PhoneC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;</a:t>
            </a:r>
          </a:p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   by </a:t>
            </a:r>
            <a:r>
              <a:rPr lang="en-US" dirty="0" err="1">
                <a:solidFill>
                  <a:srgbClr val="000000"/>
                </a:solidFill>
                <a:latin typeface="Courier New" pitchFamily="49" charset="0"/>
                <a:cs typeface="+mn-cs"/>
              </a:rPr>
              <a:t>EmpID</a:t>
            </a: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;</a:t>
            </a:r>
          </a:p>
          <a:p>
            <a:pPr algn="l" eaLnBrk="0" hangingPunct="0">
              <a:lnSpc>
                <a:spcPct val="85000"/>
              </a:lnSpc>
            </a:pPr>
            <a:r>
              <a:rPr lang="en-US" dirty="0">
                <a:solidFill>
                  <a:srgbClr val="000000"/>
                </a:solidFill>
                <a:latin typeface="Courier New" pitchFamily="49" charset="0"/>
                <a:cs typeface="+mn-cs"/>
              </a:rPr>
              <a:t>run;</a:t>
            </a:r>
          </a:p>
        </p:txBody>
      </p:sp>
      <p:sp>
        <p:nvSpPr>
          <p:cNvPr id="168966" name="Text Box 5"/>
          <p:cNvSpPr txBox="1">
            <a:spLocks noChangeArrowheads="1"/>
          </p:cNvSpPr>
          <p:nvPr/>
        </p:nvSpPr>
        <p:spPr bwMode="auto">
          <a:xfrm>
            <a:off x="8003137" y="6324600"/>
            <a:ext cx="928138" cy="4257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med" len="lg"/>
                <a:tailEnd type="none" w="med" len="lg"/>
              </a14:hiddenLine>
            </a:ext>
          </a:extLst>
        </p:spPr>
        <p:txBody>
          <a:bodyPr wrap="none" lIns="88900" tIns="88900" rIns="88900" bIns="8890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/>
            <a:r>
              <a:rPr lang="en-US" sz="1600" dirty="0">
                <a:solidFill>
                  <a:srgbClr val="000000"/>
                </a:solidFill>
                <a:latin typeface="Aptos Display" panose="020B0004020202020204" pitchFamily="34" charset="0"/>
                <a:cs typeface="+mn-cs"/>
              </a:rPr>
              <a:t>p110d07</a:t>
            </a:r>
          </a:p>
        </p:txBody>
      </p:sp>
      <p:graphicFrame>
        <p:nvGraphicFramePr>
          <p:cNvPr id="696532" name="Group 212"/>
          <p:cNvGraphicFramePr>
            <a:graphicFrameLocks noGrp="1"/>
          </p:cNvGraphicFramePr>
          <p:nvPr/>
        </p:nvGraphicFramePr>
        <p:xfrm>
          <a:off x="692150" y="2114550"/>
          <a:ext cx="3281363" cy="1835151"/>
        </p:xfrm>
        <a:graphic>
          <a:graphicData uri="http://schemas.openxmlformats.org/drawingml/2006/table">
            <a:tbl>
              <a:tblPr/>
              <a:tblGrid>
                <a:gridCol w="1093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37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94">
                <a:tc gridSpan="3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EmpsAU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95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EmpID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35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Togar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121150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35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Kylie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35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Birin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96533" name="Group 213"/>
          <p:cNvGraphicFramePr>
            <a:graphicFrameLocks noGrp="1"/>
          </p:cNvGraphicFramePr>
          <p:nvPr/>
        </p:nvGraphicFramePr>
        <p:xfrm>
          <a:off x="4926013" y="2114550"/>
          <a:ext cx="3559175" cy="1811339"/>
        </p:xfrm>
        <a:graphic>
          <a:graphicData uri="http://schemas.openxmlformats.org/drawingml/2006/table">
            <a:tbl>
              <a:tblPr/>
              <a:tblGrid>
                <a:gridCol w="10937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95"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PhoneC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EmpID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Phone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121150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+61(2)5555-1795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121152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+61(2)5555-1667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36"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121153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+61(2)5555-1348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9008" name="Line 125"/>
          <p:cNvSpPr>
            <a:spLocks noChangeShapeType="1"/>
          </p:cNvSpPr>
          <p:nvPr/>
        </p:nvSpPr>
        <p:spPr bwMode="auto">
          <a:xfrm flipV="1">
            <a:off x="3978275" y="3382963"/>
            <a:ext cx="952500" cy="436562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  <p:sp>
        <p:nvSpPr>
          <p:cNvPr id="169009" name="Line 126"/>
          <p:cNvSpPr>
            <a:spLocks noChangeShapeType="1"/>
          </p:cNvSpPr>
          <p:nvPr/>
        </p:nvSpPr>
        <p:spPr bwMode="auto">
          <a:xfrm>
            <a:off x="3978275" y="3092450"/>
            <a:ext cx="939800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88900" tIns="88900" rIns="88900" bIns="88900"/>
          <a:lstStyle/>
          <a:p>
            <a:pPr algn="l" eaLnBrk="0" hangingPunct="0"/>
            <a:endParaRPr lang="en-US" sz="2400" dirty="0">
              <a:solidFill>
                <a:srgbClr val="000000"/>
              </a:solidFill>
              <a:latin typeface="Aptos Display" panose="020B000402020202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74919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Final Results</a:t>
            </a:r>
          </a:p>
        </p:txBody>
      </p:sp>
      <p:sp>
        <p:nvSpPr>
          <p:cNvPr id="190467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071563"/>
            <a:ext cx="7848600" cy="5491162"/>
          </a:xfrm>
        </p:spPr>
        <p:txBody>
          <a:bodyPr lIns="91440"/>
          <a:lstStyle/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endParaRPr lang="en-US"/>
          </a:p>
          <a:p>
            <a:pPr marL="0" indent="0" eaLnBrk="1" hangingPunct="1"/>
            <a:r>
              <a:rPr lang="en-US"/>
              <a:t>The final results include matches and nonmatches.</a:t>
            </a:r>
          </a:p>
          <a:p>
            <a:pPr lvl="1" eaLnBrk="1" hangingPunct="1"/>
            <a:r>
              <a:rPr lang="en-US"/>
              <a:t>Matches are observations that contain data from </a:t>
            </a:r>
            <a:br>
              <a:rPr lang="en-US"/>
            </a:br>
            <a:r>
              <a:rPr lang="en-US"/>
              <a:t>both input data sets.</a:t>
            </a:r>
          </a:p>
          <a:p>
            <a:pPr lvl="1" eaLnBrk="1" hangingPunct="1"/>
            <a:r>
              <a:rPr lang="en-US"/>
              <a:t>Nonmatches are observations that contain data </a:t>
            </a:r>
            <a:br>
              <a:rPr lang="en-US"/>
            </a:br>
            <a:r>
              <a:rPr lang="en-US"/>
              <a:t>from only one input data set.</a:t>
            </a:r>
          </a:p>
          <a:p>
            <a:pPr marL="0" indent="0" eaLnBrk="1" hangingPunct="1"/>
            <a:endParaRPr lang="en-US"/>
          </a:p>
        </p:txBody>
      </p:sp>
      <p:sp>
        <p:nvSpPr>
          <p:cNvPr id="87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287C5B2-D57A-4F41-8E4D-B636092F2F05}" type="slidenum">
              <a:rPr lang="en-US">
                <a:solidFill>
                  <a:srgbClr val="000000"/>
                </a:solidFill>
              </a:rPr>
              <a:pPr>
                <a:defRPr/>
              </a:pPr>
              <a:t>21</a:t>
            </a:fld>
            <a:endParaRPr lang="en-US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graphicFrame>
        <p:nvGraphicFramePr>
          <p:cNvPr id="768317" name="Group 317"/>
          <p:cNvGraphicFramePr>
            <a:graphicFrameLocks noGrp="1"/>
          </p:cNvGraphicFramePr>
          <p:nvPr/>
        </p:nvGraphicFramePr>
        <p:xfrm>
          <a:off x="696913" y="1119188"/>
          <a:ext cx="5746750" cy="2157413"/>
        </p:xfrm>
        <a:graphic>
          <a:graphicData uri="http://schemas.openxmlformats.org/drawingml/2006/table">
            <a:tbl>
              <a:tblPr/>
              <a:tblGrid>
                <a:gridCol w="10937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37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37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53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83">
                <a:tc gridSpan="4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EmpsAUC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2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First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Gender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EmpID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Phone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2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Togar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121150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+61(2)5555-1795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2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Kylie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F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121151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2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Birin</a:t>
                      </a: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M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121152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+61(2)5555-1667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126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noProof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</a:endParaRP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121153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B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</a:rPr>
                        <a:t>+61(2)5555-1348</a:t>
                      </a:r>
                    </a:p>
                  </a:txBody>
                  <a:tcPr marL="88900" marR="889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lg"/>
                      <a:tailEnd type="none" w="med" len="lg"/>
                    </a:lnB>
                    <a:lnTlToBr cap="flat">
                      <a:noFill/>
                    </a:lnTlToBr>
                    <a:lnBlToTr cap="flat">
                      <a:noFill/>
                    </a:lnBlToTr>
                    <a:solidFill>
                      <a:srgbClr val="FFF2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39493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r>
              <a:rPr lang="en-US" dirty="0"/>
              <a:t>Differing Data in Set/Merge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6800"/>
            <a:ext cx="8686800" cy="5715000"/>
          </a:xfrm>
        </p:spPr>
        <p:txBody>
          <a:bodyPr/>
          <a:lstStyle/>
          <a:p>
            <a:r>
              <a:rPr lang="en-US" sz="2800" dirty="0"/>
              <a:t>Missing values</a:t>
            </a:r>
          </a:p>
          <a:p>
            <a:pPr lvl="1"/>
            <a:r>
              <a:rPr lang="en-US" sz="2400" dirty="0"/>
              <a:t>Variables missing in some datasets being </a:t>
            </a:r>
            <a:r>
              <a:rPr lang="en-US" sz="2400" dirty="0">
                <a:solidFill>
                  <a:schemeClr val="tx2">
                    <a:lumMod val="75000"/>
                  </a:schemeClr>
                </a:solidFill>
              </a:rPr>
              <a:t>set</a:t>
            </a:r>
          </a:p>
          <a:p>
            <a:pPr lvl="1"/>
            <a:r>
              <a:rPr lang="en-US" sz="2400" dirty="0"/>
              <a:t>Observations missing for some datasets being </a:t>
            </a:r>
            <a:r>
              <a:rPr lang="en-US" sz="2400" dirty="0">
                <a:solidFill>
                  <a:schemeClr val="tx2">
                    <a:lumMod val="75000"/>
                  </a:schemeClr>
                </a:solidFill>
              </a:rPr>
              <a:t>merged</a:t>
            </a:r>
            <a:endParaRPr lang="en-US" sz="2400" dirty="0"/>
          </a:p>
          <a:p>
            <a:r>
              <a:rPr lang="en-US" sz="2800" dirty="0"/>
              <a:t>The 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rename=</a:t>
            </a:r>
            <a:r>
              <a:rPr lang="en-US" sz="2800" dirty="0"/>
              <a:t> statement can be used to combine </a:t>
            </a:r>
            <a:r>
              <a:rPr lang="en-US" sz="2800" dirty="0" err="1"/>
              <a:t>datafiles</a:t>
            </a:r>
            <a:r>
              <a:rPr lang="en-US" sz="2800" dirty="0"/>
              <a:t> with different names</a:t>
            </a:r>
          </a:p>
          <a:p>
            <a:pPr marL="0" indent="0">
              <a:buNone/>
            </a:pPr>
            <a:r>
              <a:rPr lang="en-US" sz="2800" dirty="0"/>
              <a:t>	</a:t>
            </a:r>
            <a:r>
              <a:rPr lang="en-US" sz="2400" dirty="0"/>
              <a:t>Ex: data1 has “sex” but data2 has “gender”</a:t>
            </a:r>
          </a:p>
          <a:p>
            <a:pPr marL="0" indent="0">
              <a:buNone/>
            </a:pPr>
            <a:r>
              <a:rPr lang="en-US" sz="2400" dirty="0"/>
              <a:t>	</a:t>
            </a:r>
            <a:r>
              <a:rPr lang="en-US" sz="2400" dirty="0">
                <a:solidFill>
                  <a:schemeClr val="tx2">
                    <a:lumMod val="75000"/>
                  </a:schemeClr>
                </a:solidFill>
              </a:rPr>
              <a:t>data combined;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</a:schemeClr>
                </a:solidFill>
              </a:rPr>
              <a:t>		set data1 (rename=(sex=gender)) data2;</a:t>
            </a:r>
          </a:p>
          <a:p>
            <a:pPr marL="0" indent="0">
              <a:buNone/>
            </a:pPr>
            <a:r>
              <a:rPr lang="en-US" sz="2400" dirty="0"/>
              <a:t>	Alternate version – rename as a statement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</a:schemeClr>
                </a:solidFill>
              </a:rPr>
              <a:t>	data data1b;  set data1;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</a:schemeClr>
                </a:solidFill>
              </a:rPr>
              <a:t>		rename sex = gender;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</a:schemeClr>
                </a:solidFill>
              </a:rPr>
              <a:t>		</a:t>
            </a:r>
            <a:r>
              <a:rPr lang="en-US" sz="2400" dirty="0"/>
              <a:t>* </a:t>
            </a:r>
            <a:r>
              <a:rPr lang="en-US" sz="2400"/>
              <a:t>then set </a:t>
            </a:r>
            <a:r>
              <a:rPr lang="en-US" sz="2400" dirty="0"/>
              <a:t>data1b with data2</a:t>
            </a:r>
          </a:p>
        </p:txBody>
      </p:sp>
    </p:spTree>
    <p:extLst>
      <p:ext uri="{BB962C8B-B14F-4D97-AF65-F5344CB8AC3E}">
        <p14:creationId xmlns:p14="http://schemas.microsoft.com/office/powerpoint/2010/main" val="1330218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Merging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careful with merges!</a:t>
            </a:r>
          </a:p>
          <a:p>
            <a:pPr lvl="1"/>
            <a:r>
              <a:rPr lang="en-US" dirty="0"/>
              <a:t>Overwriting datasets</a:t>
            </a:r>
          </a:p>
          <a:p>
            <a:pPr lvl="1"/>
            <a:r>
              <a:rPr lang="en-US" dirty="0"/>
              <a:t>Incorrect merges (without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by</a:t>
            </a:r>
            <a:r>
              <a:rPr lang="en-US" dirty="0"/>
              <a:t> statement)</a:t>
            </a:r>
          </a:p>
          <a:p>
            <a:pPr lvl="1"/>
            <a:r>
              <a:rPr lang="en-US" dirty="0"/>
              <a:t>We will learn a trick with merges later (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in=a</a:t>
            </a:r>
            <a:r>
              <a:rPr lang="en-US" dirty="0"/>
              <a:t>)</a:t>
            </a:r>
          </a:p>
          <a:p>
            <a:r>
              <a:rPr lang="en-US" dirty="0"/>
              <a:t>Formats</a:t>
            </a:r>
          </a:p>
          <a:p>
            <a:pPr lvl="1"/>
            <a:r>
              <a:rPr lang="en-US" dirty="0"/>
              <a:t>SAS will complain about combining data with different formats (more on this later)</a:t>
            </a:r>
          </a:p>
        </p:txBody>
      </p:sp>
    </p:spTree>
    <p:extLst>
      <p:ext uri="{BB962C8B-B14F-4D97-AF65-F5344CB8AC3E}">
        <p14:creationId xmlns:p14="http://schemas.microsoft.com/office/powerpoint/2010/main" val="482238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B5F3D-2ED7-C378-D01B-BFE2BF0F0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2D070-51E4-CCC1-476F-17F607237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Which method should be used for the given business scenario?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JanSales</a:t>
            </a:r>
            <a:r>
              <a:rPr lang="en-US" sz="2400" dirty="0"/>
              <a:t>, </a:t>
            </a:r>
            <a:r>
              <a:rPr lang="en-US" sz="2400" dirty="0" err="1"/>
              <a:t>FebSales</a:t>
            </a:r>
            <a:r>
              <a:rPr lang="en-US" sz="2400" dirty="0"/>
              <a:t>, and </a:t>
            </a:r>
            <a:r>
              <a:rPr lang="en-US" sz="2400" dirty="0" err="1"/>
              <a:t>MarSales</a:t>
            </a:r>
            <a:r>
              <a:rPr lang="en-US" sz="2400" dirty="0"/>
              <a:t> data sets need to be combined to create the Qtr1Sales data set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Appending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Concatenating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Merging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Surfing</a:t>
            </a:r>
          </a:p>
        </p:txBody>
      </p:sp>
    </p:spTree>
    <p:extLst>
      <p:ext uri="{BB962C8B-B14F-4D97-AF65-F5344CB8AC3E}">
        <p14:creationId xmlns:p14="http://schemas.microsoft.com/office/powerpoint/2010/main" val="2110345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78DF0-3F8C-A054-C525-B08EAF783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2BF1B-5473-34A5-2646-CBC34840D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C57BF-85A7-D323-9747-4ADD6AEF4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Which method should be used for the given business scenario?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Sales data set needs to be combined with the Target data set by month to compare the sales data to the target data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Appending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Concatenating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Merging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Surfing</a:t>
            </a:r>
          </a:p>
        </p:txBody>
      </p:sp>
    </p:spTree>
    <p:extLst>
      <p:ext uri="{BB962C8B-B14F-4D97-AF65-F5344CB8AC3E}">
        <p14:creationId xmlns:p14="http://schemas.microsoft.com/office/powerpoint/2010/main" val="40417687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F27EB-8E1A-9ADB-CC46-4B497E5B7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59171-786C-995F-FBBA-847A9293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D9430-ACB1-2315-5529-2432BD4DC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Which method should be used for the given business scenario?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OctSales</a:t>
            </a:r>
            <a:r>
              <a:rPr lang="en-US" sz="2400" dirty="0"/>
              <a:t> data set needs to be added to the YTD data set.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Appending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Concatenating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Merging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Surfing</a:t>
            </a:r>
          </a:p>
        </p:txBody>
      </p:sp>
    </p:spTree>
    <p:extLst>
      <p:ext uri="{BB962C8B-B14F-4D97-AF65-F5344CB8AC3E}">
        <p14:creationId xmlns:p14="http://schemas.microsoft.com/office/powerpoint/2010/main" val="2465318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68F61-F8AE-4BEB-F163-65FA7643A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F62C-921F-4876-473E-58926B6FA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many variables will be in EmpsAll2 after concatenating </a:t>
            </a:r>
            <a:r>
              <a:rPr lang="en-US" dirty="0" err="1"/>
              <a:t>EmpsCN</a:t>
            </a:r>
            <a:r>
              <a:rPr lang="en-US" dirty="0"/>
              <a:t> and </a:t>
            </a:r>
            <a:r>
              <a:rPr lang="en-US" dirty="0" err="1"/>
              <a:t>EmpsJP</a:t>
            </a:r>
            <a:r>
              <a:rPr lang="en-US" dirty="0"/>
              <a:t>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0</a:t>
            </a:r>
          </a:p>
          <a:p>
            <a:pPr marL="0" indent="0">
              <a:buNone/>
            </a:pPr>
            <a:r>
              <a:rPr lang="en-US" sz="2400" dirty="0"/>
              <a:t>1</a:t>
            </a:r>
          </a:p>
          <a:p>
            <a:pPr marL="0" indent="0">
              <a:buNone/>
            </a:pPr>
            <a:r>
              <a:rPr lang="en-US" sz="2400" dirty="0"/>
              <a:t>2</a:t>
            </a:r>
          </a:p>
          <a:p>
            <a:pPr marL="0" indent="0">
              <a:buNone/>
            </a:pPr>
            <a:r>
              <a:rPr lang="en-US" sz="2400" dirty="0"/>
              <a:t>3</a:t>
            </a:r>
          </a:p>
          <a:p>
            <a:pPr marL="0" indent="0">
              <a:buNone/>
            </a:pPr>
            <a:r>
              <a:rPr lang="en-US" sz="2400" dirty="0"/>
              <a:t>4</a:t>
            </a:r>
          </a:p>
          <a:p>
            <a:pPr marL="0" indent="0">
              <a:buNone/>
            </a:pPr>
            <a:r>
              <a:rPr lang="en-US" sz="2400" dirty="0"/>
              <a:t>5</a:t>
            </a:r>
          </a:p>
          <a:p>
            <a:pPr marL="0" indent="0">
              <a:buNone/>
            </a:pPr>
            <a:r>
              <a:rPr lang="en-US" sz="2400" dirty="0"/>
              <a:t>6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10596E-9353-5A2E-5E54-291409404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3200400"/>
            <a:ext cx="5094860" cy="221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9782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7EFB3-5FFC-2274-43C4-D335492E7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6B058-CEA8-120F-88C8-6B6AB34CA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Which step is sorting the observations in a SAS data set and overwriting the same SAS data set?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1. proc sort data = </a:t>
            </a:r>
            <a:r>
              <a:rPr lang="en-US" sz="2400" dirty="0" err="1"/>
              <a:t>work.EmpsAU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	out = </a:t>
            </a:r>
            <a:r>
              <a:rPr lang="en-US" sz="2400" dirty="0" err="1"/>
              <a:t>work.sorted</a:t>
            </a:r>
            <a:r>
              <a:rPr lang="en-US" sz="2400" dirty="0"/>
              <a:t>; by First; run;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2. proc sort data = </a:t>
            </a:r>
            <a:r>
              <a:rPr lang="en-US" sz="2400" dirty="0" err="1"/>
              <a:t>work.EmpsAU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	out = </a:t>
            </a:r>
            <a:r>
              <a:rPr lang="en-US" sz="2400" dirty="0" err="1"/>
              <a:t>orion.EmpsAU</a:t>
            </a:r>
            <a:r>
              <a:rPr lang="en-US" sz="2400" dirty="0"/>
              <a:t>; by First; run;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3. proc sort data = </a:t>
            </a:r>
            <a:r>
              <a:rPr lang="en-US" sz="2400" dirty="0" err="1"/>
              <a:t>work.EmpsAU</a:t>
            </a:r>
            <a:r>
              <a:rPr lang="en-US" sz="2400" dirty="0"/>
              <a:t>; by First; run;</a:t>
            </a:r>
          </a:p>
        </p:txBody>
      </p:sp>
    </p:spTree>
    <p:extLst>
      <p:ext uri="{BB962C8B-B14F-4D97-AF65-F5344CB8AC3E}">
        <p14:creationId xmlns:p14="http://schemas.microsoft.com/office/powerpoint/2010/main" val="22587270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50FB6E-B9A4-5D24-6299-D38D63FD4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variables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BD32EA-2E98-4406-4962-72BCA977B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5805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FFC66A-4042-0A2B-7BF1-0B48268BE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variables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A4B087-A732-9D49-1197-1AE4A02F7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New variables can be created rather easily from existing variables</a:t>
            </a:r>
          </a:p>
          <a:p>
            <a:pPr algn="just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New variables can be created in the same or new data step in which the data is entered (if done by hand or “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infile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”). </a:t>
            </a:r>
            <a:r>
              <a:rPr lang="en-US" sz="2000" b="1" dirty="0">
                <a:solidFill>
                  <a:srgbClr val="FFFF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This can be done with a new data step using a SET statement</a:t>
            </a:r>
            <a:r>
              <a:rPr lang="en-US" sz="2000" dirty="0">
                <a:solidFill>
                  <a:srgbClr val="FFFF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r>
              <a:rPr lang="en-US" sz="2000" dirty="0">
                <a:solidFill>
                  <a:schemeClr val="bg1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</a:p>
          <a:p>
            <a:pPr algn="just">
              <a:spcBef>
                <a:spcPts val="0"/>
              </a:spcBef>
            </a:pP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Calculations in SAS:</a:t>
            </a:r>
          </a:p>
          <a:p>
            <a:pPr marL="0" indent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	+		addition				x=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y+z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	-		subtraction			x=y-z</a:t>
            </a:r>
          </a:p>
          <a:p>
            <a:pPr marL="0" indent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	* 		multiplication			x=y*z</a:t>
            </a:r>
          </a:p>
          <a:p>
            <a:pPr marL="0" indent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	/		division				x=y/z</a:t>
            </a:r>
          </a:p>
          <a:p>
            <a:pPr marL="0" indent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	** 		raises to a power			x=y**z</a:t>
            </a:r>
          </a:p>
          <a:p>
            <a:pPr marL="0" indent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	log( )		calculates the natural log		x=log(y)</a:t>
            </a:r>
          </a:p>
          <a:p>
            <a:pPr marL="0" indent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	log10( )		calculates the log base 10		x=log10(y)</a:t>
            </a:r>
          </a:p>
          <a:p>
            <a:pPr marL="0" indent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	exp( )		calculates the e to the power of ( ) 	x=exp(y)</a:t>
            </a:r>
          </a:p>
          <a:p>
            <a:pPr marL="0" indent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5164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C8412-1EA6-49FE-BC12-6D7F440C4F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2268" y="2203389"/>
            <a:ext cx="7115176" cy="2655482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</a:p>
          <a:p>
            <a:pPr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lang="en-US" sz="15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b="1" dirty="0">
                <a:latin typeface="Courier New" panose="02070309020205020404" pitchFamily="49" charset="0"/>
              </a:rPr>
              <a:t>data</a:t>
            </a:r>
            <a:r>
              <a:rPr lang="en-US" sz="1500" dirty="0">
                <a:latin typeface="Courier New" panose="02070309020205020404" pitchFamily="49" charset="0"/>
              </a:rPr>
              <a:t> club2;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set club;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diff = </a:t>
            </a:r>
            <a:r>
              <a:rPr lang="en-US" sz="1500" dirty="0" err="1">
                <a:latin typeface="Courier New" panose="02070309020205020404" pitchFamily="49" charset="0"/>
              </a:rPr>
              <a:t>endwt</a:t>
            </a:r>
            <a:r>
              <a:rPr lang="en-US" sz="1500" dirty="0">
                <a:latin typeface="Courier New" panose="02070309020205020404" pitchFamily="49" charset="0"/>
              </a:rPr>
              <a:t> - </a:t>
            </a:r>
            <a:r>
              <a:rPr lang="en-US" sz="1500" dirty="0" err="1">
                <a:latin typeface="Courier New" panose="02070309020205020404" pitchFamily="49" charset="0"/>
              </a:rPr>
              <a:t>startwt</a:t>
            </a:r>
            <a:r>
              <a:rPr lang="en-US" sz="15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</a:t>
            </a:r>
            <a:r>
              <a:rPr lang="en-US" sz="1500" dirty="0" err="1">
                <a:latin typeface="Courier New" panose="02070309020205020404" pitchFamily="49" charset="0"/>
              </a:rPr>
              <a:t>percent_diff</a:t>
            </a:r>
            <a:r>
              <a:rPr lang="en-US" sz="1500" dirty="0">
                <a:latin typeface="Courier New" panose="02070309020205020404" pitchFamily="49" charset="0"/>
              </a:rPr>
              <a:t> = ((</a:t>
            </a:r>
            <a:r>
              <a:rPr lang="en-US" sz="1500" dirty="0" err="1">
                <a:latin typeface="Courier New" panose="02070309020205020404" pitchFamily="49" charset="0"/>
              </a:rPr>
              <a:t>endwt</a:t>
            </a:r>
            <a:r>
              <a:rPr lang="en-US" sz="1500" dirty="0">
                <a:latin typeface="Courier New" panose="02070309020205020404" pitchFamily="49" charset="0"/>
              </a:rPr>
              <a:t> - </a:t>
            </a:r>
            <a:r>
              <a:rPr lang="en-US" sz="1500" dirty="0" err="1">
                <a:latin typeface="Courier New" panose="02070309020205020404" pitchFamily="49" charset="0"/>
              </a:rPr>
              <a:t>startwt</a:t>
            </a:r>
            <a:r>
              <a:rPr lang="en-US" sz="1500" dirty="0">
                <a:latin typeface="Courier New" panose="02070309020205020404" pitchFamily="49" charset="0"/>
              </a:rPr>
              <a:t>)/</a:t>
            </a:r>
            <a:r>
              <a:rPr lang="en-US" sz="1500" dirty="0" err="1">
                <a:latin typeface="Courier New" panose="02070309020205020404" pitchFamily="49" charset="0"/>
              </a:rPr>
              <a:t>startwt</a:t>
            </a:r>
            <a:r>
              <a:rPr lang="en-US" sz="1500" dirty="0">
                <a:latin typeface="Courier New" panose="02070309020205020404" pitchFamily="49" charset="0"/>
              </a:rPr>
              <a:t>)*</a:t>
            </a:r>
            <a:r>
              <a:rPr lang="en-US" sz="1500" b="1" dirty="0">
                <a:latin typeface="Courier New" panose="02070309020205020404" pitchFamily="49" charset="0"/>
              </a:rPr>
              <a:t>100</a:t>
            </a:r>
            <a:r>
              <a:rPr lang="en-US" sz="15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b="1" dirty="0">
                <a:latin typeface="Courier New" panose="02070309020205020404" pitchFamily="49" charset="0"/>
              </a:rPr>
              <a:t>run</a:t>
            </a:r>
            <a:r>
              <a:rPr lang="en-US" sz="1500" dirty="0">
                <a:latin typeface="Courier New" panose="02070309020205020404" pitchFamily="49" charset="0"/>
              </a:rPr>
              <a:t>;</a:t>
            </a:r>
            <a:r>
              <a:rPr lang="en-US" sz="1500" dirty="0">
                <a:latin typeface="Courier New" panose="02070309020205020404" pitchFamily="49" charset="0"/>
                <a:ea typeface="Times New Roman" panose="02020603050405020304" pitchFamily="18" charset="0"/>
              </a:rPr>
              <a:t> </a:t>
            </a:r>
          </a:p>
          <a:p>
            <a:pPr marL="0" indent="0">
              <a:spcBef>
                <a:spcPts val="0"/>
              </a:spcBef>
              <a:buNone/>
            </a:pPr>
            <a:endParaRPr lang="en-US" sz="15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225"/>
              </a:spcBef>
              <a:buNone/>
            </a:pPr>
            <a:r>
              <a:rPr lang="en-US" sz="1500" b="1" dirty="0">
                <a:latin typeface="Courier New" panose="02070309020205020404" pitchFamily="49" charset="0"/>
              </a:rPr>
              <a:t>proc</a:t>
            </a:r>
            <a:r>
              <a:rPr lang="en-US" sz="1500" dirty="0">
                <a:latin typeface="Courier New" panose="02070309020205020404" pitchFamily="49" charset="0"/>
              </a:rPr>
              <a:t> </a:t>
            </a:r>
            <a:r>
              <a:rPr lang="en-US" sz="1500" b="1" dirty="0">
                <a:latin typeface="Courier New" panose="02070309020205020404" pitchFamily="49" charset="0"/>
              </a:rPr>
              <a:t>print</a:t>
            </a:r>
            <a:r>
              <a:rPr lang="en-US" sz="1500" dirty="0">
                <a:latin typeface="Courier New" panose="02070309020205020404" pitchFamily="49" charset="0"/>
              </a:rPr>
              <a:t> data=club2;</a:t>
            </a:r>
          </a:p>
          <a:p>
            <a:pPr marL="0" indent="0">
              <a:spcBef>
                <a:spcPts val="225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title 'Data Set with New Variables';</a:t>
            </a:r>
          </a:p>
          <a:p>
            <a:pPr marL="0" indent="0">
              <a:spcBef>
                <a:spcPts val="225"/>
              </a:spcBef>
              <a:buNone/>
            </a:pPr>
            <a:r>
              <a:rPr lang="en-US" sz="1500" b="1" dirty="0">
                <a:solidFill>
                  <a:srgbClr val="000080"/>
                </a:solidFill>
                <a:latin typeface="Courier New" panose="02070309020205020404" pitchFamily="49" charset="0"/>
              </a:rPr>
              <a:t>run</a:t>
            </a:r>
            <a:r>
              <a:rPr lang="en-US" sz="150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en-US" sz="15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69A12E0-1D28-4A1B-8699-3C9B5CABB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494" y="4114800"/>
            <a:ext cx="3273891" cy="1918254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7F705A5-7591-41A0-A0F3-F3501C11BE28}"/>
              </a:ext>
            </a:extLst>
          </p:cNvPr>
          <p:cNvCxnSpPr>
            <a:cxnSpLocks/>
          </p:cNvCxnSpPr>
          <p:nvPr/>
        </p:nvCxnSpPr>
        <p:spPr>
          <a:xfrm flipV="1">
            <a:off x="2206135" y="2208276"/>
            <a:ext cx="1867517" cy="71488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2F6A04E-B3FD-4D9F-AC1E-28C72A828581}"/>
              </a:ext>
            </a:extLst>
          </p:cNvPr>
          <p:cNvSpPr txBox="1"/>
          <p:nvPr/>
        </p:nvSpPr>
        <p:spPr>
          <a:xfrm>
            <a:off x="3737784" y="1999828"/>
            <a:ext cx="26582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Creating new data set and setting it equal to the club data to start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E98A63-EA76-417C-8CE0-BC10472A10B6}"/>
              </a:ext>
            </a:extLst>
          </p:cNvPr>
          <p:cNvSpPr/>
          <p:nvPr/>
        </p:nvSpPr>
        <p:spPr>
          <a:xfrm>
            <a:off x="789959" y="2641973"/>
            <a:ext cx="1416176" cy="48474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 w="76200">
                <a:solidFill>
                  <a:srgbClr val="00B050"/>
                </a:solidFill>
              </a:ln>
              <a:noFill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C193C6-1222-214A-9537-C2156C168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variables</a:t>
            </a:r>
          </a:p>
        </p:txBody>
      </p:sp>
    </p:spTree>
    <p:extLst>
      <p:ext uri="{BB962C8B-B14F-4D97-AF65-F5344CB8AC3E}">
        <p14:creationId xmlns:p14="http://schemas.microsoft.com/office/powerpoint/2010/main" val="14682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8B7C2-A5C0-02AD-7B27-BCFB61568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Changing formats of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930D2-BE3A-CFCA-6D89-ED41B1504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500"/>
              </a:spcBef>
              <a:buNone/>
            </a:pPr>
            <a:r>
              <a:rPr lang="en-US" sz="2000" dirty="0">
                <a:solidFill>
                  <a:srgbClr val="008000"/>
                </a:solidFill>
                <a:latin typeface="Courier New" panose="02070309020205020404" pitchFamily="49" charset="0"/>
              </a:rPr>
              <a:t>/* The following formats the </a:t>
            </a:r>
            <a:r>
              <a:rPr lang="en-US" sz="2000" dirty="0" err="1">
                <a:solidFill>
                  <a:srgbClr val="008000"/>
                </a:solidFill>
                <a:latin typeface="Courier New" panose="02070309020205020404" pitchFamily="49" charset="0"/>
              </a:rPr>
              <a:t>percent_diff</a:t>
            </a:r>
            <a:r>
              <a:rPr lang="en-US" sz="2000" dirty="0">
                <a:solidFill>
                  <a:srgbClr val="008000"/>
                </a:solidFill>
                <a:latin typeface="Courier New" panose="02070309020205020404" pitchFamily="49" charset="0"/>
              </a:rPr>
              <a:t> variable to have two decimal places*/</a:t>
            </a:r>
            <a:endParaRPr lang="en-US" sz="20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marL="0" indent="0">
              <a:spcBef>
                <a:spcPts val="500"/>
              </a:spcBef>
              <a:buNone/>
            </a:pPr>
            <a:r>
              <a:rPr lang="en-US" sz="2000" b="1" dirty="0">
                <a:latin typeface="Courier New" panose="02070309020205020404" pitchFamily="49" charset="0"/>
              </a:rPr>
              <a:t>data</a:t>
            </a:r>
            <a:r>
              <a:rPr lang="en-US" sz="2000" dirty="0">
                <a:latin typeface="Courier New" panose="02070309020205020404" pitchFamily="49" charset="0"/>
              </a:rPr>
              <a:t> club2;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000" dirty="0">
                <a:latin typeface="Courier New" panose="02070309020205020404" pitchFamily="49" charset="0"/>
              </a:rPr>
              <a:t>  set club;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000" dirty="0">
                <a:latin typeface="Courier New" panose="02070309020205020404" pitchFamily="49" charset="0"/>
              </a:rPr>
              <a:t>  diff = </a:t>
            </a:r>
            <a:r>
              <a:rPr lang="en-US" sz="2000" dirty="0" err="1">
                <a:latin typeface="Courier New" panose="02070309020205020404" pitchFamily="49" charset="0"/>
              </a:rPr>
              <a:t>endwt</a:t>
            </a:r>
            <a:r>
              <a:rPr lang="en-US" sz="2000" dirty="0">
                <a:latin typeface="Courier New" panose="02070309020205020404" pitchFamily="49" charset="0"/>
              </a:rPr>
              <a:t> - </a:t>
            </a:r>
            <a:r>
              <a:rPr lang="en-US" sz="2000" dirty="0" err="1">
                <a:latin typeface="Courier New" panose="02070309020205020404" pitchFamily="49" charset="0"/>
              </a:rPr>
              <a:t>startwt</a:t>
            </a:r>
            <a:r>
              <a:rPr lang="en-US" sz="20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000" dirty="0">
                <a:latin typeface="Courier New" panose="02070309020205020404" pitchFamily="49" charset="0"/>
              </a:rPr>
              <a:t>  format </a:t>
            </a:r>
            <a:r>
              <a:rPr lang="en-US" sz="2000" dirty="0" err="1">
                <a:latin typeface="Courier New" panose="02070309020205020404" pitchFamily="49" charset="0"/>
              </a:rPr>
              <a:t>percent_diff</a:t>
            </a:r>
            <a:r>
              <a:rPr lang="en-US" sz="2000" dirty="0">
                <a:latin typeface="Courier New" panose="02070309020205020404" pitchFamily="49" charset="0"/>
              </a:rPr>
              <a:t> </a:t>
            </a:r>
            <a:r>
              <a:rPr lang="en-US" sz="2000" b="1" dirty="0">
                <a:latin typeface="Courier New" panose="02070309020205020404" pitchFamily="49" charset="0"/>
              </a:rPr>
              <a:t>8.2</a:t>
            </a:r>
            <a:r>
              <a:rPr lang="en-US" sz="20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000" dirty="0">
                <a:latin typeface="Courier New" panose="02070309020205020404" pitchFamily="49" charset="0"/>
              </a:rPr>
              <a:t>  </a:t>
            </a:r>
            <a:r>
              <a:rPr lang="en-US" sz="2000" dirty="0" err="1">
                <a:latin typeface="Courier New" panose="02070309020205020404" pitchFamily="49" charset="0"/>
              </a:rPr>
              <a:t>percent_diff</a:t>
            </a:r>
            <a:r>
              <a:rPr lang="en-US" sz="2000" dirty="0">
                <a:latin typeface="Courier New" panose="02070309020205020404" pitchFamily="49" charset="0"/>
              </a:rPr>
              <a:t> = ((</a:t>
            </a:r>
            <a:r>
              <a:rPr lang="en-US" sz="2000" dirty="0" err="1">
                <a:latin typeface="Courier New" panose="02070309020205020404" pitchFamily="49" charset="0"/>
              </a:rPr>
              <a:t>endwt</a:t>
            </a:r>
            <a:r>
              <a:rPr lang="en-US" sz="2000" dirty="0">
                <a:latin typeface="Courier New" panose="02070309020205020404" pitchFamily="49" charset="0"/>
              </a:rPr>
              <a:t> - </a:t>
            </a:r>
            <a:r>
              <a:rPr lang="en-US" sz="2000" dirty="0" err="1">
                <a:latin typeface="Courier New" panose="02070309020205020404" pitchFamily="49" charset="0"/>
              </a:rPr>
              <a:t>startwt</a:t>
            </a:r>
            <a:r>
              <a:rPr lang="en-US" sz="2000" dirty="0">
                <a:latin typeface="Courier New" panose="02070309020205020404" pitchFamily="49" charset="0"/>
              </a:rPr>
              <a:t>)/</a:t>
            </a:r>
            <a:r>
              <a:rPr lang="en-US" sz="2000" dirty="0" err="1">
                <a:latin typeface="Courier New" panose="02070309020205020404" pitchFamily="49" charset="0"/>
              </a:rPr>
              <a:t>startwt</a:t>
            </a:r>
            <a:r>
              <a:rPr lang="en-US" sz="2000" dirty="0">
                <a:latin typeface="Courier New" panose="02070309020205020404" pitchFamily="49" charset="0"/>
              </a:rPr>
              <a:t>)*</a:t>
            </a:r>
            <a:r>
              <a:rPr lang="en-US" sz="2000" b="1" dirty="0">
                <a:latin typeface="Courier New" panose="02070309020205020404" pitchFamily="49" charset="0"/>
              </a:rPr>
              <a:t>100</a:t>
            </a:r>
            <a:r>
              <a:rPr lang="en-US" sz="20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000" b="1" dirty="0">
                <a:latin typeface="Courier New" panose="02070309020205020404" pitchFamily="49" charset="0"/>
              </a:rPr>
              <a:t>run</a:t>
            </a:r>
            <a:r>
              <a:rPr lang="en-US" sz="20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500"/>
              </a:spcBef>
              <a:buNone/>
            </a:pPr>
            <a:endParaRPr lang="en-US" sz="2000" dirty="0">
              <a:latin typeface="Courier New" panose="02070309020205020404" pitchFamily="49" charset="0"/>
            </a:endParaRPr>
          </a:p>
          <a:p>
            <a:pPr marL="0" indent="0">
              <a:spcBef>
                <a:spcPts val="500"/>
              </a:spcBef>
              <a:buNone/>
            </a:pPr>
            <a:r>
              <a:rPr lang="en-US" sz="2000" b="1" dirty="0">
                <a:latin typeface="Courier New" panose="02070309020205020404" pitchFamily="49" charset="0"/>
              </a:rPr>
              <a:t>proc</a:t>
            </a:r>
            <a:r>
              <a:rPr lang="en-US" sz="2000" dirty="0">
                <a:latin typeface="Courier New" panose="02070309020205020404" pitchFamily="49" charset="0"/>
              </a:rPr>
              <a:t> </a:t>
            </a:r>
            <a:r>
              <a:rPr lang="en-US" sz="2000" b="1" dirty="0">
                <a:latin typeface="Courier New" panose="02070309020205020404" pitchFamily="49" charset="0"/>
              </a:rPr>
              <a:t>print</a:t>
            </a:r>
            <a:r>
              <a:rPr lang="en-US" sz="2000" dirty="0">
                <a:latin typeface="Courier New" panose="02070309020205020404" pitchFamily="49" charset="0"/>
              </a:rPr>
              <a:t> data=club2;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000" dirty="0">
                <a:latin typeface="Courier New" panose="02070309020205020404" pitchFamily="49" charset="0"/>
              </a:rPr>
              <a:t>  title 'Data Set with New Variables';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000" b="1" dirty="0">
                <a:latin typeface="Courier New" panose="02070309020205020404" pitchFamily="49" charset="0"/>
              </a:rPr>
              <a:t>run</a:t>
            </a:r>
            <a:r>
              <a:rPr lang="en-US" sz="2000" dirty="0">
                <a:latin typeface="Courier New" panose="02070309020205020404" pitchFamily="49" charset="0"/>
              </a:rPr>
              <a:t>;</a:t>
            </a:r>
            <a:endParaRPr lang="en-US" sz="20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08467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CDFB2-5BA4-49EF-BBFD-F3EED282A6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42825" t="50000" r="24700" b="16533"/>
          <a:stretch/>
        </p:blipFill>
        <p:spPr>
          <a:xfrm>
            <a:off x="891541" y="2528753"/>
            <a:ext cx="4454271" cy="25820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7D31BF1-2EB4-49A3-8C9D-DBCE1ADDB805}"/>
              </a:ext>
            </a:extLst>
          </p:cNvPr>
          <p:cNvSpPr txBox="1"/>
          <p:nvPr/>
        </p:nvSpPr>
        <p:spPr>
          <a:xfrm>
            <a:off x="5791200" y="2665622"/>
            <a:ext cx="26746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the </a:t>
            </a:r>
            <a:r>
              <a:rPr lang="en-US" dirty="0" err="1"/>
              <a:t>percent_diff</a:t>
            </a:r>
            <a:r>
              <a:rPr lang="en-US" dirty="0"/>
              <a:t> values were exactly an integer or a value with only a “tenths” place, then a trailing 0 would be added (assuming the number of columns saved is large enough)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8E8A257-875F-ECCB-154E-197B3CD625D6}"/>
              </a:ext>
            </a:extLst>
          </p:cNvPr>
          <p:cNvSpPr txBox="1">
            <a:spLocks/>
          </p:cNvSpPr>
          <p:nvPr/>
        </p:nvSpPr>
        <p:spPr bwMode="auto">
          <a:xfrm>
            <a:off x="609600" y="4270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0" i="0">
                <a:solidFill>
                  <a:schemeClr val="tx2"/>
                </a:solidFill>
                <a:latin typeface="Aptos Display" panose="020B0004020202020204" pitchFamily="34" charset="0"/>
                <a:ea typeface="+mj-ea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kern="0" dirty="0"/>
              <a:t>Changing formats of variables</a:t>
            </a:r>
          </a:p>
        </p:txBody>
      </p:sp>
    </p:spTree>
    <p:extLst>
      <p:ext uri="{BB962C8B-B14F-4D97-AF65-F5344CB8AC3E}">
        <p14:creationId xmlns:p14="http://schemas.microsoft.com/office/powerpoint/2010/main" val="15433220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AD3A5BD-5FD7-4D0E-B727-02604E5C6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412" y="2227252"/>
            <a:ext cx="7115176" cy="2938574"/>
          </a:xfrm>
        </p:spPr>
        <p:txBody>
          <a:bodyPr>
            <a:normAutofit/>
          </a:bodyPr>
          <a:lstStyle/>
          <a:p>
            <a:pPr marL="0" indent="0">
              <a:spcBef>
                <a:spcPts val="450"/>
              </a:spcBef>
              <a:buNone/>
            </a:pPr>
            <a:r>
              <a:rPr lang="en-US" sz="1350" b="1" dirty="0">
                <a:latin typeface="Courier New" panose="02070309020205020404" pitchFamily="49" charset="0"/>
              </a:rPr>
              <a:t>data</a:t>
            </a:r>
            <a:r>
              <a:rPr lang="en-US" sz="1350" dirty="0">
                <a:latin typeface="Courier New" panose="02070309020205020404" pitchFamily="49" charset="0"/>
              </a:rPr>
              <a:t> enrollment;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dirty="0">
                <a:latin typeface="Courier New" panose="02070309020205020404" pitchFamily="49" charset="0"/>
              </a:rPr>
              <a:t>  input School &amp;$30. student comma6.;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dirty="0">
                <a:latin typeface="Courier New" panose="02070309020205020404" pitchFamily="49" charset="0"/>
              </a:rPr>
              <a:t>  cards;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dirty="0">
                <a:latin typeface="Courier New" panose="02070309020205020404" pitchFamily="49" charset="0"/>
              </a:rPr>
              <a:t>  Bryn </a:t>
            </a:r>
            <a:r>
              <a:rPr lang="en-US" sz="1350" dirty="0" err="1">
                <a:latin typeface="Courier New" panose="02070309020205020404" pitchFamily="49" charset="0"/>
              </a:rPr>
              <a:t>Mawr</a:t>
            </a:r>
            <a:r>
              <a:rPr lang="en-US" sz="1350" dirty="0">
                <a:latin typeface="Courier New" panose="02070309020205020404" pitchFamily="49" charset="0"/>
              </a:rPr>
              <a:t> College  1,300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dirty="0">
                <a:latin typeface="Courier New" panose="02070309020205020404" pitchFamily="49" charset="0"/>
              </a:rPr>
              <a:t>  Penn State University  73,476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dirty="0">
                <a:latin typeface="Courier New" panose="02070309020205020404" pitchFamily="49" charset="0"/>
              </a:rPr>
              <a:t>  Villanova University  7,037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450"/>
              </a:spcBef>
              <a:buNone/>
            </a:pPr>
            <a:endParaRPr lang="en-US" sz="1350" dirty="0">
              <a:latin typeface="Courier New" panose="02070309020205020404" pitchFamily="49" charset="0"/>
            </a:endParaRPr>
          </a:p>
          <a:p>
            <a:pPr marL="0" indent="0">
              <a:spcBef>
                <a:spcPts val="450"/>
              </a:spcBef>
              <a:buNone/>
            </a:pPr>
            <a:r>
              <a:rPr lang="en-US" sz="1350" b="1" dirty="0">
                <a:latin typeface="Courier New" panose="02070309020205020404" pitchFamily="49" charset="0"/>
              </a:rPr>
              <a:t>proc</a:t>
            </a:r>
            <a:r>
              <a:rPr lang="en-US" sz="1350" dirty="0">
                <a:latin typeface="Courier New" panose="02070309020205020404" pitchFamily="49" charset="0"/>
              </a:rPr>
              <a:t> </a:t>
            </a:r>
            <a:r>
              <a:rPr lang="en-US" sz="1350" b="1" dirty="0">
                <a:latin typeface="Courier New" panose="02070309020205020404" pitchFamily="49" charset="0"/>
              </a:rPr>
              <a:t>print</a:t>
            </a:r>
            <a:r>
              <a:rPr lang="en-US" sz="1350" dirty="0">
                <a:latin typeface="Courier New" panose="02070309020205020404" pitchFamily="49" charset="0"/>
              </a:rPr>
              <a:t> data=enrollment;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b="1" dirty="0">
                <a:latin typeface="Courier New" panose="02070309020205020404" pitchFamily="49" charset="0"/>
              </a:rPr>
              <a:t>run</a:t>
            </a:r>
            <a:r>
              <a:rPr lang="en-US" sz="1350" dirty="0">
                <a:latin typeface="Courier New" panose="02070309020205020404" pitchFamily="49" charset="0"/>
              </a:rPr>
              <a:t>;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81868AD-56E8-4235-9267-B9351746F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972" y="2950286"/>
            <a:ext cx="3007462" cy="16034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66D930-FD63-3B2B-614C-592D2C5F8A7F}"/>
              </a:ext>
            </a:extLst>
          </p:cNvPr>
          <p:cNvSpPr txBox="1">
            <a:spLocks/>
          </p:cNvSpPr>
          <p:nvPr/>
        </p:nvSpPr>
        <p:spPr bwMode="auto">
          <a:xfrm>
            <a:off x="609600" y="4270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0" i="0">
                <a:solidFill>
                  <a:schemeClr val="tx2"/>
                </a:solidFill>
                <a:latin typeface="Aptos Display" panose="020B0004020202020204" pitchFamily="34" charset="0"/>
                <a:ea typeface="+mj-ea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sz="4000" kern="0" dirty="0"/>
              <a:t>Another example of changing format</a:t>
            </a:r>
          </a:p>
        </p:txBody>
      </p:sp>
    </p:spTree>
    <p:extLst>
      <p:ext uri="{BB962C8B-B14F-4D97-AF65-F5344CB8AC3E}">
        <p14:creationId xmlns:p14="http://schemas.microsoft.com/office/powerpoint/2010/main" val="3783489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70887-86AE-F611-3B72-48CE2FB27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3F733C-327F-7953-A9D4-391DC13EF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412" y="2227252"/>
            <a:ext cx="7115176" cy="2938574"/>
          </a:xfrm>
        </p:spPr>
        <p:txBody>
          <a:bodyPr>
            <a:normAutofit/>
          </a:bodyPr>
          <a:lstStyle/>
          <a:p>
            <a:pPr marL="0" indent="0">
              <a:spcBef>
                <a:spcPts val="450"/>
              </a:spcBef>
              <a:buNone/>
            </a:pPr>
            <a:r>
              <a:rPr lang="en-US" sz="1350" b="1" dirty="0">
                <a:latin typeface="Courier New" panose="02070309020205020404" pitchFamily="49" charset="0"/>
              </a:rPr>
              <a:t>data</a:t>
            </a:r>
            <a:r>
              <a:rPr lang="en-US" sz="1350" dirty="0">
                <a:latin typeface="Courier New" panose="02070309020205020404" pitchFamily="49" charset="0"/>
              </a:rPr>
              <a:t> enrollment;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dirty="0">
                <a:latin typeface="Courier New" panose="02070309020205020404" pitchFamily="49" charset="0"/>
              </a:rPr>
              <a:t>  input School &amp;$30. student comma6.;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dirty="0">
                <a:latin typeface="Courier New" panose="02070309020205020404" pitchFamily="49" charset="0"/>
              </a:rPr>
              <a:t>  cards;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dirty="0">
                <a:latin typeface="Courier New" panose="02070309020205020404" pitchFamily="49" charset="0"/>
              </a:rPr>
              <a:t>  Bryn </a:t>
            </a:r>
            <a:r>
              <a:rPr lang="en-US" sz="1350" dirty="0" err="1">
                <a:latin typeface="Courier New" panose="02070309020205020404" pitchFamily="49" charset="0"/>
              </a:rPr>
              <a:t>Mawr</a:t>
            </a:r>
            <a:r>
              <a:rPr lang="en-US" sz="1350" dirty="0">
                <a:latin typeface="Courier New" panose="02070309020205020404" pitchFamily="49" charset="0"/>
              </a:rPr>
              <a:t> College  1,300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dirty="0">
                <a:latin typeface="Courier New" panose="02070309020205020404" pitchFamily="49" charset="0"/>
              </a:rPr>
              <a:t>  Penn State University  73,476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dirty="0">
                <a:latin typeface="Courier New" panose="02070309020205020404" pitchFamily="49" charset="0"/>
              </a:rPr>
              <a:t>  Villanova University  7,037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450"/>
              </a:spcBef>
              <a:buNone/>
            </a:pPr>
            <a:endParaRPr lang="en-US" sz="1350" dirty="0">
              <a:latin typeface="Courier New" panose="02070309020205020404" pitchFamily="49" charset="0"/>
            </a:endParaRPr>
          </a:p>
          <a:p>
            <a:pPr marL="0" indent="0">
              <a:spcBef>
                <a:spcPts val="450"/>
              </a:spcBef>
              <a:buNone/>
            </a:pPr>
            <a:r>
              <a:rPr lang="en-US" sz="1350" b="1" dirty="0">
                <a:latin typeface="Courier New" panose="02070309020205020404" pitchFamily="49" charset="0"/>
              </a:rPr>
              <a:t>proc</a:t>
            </a:r>
            <a:r>
              <a:rPr lang="en-US" sz="1350" dirty="0">
                <a:latin typeface="Courier New" panose="02070309020205020404" pitchFamily="49" charset="0"/>
              </a:rPr>
              <a:t> </a:t>
            </a:r>
            <a:r>
              <a:rPr lang="en-US" sz="1350" b="1" dirty="0">
                <a:latin typeface="Courier New" panose="02070309020205020404" pitchFamily="49" charset="0"/>
              </a:rPr>
              <a:t>print</a:t>
            </a:r>
            <a:r>
              <a:rPr lang="en-US" sz="1350" dirty="0">
                <a:latin typeface="Courier New" panose="02070309020205020404" pitchFamily="49" charset="0"/>
              </a:rPr>
              <a:t> data=enrollment;</a:t>
            </a:r>
          </a:p>
          <a:p>
            <a:pPr marL="0" indent="0">
              <a:spcBef>
                <a:spcPts val="450"/>
              </a:spcBef>
              <a:buNone/>
            </a:pPr>
            <a:r>
              <a:rPr lang="en-US" sz="1350" b="1" dirty="0">
                <a:latin typeface="Courier New" panose="02070309020205020404" pitchFamily="49" charset="0"/>
              </a:rPr>
              <a:t>run</a:t>
            </a:r>
            <a:r>
              <a:rPr lang="en-US" sz="1350" dirty="0">
                <a:latin typeface="Courier New" panose="02070309020205020404" pitchFamily="49" charset="0"/>
              </a:rPr>
              <a:t>;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C1D023F-05B5-DA74-F2BB-4699FFD0C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972" y="2950286"/>
            <a:ext cx="3007462" cy="16034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A99408-E75C-4D21-DDA4-677D851D3A7E}"/>
              </a:ext>
            </a:extLst>
          </p:cNvPr>
          <p:cNvSpPr txBox="1">
            <a:spLocks/>
          </p:cNvSpPr>
          <p:nvPr/>
        </p:nvSpPr>
        <p:spPr bwMode="auto">
          <a:xfrm>
            <a:off x="609600" y="4270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0" i="0">
                <a:solidFill>
                  <a:schemeClr val="tx2"/>
                </a:solidFill>
                <a:latin typeface="Aptos Display" panose="020B0004020202020204" pitchFamily="34" charset="0"/>
                <a:ea typeface="+mj-ea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sz="4000" kern="0" dirty="0"/>
              <a:t>Another example of changing format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8FFE6F-0CF2-6656-7B32-4579AC655E4D}"/>
              </a:ext>
            </a:extLst>
          </p:cNvPr>
          <p:cNvSpPr/>
          <p:nvPr/>
        </p:nvSpPr>
        <p:spPr>
          <a:xfrm>
            <a:off x="2927543" y="2682336"/>
            <a:ext cx="1404366" cy="135524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3551644-7775-B9A9-D3F1-F39DAEBEC039}"/>
              </a:ext>
            </a:extLst>
          </p:cNvPr>
          <p:cNvSpPr/>
          <p:nvPr/>
        </p:nvSpPr>
        <p:spPr>
          <a:xfrm>
            <a:off x="7008876" y="3339847"/>
            <a:ext cx="918972" cy="121386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22BDFB5-918A-5AE0-AAF6-78A8B9500D9D}"/>
              </a:ext>
            </a:extLst>
          </p:cNvPr>
          <p:cNvCxnSpPr>
            <a:cxnSpLocks/>
          </p:cNvCxnSpPr>
          <p:nvPr/>
        </p:nvCxnSpPr>
        <p:spPr>
          <a:xfrm flipH="1" flipV="1">
            <a:off x="4377486" y="3267376"/>
            <a:ext cx="1894677" cy="28506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5317354-69EE-2A22-3444-11DCFE3478BA}"/>
              </a:ext>
            </a:extLst>
          </p:cNvPr>
          <p:cNvSpPr/>
          <p:nvPr/>
        </p:nvSpPr>
        <p:spPr>
          <a:xfrm>
            <a:off x="4032860" y="2468880"/>
            <a:ext cx="719734" cy="354273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31A68D-2C1B-14A8-2D50-4A1E987EDC88}"/>
              </a:ext>
            </a:extLst>
          </p:cNvPr>
          <p:cNvCxnSpPr>
            <a:cxnSpLocks/>
          </p:cNvCxnSpPr>
          <p:nvPr/>
        </p:nvCxnSpPr>
        <p:spPr>
          <a:xfrm flipH="1">
            <a:off x="4752593" y="2310448"/>
            <a:ext cx="1492448" cy="23955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2F0FC9E-8B9B-B3C4-3874-91F84511D0F3}"/>
              </a:ext>
            </a:extLst>
          </p:cNvPr>
          <p:cNvSpPr txBox="1"/>
          <p:nvPr/>
        </p:nvSpPr>
        <p:spPr>
          <a:xfrm>
            <a:off x="5857911" y="1626672"/>
            <a:ext cx="31457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Read six positions (including commas) and make numeric (removes comma)</a:t>
            </a:r>
          </a:p>
        </p:txBody>
      </p:sp>
    </p:spTree>
    <p:extLst>
      <p:ext uri="{BB962C8B-B14F-4D97-AF65-F5344CB8AC3E}">
        <p14:creationId xmlns:p14="http://schemas.microsoft.com/office/powerpoint/2010/main" val="32011820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89267-B5E9-4E87-AFAB-61361F661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7246" y="1417638"/>
            <a:ext cx="8058153" cy="3038093"/>
          </a:xfrm>
        </p:spPr>
        <p:txBody>
          <a:bodyPr>
            <a:noAutofit/>
          </a:bodyPr>
          <a:lstStyle/>
          <a:p>
            <a:pPr algn="just">
              <a:spcBef>
                <a:spcPts val="0"/>
              </a:spcBef>
            </a:pPr>
            <a:r>
              <a:rPr lang="en-US" sz="2000" dirty="0">
                <a:ea typeface="Times New Roman" panose="02020603050405020304" pitchFamily="18" charset="0"/>
              </a:rPr>
              <a:t>Recall: SAS saves dates as the number of days since January 1, 1960</a:t>
            </a:r>
          </a:p>
          <a:p>
            <a:pPr algn="just">
              <a:spcBef>
                <a:spcPts val="0"/>
              </a:spcBef>
            </a:pPr>
            <a:r>
              <a:rPr lang="en-US" sz="2000" dirty="0">
                <a:ea typeface="Times New Roman" panose="02020603050405020304" pitchFamily="18" charset="0"/>
              </a:rPr>
              <a:t>When displaying dates, it is necessary to format the SAS date in a recognizable format to the reader.  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Courier New" panose="020703090202050204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hospital;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 input id </a:t>
            </a:r>
            <a:r>
              <a:rPr lang="en-US" sz="1600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hospyn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$ day month year;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 cards;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 1  no  .  .    .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 2 yes 22  3 2004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 3 yes 17  1 2006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 4 yes 18 10 2005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 5  no  .  .    .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 6 yes  1  6 2007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run;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 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proc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data=hospital;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 title 'Print of Hospital Data';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DF6ADDE-A15B-45EF-AE37-D54E1EA8DF73}"/>
              </a:ext>
            </a:extLst>
          </p:cNvPr>
          <p:cNvSpPr/>
          <p:nvPr/>
        </p:nvSpPr>
        <p:spPr>
          <a:xfrm>
            <a:off x="3291416" y="2773616"/>
            <a:ext cx="1966384" cy="47742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C7B1C1-07AB-4BE1-BA4B-0E552ECB0123}"/>
              </a:ext>
            </a:extLst>
          </p:cNvPr>
          <p:cNvSpPr txBox="1"/>
          <p:nvPr/>
        </p:nvSpPr>
        <p:spPr>
          <a:xfrm>
            <a:off x="5468762" y="2342406"/>
            <a:ext cx="28392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Month, day, and year stored separately but we want to combine into a single piece of information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7920DB-BE49-44AB-9DC4-A53CAF21E2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125" t="50400" r="31150" b="17194"/>
          <a:stretch/>
        </p:blipFill>
        <p:spPr>
          <a:xfrm>
            <a:off x="5999038" y="3761348"/>
            <a:ext cx="2608781" cy="2410852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93DD1590-0ABB-1118-4B02-1ADEC5DA5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 formats</a:t>
            </a:r>
          </a:p>
        </p:txBody>
      </p:sp>
    </p:spTree>
    <p:extLst>
      <p:ext uri="{BB962C8B-B14F-4D97-AF65-F5344CB8AC3E}">
        <p14:creationId xmlns:p14="http://schemas.microsoft.com/office/powerpoint/2010/main" val="34455432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14CCE-CB72-455E-82A6-6DE2B53C1D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2495" y="2328049"/>
            <a:ext cx="7115176" cy="2655482"/>
          </a:xfrm>
        </p:spPr>
        <p:txBody>
          <a:bodyPr>
            <a:normAutofit lnSpcReduction="10000"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 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 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hospital2;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 set hospital;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hosp_date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mdy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(month, day, year);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 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proc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data=hospital2;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  title 'Print of Hospital Data with Date';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 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8190051-A864-4745-9125-A3428A6D80A8}"/>
              </a:ext>
            </a:extLst>
          </p:cNvPr>
          <p:cNvSpPr/>
          <p:nvPr/>
        </p:nvSpPr>
        <p:spPr>
          <a:xfrm>
            <a:off x="2497831" y="3147967"/>
            <a:ext cx="2995427" cy="47742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0C7F4E-09D2-4C77-ADE6-6440FCA9EC2A}"/>
              </a:ext>
            </a:extLst>
          </p:cNvPr>
          <p:cNvSpPr txBox="1"/>
          <p:nvPr/>
        </p:nvSpPr>
        <p:spPr>
          <a:xfrm>
            <a:off x="3933640" y="1576017"/>
            <a:ext cx="3457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Converts month, day, and year into a single number of days since January 1</a:t>
            </a:r>
            <a:r>
              <a:rPr lang="en-US" baseline="30000" dirty="0">
                <a:solidFill>
                  <a:srgbClr val="FF0000"/>
                </a:solidFill>
              </a:rPr>
              <a:t>st</a:t>
            </a:r>
            <a:r>
              <a:rPr lang="en-US" dirty="0">
                <a:solidFill>
                  <a:srgbClr val="FF0000"/>
                </a:solidFill>
              </a:rPr>
              <a:t>, 1960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518CF5-7F4E-41F2-8F9E-4CA0E28548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6650" t="50000" r="28225" b="17733"/>
          <a:stretch/>
        </p:blipFill>
        <p:spPr>
          <a:xfrm>
            <a:off x="5493259" y="4609144"/>
            <a:ext cx="2738246" cy="1978076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9E3061FD-BF34-38D5-6978-59B7781D8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 formats</a:t>
            </a:r>
          </a:p>
        </p:txBody>
      </p:sp>
    </p:spTree>
    <p:extLst>
      <p:ext uri="{BB962C8B-B14F-4D97-AF65-F5344CB8AC3E}">
        <p14:creationId xmlns:p14="http://schemas.microsoft.com/office/powerpoint/2010/main" val="13608691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76C84-2B6D-406A-9999-F1EE1EFE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2688" y="2129166"/>
            <a:ext cx="7906512" cy="4500234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500" b="1" dirty="0">
                <a:latin typeface="Courier New" panose="02070309020205020404" pitchFamily="49" charset="0"/>
              </a:rPr>
              <a:t>data</a:t>
            </a:r>
            <a:r>
              <a:rPr lang="en-US" sz="1500" dirty="0">
                <a:latin typeface="Courier New" panose="02070309020205020404" pitchFamily="49" charset="0"/>
              </a:rPr>
              <a:t> hospital3;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set hospital2;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format hosp1 date9. hosp2 date8. hosp3 ddmmyy8. hosp4 ddmmyy9.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       hosp5 ddmmyy10. hosp6 ddmmyyd10. hosp7 ddmmyyp10.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       hosp8 </a:t>
            </a:r>
            <a:r>
              <a:rPr lang="en-US" sz="1500" dirty="0" err="1">
                <a:latin typeface="Courier New" panose="02070309020205020404" pitchFamily="49" charset="0"/>
              </a:rPr>
              <a:t>worddate</a:t>
            </a:r>
            <a:r>
              <a:rPr lang="en-US" sz="1500" dirty="0">
                <a:latin typeface="Courier New" panose="02070309020205020404" pitchFamily="49" charset="0"/>
              </a:rPr>
              <a:t>.;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hosp1 = </a:t>
            </a:r>
            <a:r>
              <a:rPr lang="en-US" sz="1500" dirty="0" err="1">
                <a:latin typeface="Courier New" panose="02070309020205020404" pitchFamily="49" charset="0"/>
              </a:rPr>
              <a:t>hosp_date</a:t>
            </a:r>
            <a:r>
              <a:rPr lang="en-US" sz="15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hosp2 = </a:t>
            </a:r>
            <a:r>
              <a:rPr lang="en-US" sz="1500" dirty="0" err="1">
                <a:latin typeface="Courier New" panose="02070309020205020404" pitchFamily="49" charset="0"/>
              </a:rPr>
              <a:t>hosp_date</a:t>
            </a:r>
            <a:r>
              <a:rPr lang="en-US" sz="15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hosp3 = </a:t>
            </a:r>
            <a:r>
              <a:rPr lang="en-US" sz="1500" dirty="0" err="1">
                <a:latin typeface="Courier New" panose="02070309020205020404" pitchFamily="49" charset="0"/>
              </a:rPr>
              <a:t>hosp_date</a:t>
            </a:r>
            <a:r>
              <a:rPr lang="en-US" sz="15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hosp4 = </a:t>
            </a:r>
            <a:r>
              <a:rPr lang="en-US" sz="1500" dirty="0" err="1">
                <a:latin typeface="Courier New" panose="02070309020205020404" pitchFamily="49" charset="0"/>
              </a:rPr>
              <a:t>hosp_date</a:t>
            </a:r>
            <a:r>
              <a:rPr lang="en-US" sz="15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hosp5 = </a:t>
            </a:r>
            <a:r>
              <a:rPr lang="en-US" sz="1500" dirty="0" err="1">
                <a:latin typeface="Courier New" panose="02070309020205020404" pitchFamily="49" charset="0"/>
              </a:rPr>
              <a:t>hosp_date</a:t>
            </a:r>
            <a:r>
              <a:rPr lang="en-US" sz="15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hosp6 = </a:t>
            </a:r>
            <a:r>
              <a:rPr lang="en-US" sz="1500" dirty="0" err="1">
                <a:latin typeface="Courier New" panose="02070309020205020404" pitchFamily="49" charset="0"/>
              </a:rPr>
              <a:t>hosp_date</a:t>
            </a:r>
            <a:r>
              <a:rPr lang="en-US" sz="15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hosp7 = </a:t>
            </a:r>
            <a:r>
              <a:rPr lang="en-US" sz="1500" dirty="0" err="1">
                <a:latin typeface="Courier New" panose="02070309020205020404" pitchFamily="49" charset="0"/>
              </a:rPr>
              <a:t>hosp_date</a:t>
            </a:r>
            <a:r>
              <a:rPr lang="en-US" sz="15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hosp8 = </a:t>
            </a:r>
            <a:r>
              <a:rPr lang="en-US" sz="1500" dirty="0" err="1">
                <a:latin typeface="Courier New" panose="02070309020205020404" pitchFamily="49" charset="0"/>
              </a:rPr>
              <a:t>hosp_date</a:t>
            </a:r>
            <a:r>
              <a:rPr lang="en-US" sz="15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b="1" dirty="0">
                <a:latin typeface="Courier New" panose="02070309020205020404" pitchFamily="49" charset="0"/>
              </a:rPr>
              <a:t>run</a:t>
            </a:r>
            <a:r>
              <a:rPr lang="en-US" sz="15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endParaRPr lang="en-US" sz="1500" dirty="0">
              <a:latin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500" b="1" dirty="0">
                <a:latin typeface="Courier New" panose="02070309020205020404" pitchFamily="49" charset="0"/>
              </a:rPr>
              <a:t>proc</a:t>
            </a:r>
            <a:r>
              <a:rPr lang="en-US" sz="1500" dirty="0">
                <a:latin typeface="Courier New" panose="02070309020205020404" pitchFamily="49" charset="0"/>
              </a:rPr>
              <a:t> </a:t>
            </a:r>
            <a:r>
              <a:rPr lang="en-US" sz="1500" b="1" dirty="0">
                <a:latin typeface="Courier New" panose="02070309020205020404" pitchFamily="49" charset="0"/>
              </a:rPr>
              <a:t>print</a:t>
            </a:r>
            <a:r>
              <a:rPr lang="en-US" sz="1500" dirty="0">
                <a:latin typeface="Courier New" panose="02070309020205020404" pitchFamily="49" charset="0"/>
              </a:rPr>
              <a:t> data=hospital3;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500" dirty="0">
                <a:latin typeface="Courier New" panose="02070309020205020404" pitchFamily="49" charset="0"/>
              </a:rPr>
              <a:t>  title 'Print of Hospital Data with Date Formats';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350" b="1" dirty="0">
                <a:solidFill>
                  <a:srgbClr val="000080"/>
                </a:solidFill>
                <a:latin typeface="Courier New" panose="02070309020205020404" pitchFamily="49" charset="0"/>
              </a:rPr>
              <a:t>run</a:t>
            </a:r>
            <a:r>
              <a:rPr lang="en-US" sz="135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350" dirty="0">
                <a:solidFill>
                  <a:srgbClr val="FF0000"/>
                </a:solidFill>
                <a:latin typeface="Courier New" panose="02070309020205020404" pitchFamily="49" charset="0"/>
              </a:rPr>
              <a:t> </a:t>
            </a:r>
            <a:r>
              <a:rPr lang="en-US" sz="1350" dirty="0">
                <a:latin typeface="Courier New" panose="02070309020205020404" pitchFamily="49" charset="0"/>
                <a:ea typeface="Times New Roman" panose="02020603050405020304" pitchFamily="18" charset="0"/>
              </a:rPr>
              <a:t> </a:t>
            </a:r>
            <a:endParaRPr lang="en-US" sz="135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4667A9-86A4-4AF0-9003-AAFB88F435A7}"/>
              </a:ext>
            </a:extLst>
          </p:cNvPr>
          <p:cNvSpPr/>
          <p:nvPr/>
        </p:nvSpPr>
        <p:spPr>
          <a:xfrm>
            <a:off x="1692402" y="2441925"/>
            <a:ext cx="7070598" cy="971201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B577538-B6EE-4989-84C8-F9238D6B5F3F}"/>
              </a:ext>
            </a:extLst>
          </p:cNvPr>
          <p:cNvCxnSpPr>
            <a:cxnSpLocks/>
          </p:cNvCxnSpPr>
          <p:nvPr/>
        </p:nvCxnSpPr>
        <p:spPr>
          <a:xfrm>
            <a:off x="4705882" y="3428478"/>
            <a:ext cx="898398" cy="36004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2FAD517-CBF0-40CA-AC81-F3A13A3F46CC}"/>
              </a:ext>
            </a:extLst>
          </p:cNvPr>
          <p:cNvSpPr txBox="1"/>
          <p:nvPr/>
        </p:nvSpPr>
        <p:spPr>
          <a:xfrm>
            <a:off x="4956162" y="3655549"/>
            <a:ext cx="2988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Various data format options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29B552B-E8F1-0AC4-4D99-42F00F67F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 formats</a:t>
            </a:r>
          </a:p>
        </p:txBody>
      </p:sp>
    </p:spTree>
    <p:extLst>
      <p:ext uri="{BB962C8B-B14F-4D97-AF65-F5344CB8AC3E}">
        <p14:creationId xmlns:p14="http://schemas.microsoft.com/office/powerpoint/2010/main" val="72012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CB72-8C43-4518-9C6A-5BDE57BBA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818" y="1240027"/>
            <a:ext cx="7115176" cy="757566"/>
          </a:xfrm>
        </p:spPr>
        <p:txBody>
          <a:bodyPr anchor="b">
            <a:normAutofit fontScale="90000"/>
          </a:bodyPr>
          <a:lstStyle/>
          <a:p>
            <a:pPr algn="ctr"/>
            <a:r>
              <a:rPr lang="en-US" dirty="0"/>
              <a:t>Date Formats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76C84-2B6D-406A-9999-F1EE1EFE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2688" y="2129166"/>
            <a:ext cx="7211188" cy="3240648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350" dirty="0">
                <a:solidFill>
                  <a:srgbClr val="FF0000"/>
                </a:solidFill>
                <a:latin typeface="Courier New" panose="02070309020205020404" pitchFamily="49" charset="0"/>
              </a:rPr>
              <a:t> </a:t>
            </a:r>
            <a:r>
              <a:rPr lang="en-US" sz="1350" dirty="0">
                <a:latin typeface="Courier New" panose="02070309020205020404" pitchFamily="49" charset="0"/>
                <a:ea typeface="Times New Roman" panose="02020603050405020304" pitchFamily="18" charset="0"/>
              </a:rPr>
              <a:t> </a:t>
            </a:r>
            <a:endParaRPr lang="en-US" sz="135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4EDE3B-450B-4E90-9D2C-46144443F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13" y="2380369"/>
            <a:ext cx="8050364" cy="208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1761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76C84-2B6D-406A-9999-F1EE1EFE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913" y="1676400"/>
            <a:ext cx="7211188" cy="3814434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</a:rPr>
              <a:t> dates;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 input </a:t>
            </a:r>
            <a:r>
              <a:rPr lang="en-US" sz="1600" dirty="0" err="1">
                <a:latin typeface="Courier New" panose="02070309020205020404" pitchFamily="49" charset="0"/>
              </a:rPr>
              <a:t>char_dates</a:t>
            </a:r>
            <a:r>
              <a:rPr lang="en-US" sz="1600" dirty="0">
                <a:latin typeface="Courier New" panose="02070309020205020404" pitchFamily="49" charset="0"/>
              </a:rPr>
              <a:t> $10.;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 cards;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 12/14/2013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 1/1/2001;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endParaRPr lang="en-US" sz="1600" dirty="0">
              <a:latin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</a:rPr>
              <a:t> dates;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 set dates;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 format </a:t>
            </a:r>
            <a:r>
              <a:rPr lang="en-US" sz="1600" dirty="0" err="1">
                <a:latin typeface="Courier New" panose="02070309020205020404" pitchFamily="49" charset="0"/>
              </a:rPr>
              <a:t>new_date</a:t>
            </a:r>
            <a:r>
              <a:rPr lang="en-US" sz="1600" dirty="0">
                <a:latin typeface="Courier New" panose="02070309020205020404" pitchFamily="49" charset="0"/>
              </a:rPr>
              <a:t> date9.;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</a:rPr>
              <a:t>new_date</a:t>
            </a:r>
            <a:r>
              <a:rPr lang="en-US" sz="1600" dirty="0">
                <a:latin typeface="Courier New" panose="02070309020205020404" pitchFamily="49" charset="0"/>
              </a:rPr>
              <a:t> = input( </a:t>
            </a:r>
            <a:r>
              <a:rPr lang="en-US" sz="1600" dirty="0" err="1">
                <a:latin typeface="Courier New" panose="02070309020205020404" pitchFamily="49" charset="0"/>
              </a:rPr>
              <a:t>char_dates</a:t>
            </a:r>
            <a:r>
              <a:rPr lang="en-US" sz="1600" dirty="0">
                <a:latin typeface="Courier New" panose="02070309020205020404" pitchFamily="49" charset="0"/>
              </a:rPr>
              <a:t>, MMDDYY10.);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endParaRPr lang="en-US" sz="1600" dirty="0">
              <a:latin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</a:rPr>
              <a:t>proc</a:t>
            </a:r>
            <a:r>
              <a:rPr lang="en-US" sz="1600" dirty="0">
                <a:latin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</a:rPr>
              <a:t> data=dates;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B577538-B6EE-4989-84C8-F9238D6B5F3F}"/>
              </a:ext>
            </a:extLst>
          </p:cNvPr>
          <p:cNvCxnSpPr>
            <a:cxnSpLocks/>
          </p:cNvCxnSpPr>
          <p:nvPr/>
        </p:nvCxnSpPr>
        <p:spPr>
          <a:xfrm flipV="1">
            <a:off x="3574994" y="2117788"/>
            <a:ext cx="1116140" cy="9429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14D9AA-F2AA-4CBC-B8A5-0DB72063DDAC}"/>
              </a:ext>
            </a:extLst>
          </p:cNvPr>
          <p:cNvSpPr/>
          <p:nvPr/>
        </p:nvSpPr>
        <p:spPr>
          <a:xfrm>
            <a:off x="694919" y="1920102"/>
            <a:ext cx="2905506" cy="10561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325FC0-BB22-4CFE-B169-1811EDF7D149}"/>
              </a:ext>
            </a:extLst>
          </p:cNvPr>
          <p:cNvSpPr txBox="1"/>
          <p:nvPr/>
        </p:nvSpPr>
        <p:spPr>
          <a:xfrm>
            <a:off x="4439387" y="1789800"/>
            <a:ext cx="36568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if you had character date data and needed to convert it?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B3D62A3-9470-4D10-8AB9-78A35E83CB85}"/>
              </a:ext>
            </a:extLst>
          </p:cNvPr>
          <p:cNvSpPr/>
          <p:nvPr/>
        </p:nvSpPr>
        <p:spPr>
          <a:xfrm>
            <a:off x="714349" y="3937821"/>
            <a:ext cx="5324476" cy="47480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39B73E5-483C-43B0-BEC4-61FC741824A9}"/>
              </a:ext>
            </a:extLst>
          </p:cNvPr>
          <p:cNvCxnSpPr>
            <a:cxnSpLocks/>
          </p:cNvCxnSpPr>
          <p:nvPr/>
        </p:nvCxnSpPr>
        <p:spPr>
          <a:xfrm flipV="1">
            <a:off x="3600425" y="3610750"/>
            <a:ext cx="2630614" cy="32707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38425F1-5FCA-4A96-9F5F-762D123B086A}"/>
              </a:ext>
            </a:extLst>
          </p:cNvPr>
          <p:cNvSpPr txBox="1"/>
          <p:nvPr/>
        </p:nvSpPr>
        <p:spPr>
          <a:xfrm>
            <a:off x="6212712" y="2777674"/>
            <a:ext cx="23223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Creating a new variable </a:t>
            </a:r>
            <a:r>
              <a:rPr lang="en-US" dirty="0" err="1">
                <a:solidFill>
                  <a:srgbClr val="FF0000"/>
                </a:solidFill>
              </a:rPr>
              <a:t>new_date</a:t>
            </a:r>
            <a:r>
              <a:rPr lang="en-US" dirty="0">
                <a:solidFill>
                  <a:srgbClr val="FF0000"/>
                </a:solidFill>
              </a:rPr>
              <a:t> and giving it date9. format (stored as numeric, but tells it how to display)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5059C7-6D18-4B2F-BDA0-1F7E3081B0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025" y="4918113"/>
            <a:ext cx="2099448" cy="882377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3D18D91-CC5D-2255-2C64-E1BA85725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42900"/>
            <a:ext cx="8229600" cy="1143000"/>
          </a:xfrm>
        </p:spPr>
        <p:txBody>
          <a:bodyPr/>
          <a:lstStyle/>
          <a:p>
            <a:r>
              <a:rPr lang="en-US" dirty="0"/>
              <a:t>Date formats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3F8C12-B9A3-485E-783F-7BE9EC3B6C34}"/>
              </a:ext>
            </a:extLst>
          </p:cNvPr>
          <p:cNvCxnSpPr>
            <a:cxnSpLocks/>
          </p:cNvCxnSpPr>
          <p:nvPr/>
        </p:nvCxnSpPr>
        <p:spPr>
          <a:xfrm>
            <a:off x="5062017" y="4412629"/>
            <a:ext cx="1530608" cy="48677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9D6941F-58AF-0638-EBEE-F6FD21388CC0}"/>
              </a:ext>
            </a:extLst>
          </p:cNvPr>
          <p:cNvSpPr txBox="1"/>
          <p:nvPr/>
        </p:nvSpPr>
        <p:spPr>
          <a:xfrm>
            <a:off x="5928472" y="5033634"/>
            <a:ext cx="29869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Informat</a:t>
            </a:r>
            <a:r>
              <a:rPr lang="en-US" dirty="0">
                <a:solidFill>
                  <a:srgbClr val="FF0000"/>
                </a:solidFill>
              </a:rPr>
              <a:t> telling it how to interpret/convert the character string into a date</a:t>
            </a:r>
          </a:p>
        </p:txBody>
      </p:sp>
    </p:spTree>
    <p:extLst>
      <p:ext uri="{BB962C8B-B14F-4D97-AF65-F5344CB8AC3E}">
        <p14:creationId xmlns:p14="http://schemas.microsoft.com/office/powerpoint/2010/main" val="3055533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89267-B5E9-4E87-AFAB-61361F661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" y="1571638"/>
            <a:ext cx="8458200" cy="3279220"/>
          </a:xfrm>
        </p:spPr>
        <p:txBody>
          <a:bodyPr>
            <a:noAutofit/>
          </a:bodyPr>
          <a:lstStyle/>
          <a:p>
            <a:pPr marL="0" indent="0" algn="just">
              <a:spcBef>
                <a:spcPts val="0"/>
              </a:spcBef>
              <a:buNone/>
            </a:pPr>
            <a:r>
              <a:rPr lang="en-US" sz="1600" dirty="0">
                <a:ea typeface="Times New Roman" panose="02020603050405020304" pitchFamily="18" charset="0"/>
              </a:rPr>
              <a:t>When the date comes in as a </a:t>
            </a:r>
            <a:r>
              <a:rPr lang="en-US" sz="1600" dirty="0">
                <a:ea typeface="Times New Roman" panose="02020603050405020304" pitchFamily="18" charset="0"/>
                <a:cs typeface="Times New Roman" panose="02020603050405020304" pitchFamily="18" charset="0"/>
              </a:rPr>
              <a:t>timestamp (for example, </a:t>
            </a:r>
            <a:r>
              <a:rPr lang="en-US" sz="1600" dirty="0">
                <a:cs typeface="Times New Roman" panose="02020603050405020304" pitchFamily="18" charset="0"/>
              </a:rPr>
              <a:t>1/1/2013 5:00), you can use the </a:t>
            </a:r>
            <a:r>
              <a:rPr lang="en-US" sz="1600" i="1" dirty="0" err="1">
                <a:cs typeface="Times New Roman" panose="02020603050405020304" pitchFamily="18" charset="0"/>
              </a:rPr>
              <a:t>datepart</a:t>
            </a:r>
            <a:r>
              <a:rPr lang="en-US" sz="1600" i="1" dirty="0">
                <a:cs typeface="Times New Roman" panose="02020603050405020304" pitchFamily="18" charset="0"/>
              </a:rPr>
              <a:t> </a:t>
            </a:r>
            <a:r>
              <a:rPr lang="en-US" sz="1600" dirty="0">
                <a:cs typeface="Times New Roman" panose="02020603050405020304" pitchFamily="18" charset="0"/>
              </a:rPr>
              <a:t>and </a:t>
            </a:r>
            <a:r>
              <a:rPr lang="en-US" sz="1600" i="1" dirty="0" err="1">
                <a:cs typeface="Times New Roman" panose="02020603050405020304" pitchFamily="18" charset="0"/>
              </a:rPr>
              <a:t>timepart</a:t>
            </a:r>
            <a:r>
              <a:rPr lang="en-US" sz="1600" i="1" dirty="0">
                <a:cs typeface="Times New Roman" panose="02020603050405020304" pitchFamily="18" charset="0"/>
              </a:rPr>
              <a:t> </a:t>
            </a:r>
            <a:r>
              <a:rPr lang="en-US" sz="1600" dirty="0">
                <a:cs typeface="Times New Roman" panose="02020603050405020304" pitchFamily="18" charset="0"/>
              </a:rPr>
              <a:t>statement to pull out just the date or just the time).</a:t>
            </a:r>
          </a:p>
          <a:p>
            <a:pPr marL="0" indent="0" algn="just">
              <a:spcBef>
                <a:spcPts val="0"/>
              </a:spcBef>
              <a:buNone/>
            </a:pP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datafile='/home/u64289425/sasuser.v94/STAT 7500 F25/data/NYCflights2013.csv'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	out=</a:t>
            </a:r>
            <a:r>
              <a:rPr lang="en-US" sz="1600" dirty="0" err="1">
                <a:latin typeface="Courier New" panose="02070309020205020404" pitchFamily="49" charset="0"/>
              </a:rPr>
              <a:t>NYCflights</a:t>
            </a:r>
            <a:endParaRPr lang="en-US" sz="1600" dirty="0">
              <a:latin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	</a:t>
            </a:r>
            <a:r>
              <a:rPr lang="en-US" sz="1600" dirty="0" err="1">
                <a:latin typeface="Courier New" panose="02070309020205020404" pitchFamily="49" charset="0"/>
              </a:rPr>
              <a:t>dbms</a:t>
            </a:r>
            <a:r>
              <a:rPr lang="en-US" sz="1600" dirty="0">
                <a:latin typeface="Courier New" panose="02070309020205020404" pitchFamily="49" charset="0"/>
              </a:rPr>
              <a:t>=csv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	replace;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endParaRPr lang="en-US" sz="1600" dirty="0">
              <a:latin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</a:rPr>
              <a:t>NYC_datetime</a:t>
            </a:r>
            <a:r>
              <a:rPr lang="en-US" sz="1600" dirty="0">
                <a:latin typeface="Courier New" panose="02070309020205020404" pitchFamily="49" charset="0"/>
              </a:rPr>
              <a:t>; set </a:t>
            </a:r>
            <a:r>
              <a:rPr lang="en-US" sz="1600" dirty="0" err="1">
                <a:latin typeface="Courier New" panose="02070309020205020404" pitchFamily="49" charset="0"/>
              </a:rPr>
              <a:t>NYCflights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  dates = </a:t>
            </a:r>
            <a:r>
              <a:rPr lang="en-US" sz="1600" dirty="0" err="1">
                <a:latin typeface="Courier New" panose="02070309020205020404" pitchFamily="49" charset="0"/>
              </a:rPr>
              <a:t>datepart</a:t>
            </a:r>
            <a:r>
              <a:rPr lang="en-US" sz="1600" dirty="0">
                <a:latin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</a:rPr>
              <a:t>time_hour</a:t>
            </a:r>
            <a:r>
              <a:rPr lang="en-US" sz="1600" dirty="0">
                <a:latin typeface="Courier New" panose="02070309020205020404" pitchFamily="49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  times = </a:t>
            </a:r>
            <a:r>
              <a:rPr lang="en-US" sz="1600" dirty="0" err="1">
                <a:latin typeface="Courier New" panose="02070309020205020404" pitchFamily="49" charset="0"/>
              </a:rPr>
              <a:t>timepart</a:t>
            </a:r>
            <a:r>
              <a:rPr lang="en-US" sz="1600" dirty="0">
                <a:latin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</a:rPr>
              <a:t>time_hour</a:t>
            </a:r>
            <a:r>
              <a:rPr lang="en-US" sz="1600" dirty="0">
                <a:latin typeface="Courier New" panose="02070309020205020404" pitchFamily="49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  format dates2 </a:t>
            </a:r>
            <a:r>
              <a:rPr lang="en-US" sz="1600" dirty="0" err="1">
                <a:latin typeface="Courier New" panose="02070309020205020404" pitchFamily="49" charset="0"/>
              </a:rPr>
              <a:t>worddate</a:t>
            </a:r>
            <a:r>
              <a:rPr lang="en-US" sz="1600" dirty="0">
                <a:latin typeface="Courier New" panose="02070309020205020404" pitchFamily="49" charset="0"/>
              </a:rPr>
              <a:t>. times2 time8.;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  dates2 = dates;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  times2 = times;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</a:rPr>
              <a:t>  keep </a:t>
            </a:r>
            <a:r>
              <a:rPr lang="en-US" sz="1600" dirty="0" err="1">
                <a:latin typeface="Courier New" panose="02070309020205020404" pitchFamily="49" charset="0"/>
              </a:rPr>
              <a:t>time_hour</a:t>
            </a:r>
            <a:r>
              <a:rPr lang="en-US" sz="1600" dirty="0">
                <a:latin typeface="Courier New" panose="02070309020205020404" pitchFamily="49" charset="0"/>
              </a:rPr>
              <a:t> dates times dates2 times2;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052E81C-5169-434F-8FB2-5B77C4E24F72}"/>
              </a:ext>
            </a:extLst>
          </p:cNvPr>
          <p:cNvSpPr/>
          <p:nvPr/>
        </p:nvSpPr>
        <p:spPr>
          <a:xfrm>
            <a:off x="762000" y="5234642"/>
            <a:ext cx="664275" cy="27919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A72D2E-247F-4BC6-97A3-8F27E6A3132A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426275" y="5355959"/>
            <a:ext cx="4281389" cy="51617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88C59B9-5965-442F-A437-47BF051C91ED}"/>
              </a:ext>
            </a:extLst>
          </p:cNvPr>
          <p:cNvSpPr txBox="1"/>
          <p:nvPr/>
        </p:nvSpPr>
        <p:spPr>
          <a:xfrm>
            <a:off x="5707664" y="5133466"/>
            <a:ext cx="280092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We will talk about the </a:t>
            </a:r>
            <a:r>
              <a:rPr lang="en-US" i="1" dirty="0">
                <a:solidFill>
                  <a:srgbClr val="FF0000"/>
                </a:solidFill>
              </a:rPr>
              <a:t>keep </a:t>
            </a:r>
            <a:r>
              <a:rPr lang="en-US" dirty="0">
                <a:solidFill>
                  <a:srgbClr val="FF0000"/>
                </a:solidFill>
              </a:rPr>
              <a:t>statement shortly, but note that it will only keep these five variables in the NYC2 data set.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EF741B-91C6-B52D-AF35-841744936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 formats</a:t>
            </a:r>
          </a:p>
        </p:txBody>
      </p:sp>
    </p:spTree>
    <p:extLst>
      <p:ext uri="{BB962C8B-B14F-4D97-AF65-F5344CB8AC3E}">
        <p14:creationId xmlns:p14="http://schemas.microsoft.com/office/powerpoint/2010/main" val="18107414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294DF00-E31A-459E-8A69-628B77A99DD0}"/>
              </a:ext>
            </a:extLst>
          </p:cNvPr>
          <p:cNvSpPr txBox="1"/>
          <p:nvPr/>
        </p:nvSpPr>
        <p:spPr>
          <a:xfrm>
            <a:off x="-838200" y="1866096"/>
            <a:ext cx="589788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b="1" dirty="0">
                <a:latin typeface="Courier New" panose="02070309020205020404" pitchFamily="49" charset="0"/>
              </a:rPr>
              <a:t>proc</a:t>
            </a:r>
            <a:r>
              <a:rPr lang="en-US" sz="1350" dirty="0">
                <a:latin typeface="Courier New" panose="02070309020205020404" pitchFamily="49" charset="0"/>
              </a:rPr>
              <a:t> </a:t>
            </a:r>
            <a:r>
              <a:rPr lang="en-US" sz="1350" b="1" dirty="0">
                <a:latin typeface="Courier New" panose="02070309020205020404" pitchFamily="49" charset="0"/>
              </a:rPr>
              <a:t>print</a:t>
            </a:r>
            <a:r>
              <a:rPr lang="en-US" sz="1350" dirty="0">
                <a:latin typeface="Courier New" panose="02070309020205020404" pitchFamily="49" charset="0"/>
              </a:rPr>
              <a:t> data=</a:t>
            </a:r>
            <a:r>
              <a:rPr lang="en-US" sz="1350" dirty="0" err="1">
                <a:latin typeface="Courier New" panose="02070309020205020404" pitchFamily="49" charset="0"/>
              </a:rPr>
              <a:t>NYC_datetime</a:t>
            </a:r>
            <a:r>
              <a:rPr lang="en-US" sz="1350" dirty="0">
                <a:latin typeface="Courier New" panose="02070309020205020404" pitchFamily="49" charset="0"/>
              </a:rPr>
              <a:t>(</a:t>
            </a:r>
            <a:r>
              <a:rPr lang="en-US" sz="1350" dirty="0" err="1">
                <a:latin typeface="Courier New" panose="02070309020205020404" pitchFamily="49" charset="0"/>
              </a:rPr>
              <a:t>obs</a:t>
            </a:r>
            <a:r>
              <a:rPr lang="en-US" sz="1350" dirty="0">
                <a:latin typeface="Courier New" panose="02070309020205020404" pitchFamily="49" charset="0"/>
              </a:rPr>
              <a:t>=</a:t>
            </a:r>
            <a:r>
              <a:rPr lang="en-US" sz="1350" b="1" dirty="0">
                <a:latin typeface="Courier New" panose="02070309020205020404" pitchFamily="49" charset="0"/>
              </a:rPr>
              <a:t>10</a:t>
            </a:r>
            <a:r>
              <a:rPr lang="en-US" sz="1350" dirty="0">
                <a:latin typeface="Courier New" panose="02070309020205020404" pitchFamily="49" charset="0"/>
              </a:rPr>
              <a:t>); </a:t>
            </a:r>
          </a:p>
          <a:p>
            <a:r>
              <a:rPr lang="en-US" sz="1350" b="1" dirty="0">
                <a:solidFill>
                  <a:srgbClr val="000080"/>
                </a:solidFill>
                <a:latin typeface="Courier New" panose="02070309020205020404" pitchFamily="49" charset="0"/>
              </a:rPr>
              <a:t>run</a:t>
            </a:r>
            <a:r>
              <a:rPr lang="en-US" sz="135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9BC12F9-A198-480F-9286-B9A176AA7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438400"/>
            <a:ext cx="4795998" cy="385144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983253C-4D87-4754-B6BB-ABB472148450}"/>
              </a:ext>
            </a:extLst>
          </p:cNvPr>
          <p:cNvSpPr txBox="1"/>
          <p:nvPr/>
        </p:nvSpPr>
        <p:spPr>
          <a:xfrm>
            <a:off x="6172200" y="2971800"/>
            <a:ext cx="23336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that </a:t>
            </a:r>
            <a:r>
              <a:rPr lang="en-US" i="1" dirty="0"/>
              <a:t>times </a:t>
            </a:r>
            <a:r>
              <a:rPr lang="en-US" dirty="0"/>
              <a:t>values are number</a:t>
            </a:r>
          </a:p>
          <a:p>
            <a:r>
              <a:rPr lang="en-US" dirty="0"/>
              <a:t>of seconds since midnight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C58128-FFBD-1366-AC5E-37B817852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 formats</a:t>
            </a:r>
          </a:p>
        </p:txBody>
      </p:sp>
    </p:spTree>
    <p:extLst>
      <p:ext uri="{BB962C8B-B14F-4D97-AF65-F5344CB8AC3E}">
        <p14:creationId xmlns:p14="http://schemas.microsoft.com/office/powerpoint/2010/main" val="26916922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294DF00-E31A-459E-8A69-628B77A99DD0}"/>
              </a:ext>
            </a:extLst>
          </p:cNvPr>
          <p:cNvSpPr txBox="1"/>
          <p:nvPr/>
        </p:nvSpPr>
        <p:spPr>
          <a:xfrm>
            <a:off x="334206" y="1424390"/>
            <a:ext cx="5075994" cy="374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b="1" dirty="0">
                <a:latin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</a:rPr>
              <a:t> NYC_datetime2; set </a:t>
            </a:r>
            <a:r>
              <a:rPr lang="en-US" sz="1600" dirty="0" err="1">
                <a:latin typeface="Courier New" panose="02070309020205020404" pitchFamily="49" charset="0"/>
              </a:rPr>
              <a:t>NYC_datetime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  years = year(dates);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  months = month(dates);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  days = day(dates);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  hours = hour(times);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  minutes = minute(times);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  seconds = second(times);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  keep </a:t>
            </a:r>
            <a:r>
              <a:rPr lang="en-US" sz="1600" dirty="0" err="1">
                <a:latin typeface="Courier New" panose="02070309020205020404" pitchFamily="49" charset="0"/>
              </a:rPr>
              <a:t>time_hour</a:t>
            </a:r>
            <a:r>
              <a:rPr lang="en-US" sz="1600" dirty="0">
                <a:latin typeface="Courier New" panose="02070309020205020404" pitchFamily="49" charset="0"/>
              </a:rPr>
              <a:t> years months days hours minutes seconds;</a:t>
            </a:r>
          </a:p>
          <a:p>
            <a:pPr algn="l"/>
            <a:r>
              <a:rPr lang="en-US" sz="1600" b="1" dirty="0">
                <a:latin typeface="Courier New" panose="02070309020205020404" pitchFamily="49" charset="0"/>
              </a:rPr>
              <a:t>run</a:t>
            </a:r>
            <a:r>
              <a:rPr lang="en-US" sz="1600" dirty="0">
                <a:latin typeface="Courier New" panose="02070309020205020404" pitchFamily="49" charset="0"/>
              </a:rPr>
              <a:t>;</a:t>
            </a:r>
          </a:p>
          <a:p>
            <a:pPr algn="l"/>
            <a:endParaRPr lang="en-US" sz="1600" dirty="0">
              <a:latin typeface="Courier New" panose="02070309020205020404" pitchFamily="49" charset="0"/>
            </a:endParaRPr>
          </a:p>
          <a:p>
            <a:pPr algn="l"/>
            <a:r>
              <a:rPr lang="en-US" sz="1600" b="1" dirty="0">
                <a:latin typeface="Courier New" panose="02070309020205020404" pitchFamily="49" charset="0"/>
              </a:rPr>
              <a:t>proc</a:t>
            </a:r>
            <a:r>
              <a:rPr lang="en-US" sz="1600" dirty="0">
                <a:latin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</a:rPr>
              <a:t> data=NYC_datetime2(</a:t>
            </a:r>
            <a:r>
              <a:rPr lang="en-US" sz="1600" dirty="0" err="1">
                <a:latin typeface="Courier New" panose="02070309020205020404" pitchFamily="49" charset="0"/>
              </a:rPr>
              <a:t>obs</a:t>
            </a:r>
            <a:r>
              <a:rPr lang="en-US" sz="1600" dirty="0">
                <a:latin typeface="Courier New" panose="02070309020205020404" pitchFamily="49" charset="0"/>
              </a:rPr>
              <a:t>=</a:t>
            </a:r>
            <a:r>
              <a:rPr lang="en-US" sz="1600" b="1" dirty="0">
                <a:latin typeface="Courier New" panose="02070309020205020404" pitchFamily="49" charset="0"/>
              </a:rPr>
              <a:t>10</a:t>
            </a:r>
            <a:r>
              <a:rPr lang="en-US" sz="1600" dirty="0">
                <a:latin typeface="Courier New" panose="02070309020205020404" pitchFamily="49" charset="0"/>
              </a:rPr>
              <a:t>); </a:t>
            </a:r>
          </a:p>
          <a:p>
            <a:pPr algn="l"/>
            <a:r>
              <a:rPr lang="en-US" sz="1600" dirty="0">
                <a:latin typeface="Courier New" panose="02070309020205020404" pitchFamily="49" charset="0"/>
              </a:rPr>
              <a:t>  title 'NYC Flight Dates and Times (first 10 only)';</a:t>
            </a:r>
          </a:p>
          <a:p>
            <a:r>
              <a:rPr lang="en-US" sz="1350" b="1" dirty="0">
                <a:solidFill>
                  <a:srgbClr val="000080"/>
                </a:solidFill>
                <a:latin typeface="Courier New" panose="02070309020205020404" pitchFamily="49" charset="0"/>
              </a:rPr>
              <a:t>run</a:t>
            </a:r>
            <a:r>
              <a:rPr lang="en-US" sz="135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en-US" sz="1350" dirty="0">
              <a:solidFill>
                <a:srgbClr val="000000"/>
              </a:solidFill>
              <a:latin typeface="Gill Sans MT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A70D7A3-EBCF-47D6-8A47-5A497F3BC8C5}"/>
              </a:ext>
            </a:extLst>
          </p:cNvPr>
          <p:cNvSpPr/>
          <p:nvPr/>
        </p:nvSpPr>
        <p:spPr>
          <a:xfrm>
            <a:off x="495751" y="1723269"/>
            <a:ext cx="2930653" cy="146978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03706BF-037E-45F5-9F5A-4DDC4DA3480E}"/>
              </a:ext>
            </a:extLst>
          </p:cNvPr>
          <p:cNvCxnSpPr>
            <a:cxnSpLocks/>
          </p:cNvCxnSpPr>
          <p:nvPr/>
        </p:nvCxnSpPr>
        <p:spPr>
          <a:xfrm flipV="1">
            <a:off x="3438943" y="2210861"/>
            <a:ext cx="1116140" cy="9429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F40544F-48AF-4302-A2BC-1FD219BF30AC}"/>
              </a:ext>
            </a:extLst>
          </p:cNvPr>
          <p:cNvSpPr txBox="1"/>
          <p:nvPr/>
        </p:nvSpPr>
        <p:spPr>
          <a:xfrm>
            <a:off x="4495800" y="1889660"/>
            <a:ext cx="27021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Pulling out year/month/day and hours/minute/second from date information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6264008-468D-4D77-A65D-07DCD2DAB038}"/>
              </a:ext>
            </a:extLst>
          </p:cNvPr>
          <p:cNvSpPr/>
          <p:nvPr/>
        </p:nvSpPr>
        <p:spPr>
          <a:xfrm>
            <a:off x="4029647" y="4112488"/>
            <a:ext cx="932305" cy="30307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C34A1D-0DFD-48C4-B6FD-9D9A03CF97FA}"/>
              </a:ext>
            </a:extLst>
          </p:cNvPr>
          <p:cNvSpPr txBox="1"/>
          <p:nvPr/>
        </p:nvSpPr>
        <p:spPr>
          <a:xfrm>
            <a:off x="1753117" y="3664951"/>
            <a:ext cx="36599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Print out first 10 observations only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331CE76-FBF4-3C19-5157-6996DE34C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 formats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7C1678D-8585-D741-EBE2-849448333F2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692"/>
          <a:stretch/>
        </p:blipFill>
        <p:spPr>
          <a:xfrm>
            <a:off x="5410200" y="4241415"/>
            <a:ext cx="3544774" cy="2459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12239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THEME_BG_IMAGE" val=""/>
  <p:tag name="MMPROD_TAG_VCONFIG" val="PD94bWwgdmVyc2lvbj0iMS4wIiBlbmNvZGluZz0iVVRGLTgiPz4NCjxjb25maWd1cmF0aW9uPg0KCTxjb2xvcnM+DQoJCTx1aWNvbG9yIG5hbWU9InByaW1hcnkiIHZhbHVlPSIweDZGODQ4OCIvPg0KCQk8dWljb2xvciBuYW1lPSJnbG93IiB2YWx1ZT0iMHgzNUQzMzQiLz4NCgkJPHVpY29sb3IgbmFtZT0idGV4dCIgdmFsdWU9IjB4RkZGRkZGIi8+DQoJCTx1aWNvbG9yIG5hbWU9ImxpZ2h0IiB2YWx1ZT0iMHg0RTVENjAiLz4NCgkJPHVpY29sb3IgbmFtZT0ic2hhZG93IiB2YWx1ZT0iMHgwMDAwMDAiLz4NCgkJPHVpY29sb3IgbmFtZT0iYmFja2dyb3VuZCIgdmFsdWU9IjB4NzI3OTcxIi8+DQoJPC9jb2xvcnM+DQoJPGxheW91dD4NCgkJPHVpc2hvdyBuYW1lPSJwcmVzZW50YXRpb250aXRsZSIgdmFsdWU9InRydWUiLz4NCgkJPHVpc2hvdyBuYW1lPSJwcmVzZW50ZXJwaG90byIgdmFsdWU9InRydWUiLz4NCgkJPHVpc2hvdyBuYW1lPSJwcmVzZW50ZXJuYW1lIiB2YWx1ZT0idHJ1ZSIvPg0KCQk8dWlzaG93IG5hbWU9InByZXNlbnRlcnRpdGxlIiB2YWx1ZT0idHJ1ZSIvPg0KCQk8dWlzaG93IG5hbWU9InByZXNlbnRlcmVtYWlsIiB2YWx1ZT0idHJ1ZSIvPg0KCQk8dWlzaG93IG5hbWU9InByZXNlbnRlcmJpbyIgdmFsdWU9InRydWUiLz4NCgkJPHVpc2hvdyBuYW1lPSJjb21wYW55bG9nbyIgdmFsdWU9InRydWUiLz4NCgkJPHVpc2hvdyBuYW1lPSJzaWRlYmFyIiB2YWx1ZT0idHJ1ZSIvPg0KCQk8dWlzaG93IG5hbWU9Im91dGxpbmUiIHZhbHVlPSJ0cnVlIi8+DQoJCTx1aXNob3cgbmFtZT0idGh1bWJuYWlsIiB2YWx1ZT0idHJ1ZSIvPg0KCQk8dWlzaG93IG5hbWU9Im5vdGVzIiB2YWx1ZT0idHJ1ZSIvPg0KCQk8dWlzaG93IG5hbWU9InNlYXJjaCIgdmFsdWU9InRydWUiLz4NCgkJPHVpc2hvdyBuYW1lPSJhdHRhY2htZW50cyIgdmFsdWU9InRydWUiLz4NCgkJPHVpc2hvdyBuYW1lPSJ1dGlscyIgdmFsdWU9InRydWUiLz4NCgkJPHVpc2hvdyBuYW1lPSJ2b2x1bWUiIHZhbHVlPSJ0cnVlIi8+DQoJCTx1aXNob3cgbmFtZT0icGxheWJhciIgdmFsdWU9InRydWUiLz4NCgkJPHVpc2hvdyBuYW1lPSJ0YWxraW5naGVhZCIgdmFsdWU9InRydWUiLz4NCgkJPHVpc2hvdyBuYW1lPSJzaWRlYmFyb25yaWdodCIgdmFsdWU9InRydWUiLz4NCgkJPHVpc2hvdyBuYW1lPSJ2aWV3Y2hhbmdlIiB2YWx1ZT0idHJ1ZSIvPg0KCQk8dWlzaG93IG5hbWU9ImluaXRpYWxkaXNwbGF5bW9kZWlzbm9ybWFsIiB2YWx1ZT0idHJ1ZSIvPg0KCQk8dWlyZXBsYWNlIG5hbWU9ImxvZ28iIHZhbHVlPSIiLz4NCgkJPHVpcmVwbGFjZSBuYW1lPSJiZ2ltYWdlIiB2YWx1ZT0iIi8+DQoJCTx1aXJlcGxhY2UgbmFtZT0iaW5pdGlhbHRhYiIgdmFsdWU9Im91dGxpbmUiLz4NCgk8L2xheW91dD4NCgk8bGFuZ3VhZ2UgaWQ9ImVuIj4NCgkJPCEtLSBmb3JtYXQgZm9yIHVpZm9udCB2YWx1ZSBpcyAiZm9udCxzaXplLGlzYm9sZCxpc2l0YWxpYyxpc3NoYWRvd2VkIiAtLT4NCgkJPHVpZm9udCBuYW1lPSJGT05UX1FVSVpaSU5HIiB2YWx1ZT0iVmVyZGFuYSw5LGZhbHNlLGZhbHNlLGZhbHNlIi8+DQoJCTx1aWZvbnQgbmFtZT0iRk9OVF9TQ1JVQlNUQVRVUyIgdmFsdWU9IlZlcmRhbmEsOSx0cnVlLGZhbHNlLHRydWUiLz4NCgkJPHVpZm9udCBuYW1lPSJGT05UX1NDUlVCVElNRSIgdmFsdWU9IlZlcmRhbmEsOSxmYWxzZSxmYWxzZSx0cnVlIi8+DQoJCTx1aWZvbnQgbmFtZT0iRk9OVF9FTEFQU0VEVElNRSIgdmFsdWU9IlZlcmRhbmEsOSx0cnVlLGZhbHNlLHRydWUiLz4NCgkJPHVpZm9udCBuYW1lPSJGT05UX1VUSUxTTUVOVSIgdmFsdWU9IlZlcmRhbmEsOSx0cnVlLGZhbHNlLGZhbHNlIi8+DQoJCTx1aWZvbnQgbmFtZT0iRk9OVF9UQUJTIiB2YWx1ZT0iVmVyZGFuYSw5LHRydWUsZmFsc2UsdHJ1ZSIvPg0KCQk8dWlmb250IG5hbWU9IkZPTlRfUFJFU0VOVEFUSU9OTkFNRSIgdmFsdWU9IlZlcmRhbmEsMTQsZmFsc2UsZmFsc2UsdHJ1ZSIvPg0KCQk8dWlmb250IG5hbWU9IkZPTlRfUFJFU0VOVEVSTkFNRSIgdmFsdWU9IlZlcmRhbmEsMTAsdHJ1ZSxmYWxzZSx0cnVlIi8+DQoJCTx1aWZvbnQgbmFtZT0iRk9OVF9QUkVTRU5URVJUSVRMRSIgdmFsdWU9IlZlcmRhbmEsMTAsZmFsc2UsZmFsc2UsdHJ1ZSIvPg0KCQk8dWlmb250IG5hbWU9IkZPTlRfQklPQlROIiB2YWx1ZT0iVmVyZGFuYSwxMCxmYWxzZSxmYWxzZSx0cnVlIi8+DQoJCTx1aWZvbnQgbmFtZT0iRk9OVF9OT1RFUyIgdmFsdWU9IlZlcmRhbmEsMTEsZmFsc2UsZmFsc2UsZmFsc2UiLz4NCgkJPHVpZm9udCBuYW1lPSJGT05UX09VVExJTkUiIHZhbHVlPSJWZXJkYW5hLDExLGZhbHNlLGZhbHNlLHRydWUiLz4NCgkJPHVpZm9udCBuYW1lPSJGT05UX1NFQVJDSCIgdmFsdWU9IlZlcmRhbmEsMTEsZmFsc2UsZmFsc2UsdHJ1ZSIvPg0KCQk8dWlmb250IG5hbWU9IkZPTlRfVEhVTUIiIHZhbHVlPSJWZXJkYW5hLDksZmFsc2UsZmFsc2UsdHJ1ZSIvPg0KCQk8dWlmb250IG5hbWU9IkZPTlRfQklPV0lOIiB2YWx1ZT0iVmVyZGFuYSwxMSxmYWxzZSxmYWxzZSxmYWxzZSIvPg0KCQk8dWlmb250IG5hbWU9IkZPTlRfTElTVEhFQURJTkciIHZhbHVlPSJWZXJkYW5hLDksZmFsc2UsZmFsc2UsZmFsc2UiLz4NCgkJPHVpZm9udCBuYW1lPSJGT05UX1dJTlRJVExFIiB2YWx1ZT0iVmVyZGFuYSw5LGZhbHNlLGZhbHNlLHRydWUiLz4NCgkJPHVpZm9udCBuYW1lPSJGT05UX0FUVEFDSE1FTlRTIiB2YWx1ZT0iVmVyZGFuYSwxMSxmYWxzZSxmYWxzZSx0cnVlIi8+DQoJCTwhLS0gdWl0ZXh0IC0tPg0KCQk8IS0tIHN1YnN0aXR1dGlvbjogJW4gPT0gc2xpZGUgbnVtYmVyIC0tPg0KCQk8dWl0ZXh0IG5hbWU9IlVOTkFNRURTTElERVRJVExFIiB2YWx1ZT0iU2xpZGUgJW4iLz4NCgkJPCEtLSBzdWJzdGl0dXRpb246ICVuID09IHNsaWRlIG51bWJlciAtLT4NCgkJPCEtLSBzdWJzdGl0dXRpb246ICV0ID09IHRvdGFsIHNsaWRlIGNvdW50IC0tPg0KCQk8dWl0ZXh0IG5hbWU9IlNDUlVCQkFSU1RBVFVTX1NMSURFSU5GTyIgdmFsdWU9IlNsaWRlICVuIC8gJXQgfCAiLz4NCgkJPHVpdGV4dCBuYW1lPSJTQ1JVQkJBUlNUQVRVU19TVE9QUEVEIiB2YWx1ZT0iU3RvcHBlZCIvPg0KCQk8dWl0ZXh0IG5hbWU9IlNDUlVCQkFSU1RBVFVTX1BMQVlJTkciIHZhbHVlPSJQbGF5aW5nIi8+DQoJCTx1aXRleHQgbmFtZT0iU0NSVUJCQVJTVEFUVVNfTk9BVURJTyIgdmFsdWU9Ik5vIEF1ZGlvIi8+DQoJCTx1aXRleHQgbmFtZT0iU0NSVUJCQVJTVEFUVVNfTE9BRElORyIgdmFsdWU9IkxvYWRpbmciLz4NCgkJPHVpdGV4dCBuYW1lPSJTQ1JVQkJBUlNUQVRVU19CVUZGRVJJTkciIHZhbHVlPSJCdWZmZXJpbmciLz4NCgkJPHVpdGV4dCBuYW1lPSJTQ1JVQkJBUlNUQVRVU19RVUVTVElPTiIgdmFsdWU9IkFuc3dlciBRdWVzdGlvbiIvPg0KCQk8dWl0ZXh0IG5hbWU9IlNDUlVCQkFSU1RBVFVTX1JFVklFV1FVSVoiIHZhbHVlPSJSZXZpZXdpbmcgUXVpeiIvPg0KCQk8IS0tIHN1YnN0aXR1dGlvbjogJW0gPT0gbWludXRlcyByZW1haW5pbmcgLS0+DQoJCTwhLS0gc3Vic3RpdHV0aW9uOiAlcyA9PSBzZWNvbmRzIHJlbWFpbmluZyAtLT4NCgkJPHVpdGV4dCBuYW1lPSJFTEFQU0VEIiB2YWx1ZT0iJW0gTWludXRlcyAlcyBTZWNvbmRzIFJlbWFpbmluZyIvPg0KCQk8dWl0ZXh0IG5hbWU9Ik5PVEZPVU5EIiB2YWx1ZT0iTm90aGluZyBGb3VuZCIvPg0KCQk8dWl0ZXh0IG5hbWU9IkFUVEFDSE1FTlRTIiB2YWx1ZT0iQXR0YWNobWVudHMiLz4NCgkJPCEtLSBzdWJzdGl0dXRpb246ICVwID09IGN1cnJlbnQgc3BlYWtlcidzIHRpdGxlIC0tPg0KCQk8dWl0ZXh0IG5hbWU9IkJJT1dJTl9USVRMRSIgdmFsdWU9IkJpbzogJXAiLz4NCgkJPHVpdGV4dCBuYW1lPSJCSU9CVE5fVElUTEUiIHZhbHVlPSJCaW8iLz4NCgkJPHVpdGV4dCBuYW1lPSJESVZJREVSQlROX1RJVExFIiB2YWx1ZT0ifCIvPg0KCQk8dWl0ZXh0IG5hbWU9IkNPTlRBQ1RCVE5fVElUTEUiIHZhbHVlPSJDb250YWN0Ii8+DQoJCTx1aXRleHQgbmFtZT0iVEFCX09VVExJTkUiIHZhbHVlPSJPdXRsaW5lIi8+DQoJCTx1aXRleHQgbmFtZT0iVEFCX1RIVU1CIiB2YWx1ZT0iVGh1bWIiLz4NCgkJPHVpdGV4dCBuYW1lPSJUQUJfTk9URVMiIHZhbHVlPSJOb3RlcyIvPg0KCQk8dWl0ZXh0IG5hbWU9IlRBQl9TRUFSQ0giIHZhbHVlPSJTZWFyY2giLz4NCgkJPHVpdGV4dCBuYW1lPSJTTElERV9IRUFESU5HIiB2YWx1ZT0iU2xpZGUgVGl0bGUiLz4NCgkJPHVpdGV4dCBuYW1lPSJEVVJBVElPTl9IRUFESU5HIiB2YWx1ZT0iRHVyYXRpb24iLz4NCgkJPHVpdGV4dCBuYW1lPSJTRUFSQ0hfSEVBRElORyIgdmFsdWU9IlNlYXJjaCBmb3IgdGV4dDoiLz4NCgkJPHVpdGV4dCBuYW1lPSJUSFVNQl9IRUFESU5HIiB2YWx1ZT0iU2xpZGUiLz4NCgkJPHVpdGV4dCBuYW1lPSJUSFVNQl9JTkZPIiB2YWx1ZT0iU2xpZGUgVGl0bGUvRHVyYXRpb24iLz4NCgkJPHVpdGV4dCBuYW1lPSJBVFRBQ0hOQU1FX0hFQURJTkciIHZhbHVlPSJGaWxlIE5hbWUiLz4NCgkJPHVpdGV4dCBuYW1lPSJBVFRBQ0hTSVpFX0hFQURJTkciIHZhbHVlPSJTaXplIi8+DQoJCTx1aXRleHQgbmFtZT0iU0xJREVfTk9URVMiIHZhbHVlPSJTbGlkZSBOb3RlcyIvPg0KCQk8IS0tIHN1YnN0aXR1dGlvbjogJXAgPT0gcHJlc2VudGF0aW9uIHRpdGxlIC0tPg0KCQk8IS0tIHN1YnN0aXR1dGlvbjogJXMgPT0gc2xpZGUgdGl0bGUgLS0+DQoJCTwhLS0gc3Vic3RpdHV0aW9uOiAlbiA9PSBzbGlkZSBudW1iZXIgLS0+DQoJCTx1aXRleHQgbmFtZT0iQk9PS01BUksiIHZhbHVlPSJNYWNyb21lZGlhIEJyZWV6ZSAtICVwIi8+DQoJCTwhLS0gc3Vic3RpdHV0aW9uOiAlcCA9PSBwcmVzZW50YXRpb24gdGl0bGUgLS0+DQoJCTwhLS0gc3Vic3RpdHV0aW9uOiAlcyA9PSBzbGlkZSB0aXRsZSAtLT4NCgkJPCEtLSBzdWJzdGl0dXRpb246ICVuID09IHNsaWRlIG51bWJlciAtLT4NCgkJPHVpdGV4dCBuYW1lPSJCT09LTUFSS1NMSURFIiB2YWx1ZT0iTWFjcm9tZWRpYSBCcmVlemUgLSAlcCAlcyIvPg0KCQk8dWl0ZXh0IG5hbWU9IlNIT1dTSURFQkFSIiB2YWx1ZT0iU2hvdyBzaWRlYmFyIHRvIHBhcnRpY2lwYW50cyIvPg0KCQk8dWl0ZXh0IG5hbWU9IkRPQ1dSQVBfVElUTEUiIHZhbHVlPSJCcmVlemUgRmlsZSBBdHRhY2htZW50Ii8+DQoJCTx1aXRleHQgbmFtZT0iRE9DV1JBUF9NU0ciIHZhbHVlPSJTYXZlIHRvIE15IENvbXB1dGVyIi8+DQoJCTx1aXRleHQgbmFtZT0iRE9DV1JBUF9QUk9NUFQiIHZhbHVlPSJDbGljayB0byBEb3dubG9hZCIvPg0KCTwvbGFuZ3VhZ2U+DQoJPGxhbmd1YWdlIGlkPSJkZSI+DQoJCTwhLS0gZm9ybWF0IGZvciB1aWZvbnQgdmFsdWUgaXMgImZvbnQsc2l6ZSxpc2JvbGQsaXNpdGFsaWMsaXNzaGFkb3dlZCIgLS0+DQoJCTx1aWZvbnQgbmFtZT0iRk9OVF9RVUlaWklORyIgdmFsdWU9IlZlcmRhbmEsOSxmYWxzZSxmYWxzZSxmYWxzZSIvPg0KCQk8dWlmb250IG5hbWU9IkZPTlRfU0NSVUJTVEFUVVMiIHZhbHVlPSJWZXJkYW5hLDksdHJ1ZSxmYWxzZSx0cnVlIi8+DQoJCTx1aWZvbnQgbmFtZT0iRk9OVF9TQ1JVQlRJTUUiIHZhbHVlPSJWZXJkYW5hLDksZmFsc2UsZmFsc2UsdHJ1ZSIvPg0KCQk8dWlmb250IG5hbWU9IkZPTlRfRUxBUFNFRFRJTUUiIHZhbHVlPSJWZXJkYW5hLDksdHJ1ZSxmYWxzZSx0cnVlIi8+DQoJCTx1aWZvbnQgbmFtZT0iRk9OVF9VVElMU01FTlUiIHZhbHVlPSJWZXJkYW5hLDksdHJ1ZSxmYWxzZSxmYWxzZSIvPg0KCQk8dWlmb250IG5hbWU9IkZPTlRfVEFCUyIgdmFsdWU9IlZlcmRhbmEsOSx0cnVlLGZhbHNlLHRydWUiLz4NCgkJPHVpZm9udCBuYW1lPSJGT05UX1BSRVNFTlRBVElPTk5BTUUiIHZhbHVlPSJWZXJkYW5hLDE0LGZhbHNlLGZhbHNlLHRydWUiLz4NCgkJPHVpZm9udCBuYW1lPSJGT05UX1BSRVNFTlRFUk5BTUUiIHZhbHVlPSJWZXJkYW5hLDEwLHRydWUsZmFsc2UsdHJ1ZSIvPg0KCQk8dWlmb250IG5hbWU9IkZPTlRfUFJFU0VOVEVSVElUTEUiIHZhbHVlPSJWZXJkYW5hLDEwLGZhbHNlLGZhbHNlLHRydWUiLz4NCgkJPHVpZm9udCBuYW1lPSJGT05UX0JJT0JUTiIgdmFsdWU9IlZlcmRhbmEsMTAsZmFsc2UsZmFsc2UsdHJ1ZSIvPg0KCQk8dWlmb250IG5hbWU9IkZPTlRfTk9URVMiIHZhbHVlPSJWZXJkYW5hLDExLGZhbHNlLGZhbHNlLGZhbHNlIi8+DQoJCTx1aWZvbnQgbmFtZT0iRk9OVF9PVVRMSU5FIiB2YWx1ZT0iVmVyZGFuYSwxMSxmYWxzZSxmYWxzZSx0cnVlIi8+DQoJCTx1aWZvbnQgbmFtZT0iRk9OVF9TRUFSQ0giIHZhbHVlPSJWZXJkYW5hLDExLGZhbHNlLGZhbHNlLHRydWUiLz4NCgkJPHVpZm9udCBuYW1lPSJGT05UX1RIVU1CIiB2YWx1ZT0iVmVyZGFuYSw5LGZhbHNlLGZhbHNlLHRydWUiLz4NCgkJPHVpZm9udCBuYW1lPSJGT05UX0JJT1dJTiIgdmFsdWU9IlZlcmRhbmEsMTEsZmFsc2UsZmFsc2UsZmFsc2UiLz4NCgkJPHVpZm9udCBuYW1lPSJGT05UX0xJU1RIRUFESU5HIiB2YWx1ZT0iVmVyZGFuYSw5LGZhbHNlLGZhbHNlLGZhbHNlIi8+DQoJCTx1aWZvbnQgbmFtZT0iRk9OVF9XSU5USVRMRSIgdmFsdWU9IlZlcmRhbmEsOSxmYWxzZSxmYWxzZSx0cnVlIi8+DQoJCTx1aWZvbnQgbmFtZT0iRk9OVF9BVFRBQ0hNRU5UUyIgdmFsdWU9IlZlcmRhbmEsMTEsZmFsc2UsZmFsc2UsdHJ1ZSIvPg0KCQk8IS0tIHVpdGV4dCAtLT4NCgkJPCEtLSBzdWJzdGl0dXRpb246ICVuID09IHNsaWRlIG51bWJlciAtLT4NCgkJPHVpdGV4dCBuYW1lPSJVTk5BTUVEU0xJREVUSVRMRSIgdmFsdWU9IkZvbGllICVuIi8+DQoJCTwhLS0gc3Vic3RpdHV0aW9uOiAlbiA9PSBzbGlkZSBudW1iZXIgLS0+DQoJCTwhLS0gc3Vic3RpdHV0aW9uOiAldCA9PSB0b3RhbCBzbGlkZSBjb3VudCAtLT4NCgkJPHVpdGV4dCBuYW1lPSJTQ1JVQkJBUlNUQVRVU19TTElERUlORk8iIHZhbHVlPSJGb2xpZSAlbiAvICV0IHwgIi8+DQoJCTx1aXRleHQgbmFtZT0iU0NSVUJCQVJTVEFUVVNfU1RPUFBFRCIgdmFsdWU9IkJlZW5kZXQiLz4NCgkJPHVpdGV4dCBuYW1lPSJTQ1JVQkJBUlNUQVRVU19QTEFZSU5HIiB2YWx1ZT0iV2llZGVyZ2FiZSIvPg0KCQk8dWl0ZXh0IG5hbWU9IlNDUlVCQkFSU1RBVFVTX05PQVVESU8iIHZhbHVlPSJLZWluIEF1ZGlvIi8+DQoJCTx1aXRleHQgbmFtZT0iU0NSVUJCQVJTVEFUVVNfTE9BRElORyIgdmFsdWU9IkxhZGVuIi8+DQoJCTx1aXRleHQgbmFtZT0iU0NSVUJCQVJTVEFUVVNfQlVGRkVSSU5HIiB2YWx1ZT0iUHVmZmVybiIvPg0KCQk8dWl0ZXh0IG5hbWU9IlNDUlVCQkFSU1RBVFVTX1FVRVNUSU9OIiB2YWx1ZT0iRnJhZ2UgYmVhbnR3b3J0ZW4iLz4NCgkJPHVpdGV4dCBuYW1lPSJTQ1JVQkJBUlNUQVRVU19SRVZJRVdRVUlaIiB2YWx1ZT0iTm9jaG1hbHMgZHVyY2hzZWhlbiIvPg0KCQk8IS0tIHN1YnN0aXR1dGlvbjogJW0gPT0gbWludXRlcyByZW1haW5pbmcgLS0+DQoJCTwhLS0gc3Vic3RpdHV0aW9uOiAlcyA9PSBzZWNvbmRzIHJlbWFpbmluZyAtLT4NCgkJPHVpdGV4dCBuYW1lPSJFTEFQU0VEIiB2YWx1ZT0iUmVzdGRhdWVyOiAlbSBNaW51dGVuICVzIFNla3VuZGVuIi8+DQoJCTx1aXRleHQgbmFtZT0iTk9URk9VTkQiIHZhbHVlPSJOaWNodHMgZ2VmdW5kZW4iLz4NCgkJPHVpdGV4dCBuYW1lPSJBVFRBQ0hNRU5UUyIgdmFsdWU9IkFubGFnZW4iLz4NCgkJPCEtLSBzdWJzdGl0dXRpb246ICVwID09IGN1cnJlbnQgc3BlYWtlcidzIHRpdGxlIC0tPg0KCQk8dWl0ZXh0IG5hbWU9IkJJT1dJTl9USVRMRSIgdmFsdWU9IlNwcmVjaGVyOiAlcCIvPg0KCQk8dWl0ZXh0IG5hbWU9IkJJT0JUTl9USVRMRSIgdmFsdWU9IlNwcmVjaGVyIi8+DQoJCTx1aXRleHQgbmFtZT0iRElWSURFUkJUTl9USVRMRSIgdmFsdWU9InwiLz4NCgkJPHVpdGV4dCBuYW1lPSJDT05UQUNUQlROX1RJVExFIiB2YWx1ZT0iS29udGFrdCIvPg0KCQk8dWl0ZXh0IG5hbWU9IlRBQl9PVVRMSU5FIiB2YWx1ZT0iU3RydWt0dXIiLz4NCgkJPHVpdGV4dCBuYW1lPSJUQUJfVEhVTUIiIHZhbHVlPSJNaW5pYXR1ciIvPg0KCQk8dWl0ZXh0IG5hbWU9IlRBQl9OT1RFUyIgdmFsdWU9Ik5vdGl6ZW4iLz4NCgkJPHVpdGV4dCBuYW1lPSJUQUJfU0VBUkNIIiB2YWx1ZT0iU3VjaGVuIi8+DQoJCTx1aXRleHQgbmFtZT0iU0xJREVfSEVBRElORyIgdmFsdWU9IkZvbGllbnRpdGVsIi8+DQoJCTx1aXRleHQgbmFtZT0iRFVSQVRJT05fSEVBRElORyIgdmFsdWU9IkRhdWVyIi8+DQoJCTx1aXRleHQgbmFtZT0iU0VBUkNIX0hFQURJTkciIHZhbHVlPSJUZXh0IHN1Y2hlbjoiLz4NCgkJPHVpdGV4dCBuYW1lPSJUSFVNQl9IRUFESU5HIiB2YWx1ZT0iRm9saWUiLz4NCgkJPHVpdGV4dCBuYW1lPSJUSFVNQl9JTkZPIiB2YWx1ZT0iRm9saWVudGl0ZWwvRGF1ZXIiLz4NCgkJPHVpdGV4dCBuYW1lPSJBVFRBQ0hOQU1FX0hFQURJTkciIHZhbHVlPSJEYXRlaW5hbWUiLz4NCgkJPHVpdGV4dCBuYW1lPSJBVFRBQ0hTSVpFX0hFQURJTkciIHZhbHVlPSJHcsO2w59lIi8+DQoJCTx1aXRleHQgbmFtZT0iU0xJREVfTk9URVMiIHZhbHVlPSJGb2xpZW5ub3RpemVuIi8+DQoJCTwhLS0gc3Vic3RpdHV0aW9uOiAlcCA9PSBwcmVzZW50YXRpb24gdGl0bGUgLS0+DQoJCTwhLS0gc3Vic3RpdHV0aW9uOiAlcyA9PSBzbGlkZSB0aXRsZSAtLT4NCgkJPCEtLSBzdWJzdGl0dXRpb246ICVuID09IHNsaWRlIG51bWJlciAtLT4NCgkJPHVpdGV4dCBuYW1lPSJCT09LTUFSSyIgdmFsdWU9Ik1hY3JvbWVkaWEgQnJlZXplIC0gJXAiLz4NCgkJPCEtLSBzdWJzdGl0dXRpb246ICVwID09IHByZXNlbnRhdGlvbiB0aXRsZSAtLT4NCgkJPCEtLSBzdWJzdGl0dXRpb246ICVzID09IHNsaWRlIHRpdGxlIC0tPg0KCQk8IS0tIHN1YnN0aXR1dGlvbjogJW4gPT0gc2xpZGUgbnVtYmVyIC0tPg0KCQk8dWl0ZXh0IG5hbWU9IkJPT0tNQVJLU0xJREUiIHZhbHVlPSJNYWNyb21lZGlhIEJyZWV6ZSAtICVwICVzIi8+DQoJCTx1aXRleHQgbmFtZT0iU0hPV1NJREVCQVIiIHZhbHVlPSJEZW4gVGVpbG5laG1lcm4gZGllIFNlaXRlbmxlaXN0ZSBhbnplaWdlbiIvPg0KCQk8dWl0ZXh0IG5hbWU9IkRPQ1dSQVBfVElUTEUiIHZhbHVlPSJCcmVlemUtQW5oYW5nIi8+DQoJCTx1aXRleHQgbmFtZT0iRE9DV1JBUF9NU0ciIHZhbHVlPSJBdWYgbWVpbmVtIEFyYmVpdHNwbGF0eiBzcGVpY2hlcm4iLz4NCgkJPHVpdGV4dCBuYW1lPSJET0NXUkFQX1BST01QVCIgdmFsdWU9Ilp1bSBIZXJ1bnRlcmxhZGVuIGtsaWNrZW4iLz4NCgk8L2xhbmd1YWdlPg0KCTxsYW5ndWFnZSBpZD0iZnIiPg0KCQk8IS0tIGZvcm1hdCBmb3IgdWlmb250IHZhbHVlIGlzICJmb250LHNpemUsaXNib2xkLGlzaXRhbGljLGlzc2hhZG93ZWQiIC0tPg0KCQk8dWlmb250IG5hbWU9IkZPTlRfUVVJWlpJTkciIHZhbHVlPSJWZXJkYW5hLDksZmFsc2UsZmFsc2UsZmFsc2UiLz4NCgkJPHVpZm9udCBuYW1lPSJGT05UX1NDUlVCU1RBVFVTIiB2YWx1ZT0iVmVyZGFuYSw5LHRydWUsZmFsc2UsdHJ1ZSIvPg0KCQk8dWlmb250IG5hbWU9IkZPTlRfU0NSVUJUSU1FIiB2YWx1ZT0iVmVyZGFuYSw5LGZhbHNlLGZhbHNlLHRydWUiLz4NCgkJPHVpZm9udCBuYW1lPSJGT05UX0VMQVBTRURUSU1FIiB2YWx1ZT0iVmVyZGFuYSw5LHRydWUsZmFsc2UsdHJ1ZSIvPg0KCQk8dWlmb250IG5hbWU9IkZPTlRfVVRJTFNNRU5VIiB2YWx1ZT0iVmVyZGFuYSw5LHRydWUsZmFsc2UsZmFsc2UiLz4NCgkJPHVpZm9udCBuYW1lPSJGT05UX1RBQlMiIHZhbHVlPSJWZXJkYW5hLDksdHJ1ZSxmYWxzZSx0cnVlIi8+DQoJCTx1aWZvbnQgbmFtZT0iRk9OVF9QUkVTRU5UQVRJT05OQU1FIiB2YWx1ZT0iVmVyZGFuYSwxNCxmYWxzZSxmYWxzZSx0cnVlIi8+DQoJCTx1aWZvbnQgbmFtZT0iRk9OVF9QUkVTRU5URVJOQU1FIiB2YWx1ZT0iVmVyZGFuYSwxMCx0cnVlLGZhbHNlLHRydWUiLz4NCgkJPHVpZm9udCBuYW1lPSJGT05UX1BSRVNFTlRFUlRJVExFIiB2YWx1ZT0iVmVyZGFuYSwxMCxmYWxzZSxmYWxzZSx0cnVlIi8+DQoJCTx1aWZvbnQgbmFtZT0iRk9OVF9CSU9CVE4iIHZhbHVlPSJWZXJkYW5hLDEwLGZhbHNlLGZhbHNlLHRydWUiLz4NCgkJPHVpZm9udCBuYW1lPSJGT05UX05PVEVTIiB2YWx1ZT0iVmVyZGFuYSwxMSxmYWxzZSxmYWxzZSxmYWxzZSIvPg0KCQk8dWlmb250IG5hbWU9IkZPTlRfT1VUTElORSIgdmFsdWU9IlZlcmRhbmEsMTEsZmFsc2UsZmFsc2UsdHJ1ZSIvPg0KCQk8dWlmb250IG5hbWU9IkZPTlRfU0VBUkNIIiB2YWx1ZT0iVmVyZGFuYSwxMSxmYWxzZSxmYWxzZSx0cnVlIi8+DQoJCTx1aWZvbnQgbmFtZT0iRk9OVF9USFVNQiIgdmFsdWU9IlZlcmRhbmEsOSxmYWxzZSxmYWxzZSx0cnVlIi8+DQoJCTx1aWZvbnQgbmFtZT0iRk9OVF9CSU9XSU4iIHZhbHVlPSJWZXJkYW5hLDExLGZhbHNlLGZhbHNlLGZhbHNlIi8+DQoJCTx1aWZvbnQgbmFtZT0iRk9OVF9MSVNUSEVBRElORyIgdmFsdWU9IlZlcmRhbmEsOSxmYWxzZSxmYWxzZSxmYWxzZSIvPg0KCQk8dWlmb250IG5hbWU9IkZPTlRfV0lOVElUTEUiIHZhbHVlPSJWZXJkYW5hLDksZmFsc2UsZmFsc2UsdHJ1ZSIvPg0KCQk8dWlmb250IG5hbWU9IkZPTlRfQVRUQUNITUVOVFMiIHZhbHVlPSJWZXJkYW5hLDExLGZhbHNlLGZhbHNlLHRydWUiLz4NCgkJPCEtLSB1aXRleHQgLS0+DQoJCTwhLS0gc3Vic3RpdHV0aW9uOiAlbiA9PSBzbGlkZSBudW1iZXIgLS0+DQoJCTx1aXRleHQgbmFtZT0iVU5OQU1FRFNMSURFVElUTEUiIHZhbHVlPSJEaWFwb3NpdGl2ZSAlbiIvPg0KCQk8IS0tIHN1YnN0aXR1dGlvbjogJW4gPT0gc2xpZGUgbnVtYmVyIC0tPg0KCQk8IS0tIHN1YnN0aXR1dGlvbjogJXQgPT0gdG90YWwgc2xpZGUgY291bnQgLS0+DQoJCTx1aXRleHQgbmFtZT0iU0NSVUJCQVJTVEFUVVNfU0xJREVJTkZPIiB2YWx1ZT0iRGlhcG9zaXRpdmUgJW4gLyAldCB8ICIvPg0KCQk8dWl0ZXh0IG5hbWU9IlNDUlVCQkFSU1RBVFVTX1NUT1BQRUQiIHZhbHVlPSJBcnLDqnTDqWUiLz4NCgkJPHVpdGV4dCBuYW1lPSJTQ1JVQkJBUlNUQVRVU19QTEFZSU5HIiB2YWx1ZT0iTGVjdHVyZSIvPg0KCQk8dWl0ZXh0IG5hbWU9IlNDUlVCQkFSU1RBVFVTX05PQVVESU8iIHZhbHVlPSJQYXMgZGUgc29uIi8+DQoJCTx1aXRleHQgbmFtZT0iU0NSVUJCQVJTVEFUVVNfTE9BRElORyIgdmFsdWU9IkNoYXJnZW1lbnQgZW4gY291cnMiLz4NCgkJPHVpdGV4dCBuYW1lPSJTQ1JVQkJBUlNUQVRVU19CVUZGRVJJTkciIHZhbHVlPSJNaXNlIGVuIG3DqW1vaXJlIi8+DQoJCTx1aXRleHQgbmFtZT0iU0NSVUJCQVJTVEFUVVNfUVVFU1RJT04iIHZhbHVlPSJSw6lwb25kcmUgw6AgbGEgcXVlc3Rpb24iLz4NCgkJPHVpdGV4dCBuYW1lPSJTQ1JVQkJBUlNUQVRVU19SRVZJRVdRVUlaIiB2YWx1ZT0iUsOpdmlzaW9uIGR1IHF1ZXN0aW9ubmFpcmUiLz4NCgkJPCEtLSBzdWJzdGl0dXRpb246ICVtID09IG1pbnV0ZXMgcmVtYWluaW5nIC0tPg0KCQk8IS0tIHN1YnN0aXR1dGlvbjogJXMgPT0gc2Vjb25kcyByZW1haW5pbmcgLS0+DQoJCTx1aXRleHQgbmFtZT0iRUxBUFNFRCIgdmFsdWU9IiVtIG1pbnV0ZXMgJXMgc2Vjb25kZXMgUmVzdGFudGVzIi8+DQoJCTx1aXRleHQgbmFtZT0iTk9URk9VTkQiIHZhbHVlPSJSaWVuIHRyb3V2w6kiLz4NCgkJPHVpdGV4dCBuYW1lPSJBVFRBQ0hNRU5UUyIgdmFsdWU9IlBpw6hjZXMgam9pbnRlcyIvPg0KCQk8IS0tIHN1YnN0aXR1dGlvbjogJXAgPT0gY3VycmVudCBzcGVha2VyJ3MgdGl0bGUgLS0+DQoJCTx1aXRleHQgbmFtZT0iQklPV0lOX1RJVExFIiB2YWx1ZT0iQmlvIDogJXAiLz4NCgkJPHVpdGV4dCBuYW1lPSJCSU9CVE5fVElUTEUiIHZhbHVlPSJCaW8gOiIvPg0KCQk8dWl0ZXh0IG5hbWU9IkRJVklERVJCVE5fVElUTEUiIHZhbHVlPSJ8Ii8+DQoJCTx1aXRleHQgbmFtZT0iQ09OVEFDVEJUTl9USVRMRSIgdmFsdWU9IkNvbnRhY3QiLz4NCgkJPHVpdGV4dCBuYW1lPSJUQUJfT1VUTElORSIgdmFsdWU9IlBsYW4iLz4NCgkJPHVpdGV4dCBuYW1lPSJUQUJfVEhVTUIiIHZhbHVlPSIgTWluaWF0dXJlIi8+DQoJCTx1aXRleHQgbmFtZT0iVEFCX05PVEVTIiB2YWx1ZT0iTm90ZXMiLz4NCgkJPHVpdGV4dCBuYW1lPSJUQUJfU0VBUkNIIiB2YWx1ZT0iIENoZXJjaGVyIi8+DQoJCTx1aXRleHQgbmFtZT0iU0xJREVfSEVBRElORyIgdmFsdWU9IlRpdHJlIGRlIGxhIGRpYXBvc2l0aXZlIi8+DQoJCTx1aXRleHQgbmFtZT0iRFVSQVRJT05fSEVBRElORyIgdmFsdWU9IkR1csOpZSIvPg0KCQk8dWl0ZXh0IG5hbWU9IlNFQVJDSF9IRUFESU5HIiB2YWx1ZT0iUmVjaGVyY2hlIGRlIHRleHRlIDoiLz4NCgkJPHVpdGV4dCBuYW1lPSJUSFVNQl9IRUFESU5HIiB2YWx1ZT0iRGlhcG9zaXRpdmUiLz4NCgkJPHVpdGV4dCBuYW1lPSJUSFVNQl9JTkZPIiB2YWx1ZT0iVGl0cmUvZHVyw6llIi8+DQoJCTx1aXRleHQgbmFtZT0iQVRUQUNITkFNRV9IRUFESU5HIiB2YWx1ZT0iTm9tIGRlIGZpY2hpZXIiLz4NCgkJPHVpdGV4dCBuYW1lPSJBVFRBQ0hTSVpFX0hFQURJTkciIHZhbHVlPSJUYWlsbGUiLz4NCgkJPHVpdGV4dCBuYW1lPSJTTElERV9OT1RFUyIgdmFsdWU9Ik5vdGVzIGRlcyBkaWFwb3NpdGl2ZXMiLz4NCgkJPCEtLSBzdWJzdGl0dXRpb246ICVwID09IHByZXNlbnRhdGlvbiB0aXRsZSAtLT4NCgkJPCEtLSBzdWJzdGl0dXRpb246ICVzID09IHNsaWRlIHRpdGxlIC0tPg0KCQk8IS0tIHN1YnN0aXR1dGlvbjogJW4gPT0gc2xpZGUgbnVtYmVyIC0tPg0KCQk8dWl0ZXh0IG5hbWU9IkJPT0tNQVJLIiB2YWx1ZT0iTWFjcm9tZWRpYSBCcmVlemUgLSAlcCIvPg0KCQk8IS0tIHN1YnN0aXR1dGlvbjogJXAgPT0gcHJlc2VudGF0aW9uIHRpdGxlIC0tPg0KCQk8IS0tIHN1YnN0aXR1dGlvbjogJXMgPT0gc2xpZGUgdGl0bGUgLS0+DQoJCTwhLS0gc3Vic3RpdHV0aW9uOiAlbiA9PSBzbGlkZSBudW1iZXIgLS0+DQoJCTx1aXRleHQgbmFtZT0iQk9PS01BUktTTElERSIgdmFsdWU9Ik1hY3JvbWVkaWEgQnJlZXplIC0gJXAgJXMiLz4NCgkJPHVpdGV4dCBuYW1lPSJTSE9XU0lERUJBUiIgdmFsdWU9Ik1vbnRyZXIgbCdlbmNhZHLDqSBhdXggcGFydGljaXBhbnRzIi8+DQoJCTx1aXRleHQgbmFtZT0iRE9DV1JBUF9USVRMRSIgdmFsdWU9IlBpw6hjZSBqb2ludGUgQnJlZXplIi8+DQoJCTx1aXRleHQgbmFtZT0iRE9DV1JBUF9NU0ciIHZhbHVlPSJFbnJlZ2lzdHJlciBzdXIgbW9uIG9yZGluYXRldXIiLz4NCgkJPHVpdGV4dCBuYW1lPSJET0NXUkFQX1BST01QVCIgdmFsdWU9IkNsaXF1ZXIgcG91ciB0w6lsw6ljaGFyZ2VyIi8+DQoJPC9sYW5ndWFnZT4NCgk8bGFuZ3VhZ2UgaWQ9ImphIj4NCgkJPCEtLSBmb3JtYXQgZm9yIHVpZm9udCB2YWx1ZSBpcyAiZm9udCxzaXplLGlzYm9sZCxpc2l0YWxpYyxpc3NoYWRvd2VkIiAtLT4NCgkJPHVpZm9udCBuYW1lPSJGT05UX1FVSVpaSU5HIiB2YWx1ZT0iVmVyZGFuYSw5LGZhbHNlLGZhbHNlLGZhbHNlIi8+DQoJCTx1aWZvbnQgbmFtZT0iRk9OVF9TQ1JVQlNUQVRVUyIgdmFsdWU9IlZlcmRhbmEsMTEsZmFsc2UsZmFsc2UsdHJ1ZSIvPg0KCQk8dWlmb250IG5hbWU9IkZPTlRfU0NSVUJUSU1FIiB2YWx1ZT0iVmVyZGFuYSw5LGZhbHNlLGZhbHNlLHRydWUiLz4NCgkJPHVpZm9udCBuYW1lPSJGT05UX0VMQVBTRURUSU1FIiB2YWx1ZT0iVmVyZGFuYSwxMSx0cnVlLGZhbHNlLGZhbHNlIi8+DQoJCTx1aWZvbnQgbmFtZT0iRk9OVF9VVElMU01FTlUiIHZhbHVlPSJWZXJkYW5hLDksdHJ1ZSxmYWxzZSxmYWxzZSIvPg0KCQk8dWlmb250IG5hbWU9IkZPTlRfVEFCUyIgdmFsdWU9IlZlcmRhbmEsMTAsZmFsc2UsZmFsc2UsZmFsc2UiLz4NCgkJPHVpZm9udCBuYW1lPSJGT05UX1BSRVNFTlRBVElPTk5BTUUiIHZhbHVlPSJWZXJkYW5hLDE1LGZhbHNlLGZhbHNlLHRydWUiLz4NCgkJPHVpZm9udCBuYW1lPSJGT05UX1BSRVNFTlRFUk5BTUUiIHZhbHVlPSJWZXJkYW5hLDE1LHRydWUsZmFsc2UsdHJ1ZSIvPg0KCQk8dWlmb250IG5hbWU9IkZPTlRfUFJFU0VOVEVSVElUTEUiIHZhbHVlPSJWZXJkYW5hLDExLGZhbHNlLGZhbHNlLHRydWUiLz4NCgkJPHVpZm9udCBuYW1lPSJGT05UX0JJT0JUTiIgdmFsdWU9IlZlcmRhbmEsMTAsZmFsc2UsZmFsc2UsdHJ1ZSIvPg0KCQk8dWlmb250IG5hbWU9IkZPTlRfTk9URVMiIHZhbHVlPSJWZXJkYW5hLDExLGZhbHNlLGZhbHNlLGZhbHNlIi8+DQoJCTx1aWZvbnQgbmFtZT0iRk9OVF9PVVRMSU5FIiB2YWx1ZT0iVmVyZGFuYSwxMSxmYWxzZSxmYWxzZSx0cnVlIi8+DQoJCTx1aWZvbnQgbmFtZT0iRk9OVF9TRUFSQ0giIHZhbHVlPSJWZXJkYW5hLDExLGZhbHNlLGZhbHNlLHRydWUiLz4NCgkJPHVpZm9udCBuYW1lPSJGT05UX1RIVU1CIiB2YWx1ZT0iVmVyZGFuYSwxMSxmYWxzZSxmYWxzZSx0cnVlIi8+DQoJCTx1aWZvbnQgbmFtZT0iRk9OVF9CSU9XSU4iIHZhbHVlPSJWZXJkYW5hLDExLGZhbHNlLGZhbHNlLGZhbHNlIi8+DQoJCTx1aWZvbnQgbmFtZT0iRk9OVF9MSVNUSEVBRElORyIgdmFsdWU9IlZlcmRhbmEsMTEsZmFsc2UsZmFsc2UsZmFsc2UiLz4NCgkJPHVpZm9udCBuYW1lPSJGT05UX1dJTlRJVExFIiB2YWx1ZT0iVmVyZGFuYSwxMSxmYWxzZSxmYWxzZSx0cnVlIi8+DQoJCTx1aWZvbnQgbmFtZT0iRk9OVF9BVFRBQ0hNRU5UUyIgdmFsdWU9IlZlcmRhbmEsMTEsZmFsc2UsZmFsc2UsdHJ1ZSIvPg0KCQk8IS0tIHVpdGV4dCAtLT4NCgkJPCEtLSBzdWJzdGl0dXRpb246ICVuID09IHNsaWRlIG51bWJlciAtLT4NCgkJPHVpdGV4dCBuYW1lPSJVTk5BTUVEU0xJREVUSVRMRSIgdmFsdWU9IuOCueODqeOCpOODiSA6ICVuIi8+DQoJCTwhLS0gc3Vic3RpdHV0aW9uOiAlbiA9PSBzbGlkZSBudW1iZXIgLS0+DQoJCTwhLS0gc3Vic3RpdHV0aW9uOiAldCA9PSB0b3RhbCBzbGlkZSBjb3VudCAtLT4NCgkJPHVpdGV4dCBuYW1lPSJTQ1JVQkJBUlNUQVRVU19TTElERUlORk8iIHZhbHVlPSLjgrnjg6njgqTjg4kgOiAlbiAvICV0IHwgIi8+DQoJCTx1aXRleHQgbmFtZT0iU0NSVUJCQVJTVEFUVVNfU1RPUFBFRCIgdmFsdWU9IuWBnOatoiIvPg0KCQk8dWl0ZXh0IG5hbWU9IlNDUlVCQkFSU1RBVFVTX1BMQVlJTkciIHZhbHVlPSLlho3nlJ/kuK0iLz4NCgkJPHVpdGV4dCBuYW1lPSJTQ1JVQkJBUlNUQVRVU19OT0FVRElPIiB2YWx1ZT0i6Z+z5aOw44Gq44GXIi8+DQoJCTx1aXRleHQgbmFtZT0iU0NSVUJCQVJTVEFUVVNfTE9BRElORyIgdmFsdWU9IuODreODvOODieS4rSIvPg0KCQk8dWl0ZXh0IG5hbWU9IlNDUlVCQkFSU1RBVFVTX0JVRkZFUklORyIgdmFsdWU9IuODkOODg+ODleOCoeS4rSIvPg0KCQk8dWl0ZXh0IG5hbWU9IlNDUlVCQkFSU1RBVFVTX1FVRVNUSU9OIiB2YWx1ZT0i6LOq5ZWP44Gr562U44GI44Gm5LiL44GV44GEIi8+DQoJCTx1aXRleHQgbmFtZT0iU0NSVUJCQVJTVEFUVVNfUkVWSUVXUVVJWiIgdmFsdWU9IuOCr+OCpOOCuuOCkuODrOODk+ODpeODvOOBl+OBpuOBhOOBvuOBmSIvPg0KCQk8IS0tIHN1YnN0aXR1dGlvbjogJW0gPT0gbWludXRlcyByZW1haW5pbmcgLS0+DQoJCTwhLS0gc3Vic3RpdHV0aW9uOiAlcyA9PSBzZWNvbmRzIHJlbWFpbmluZyAtLT4NCgkJPHVpdGV4dCBuYW1lPSJFTEFQU0VEIiB2YWx1ZT0i5q6L44KKIDogJW0g5YiGICVzIOenkiIvPg0KCQk8dWl0ZXh0IG5hbWU9Ik5PVEZPVU5EIiB2YWx1ZT0i5L2V44KC6KaL44Gk44GL44KK44G+44Gb44KTIi8+DQoJCTx1aXRleHQgbmFtZT0iQVRUQUNITUVOVFMiIHZhbHVlPSLmt7vku5giLz4NCgkJPCEtLSBzdWJzdGl0dXRpb246ICVwID09IGN1cnJlbnQgc3BlYWtlcidzIHRpdGxlIC0tPg0KCQk8dWl0ZXh0IG5hbWU9IkJJT1dJTl9USVRMRSIgdmFsdWU9Iue1jOattCA6ICVwIi8+DQoJCTx1aXRleHQgbmFtZT0iQklPQlROX1RJVExFIiB2YWx1ZT0i57WM5q20Ii8+DQoJCTx1aXRleHQgbmFtZT0iRElWSURFUkJUTl9USVRMRSIgdmFsdWU9InwiLz4NCgkJPHVpdGV4dCBuYW1lPSJDT05UQUNUQlROX1RJVExFIiB2YWx1ZT0i44GK5ZWP44GE5ZCI44KP44GbIi8+DQoJCTx1aXRleHQgbmFtZT0iVEFCX09VVExJTkUiIHZhbHVlPSLjgqLjgqbjg4jjg6njgqTjg7MiLz4NCgkJPHVpdGV4dCBuYW1lPSJUQUJfVEhVTUIiIHZhbHVlPSLjgrXjg6Djg43jg7zjg6siLz4NCgkJPHVpdGV4dCBuYW1lPSJUQUJfTk9URVMiIHZhbHVlPSLjg47jg7zjg4giLz4NCgkJPHVpdGV4dCBuYW1lPSJUQUJfU0VBUkNIIiB2YWx1ZT0i5qSc57SiIi8+DQoJCTx1aXRleHQgbmFtZT0iU0xJREVfSEVBRElORyIgdmFsdWU9IuOCueODqeOCpOODieOCv+OCpOODiOODqyIvPg0KCQk8dWl0ZXh0IG5hbWU9IkRVUkFUSU9OX0hFQURJTkciIHZhbHVlPSLplbfjgZUiLz4NCgkJPHVpdGV4dCBuYW1lPSJTRUFSQ0hfSEVBRElORyIgdmFsdWU9IuaknOe0ouOBmeOCi+ODhuOCreOCueODiCA6ICIvPg0KCQk8dWl0ZXh0IG5hbWU9IlRIVU1CX0hFQURJTkciIHZhbHVlPSLjgrnjg6njgqTjg4kiLz4NCgkJPHVpdGV4dCBuYW1lPSJUSFVNQl9JTkZPIiB2YWx1ZT0i44K544Op44Kk44OJ44K/44Kk44OI44OrIC8g6ZW344GVIi8+DQoJCTx1aXRleHQgbmFtZT0iQVRUQUNITkFNRV9IRUFESU5HIiB2YWx1ZT0i44OV44Kh44Kk44Or5ZCNIi8+DQoJCTx1aXRleHQgbmFtZT0iQVRUQUNIU0laRV9IRUFESU5HIiB2YWx1ZT0i44K144Kk44K6Ii8+DQoJCTx1aXRleHQgbmFtZT0iU0xJREVfTk9URVMiIHZhbHVlPSLjgrnjg6njgqTjg4njg47jg7zjg4giLz4NCgkJPCEtLSBzdWJzdGl0dXRpb246ICVwID09IHByZXNlbnRhdGlvbiB0aXRsZSAtLT4NCgkJPCEtLSBzdWJzdGl0dXRpb246ICVzID09IHNsaWRlIHRpdGxlIC0tPg0KCQk8IS0tIHN1YnN0aXR1dGlvbjogJW4gPT0gc2xpZGUgbnVtYmVyIC0tPg0KCQk8dWl0ZXh0IG5hbWU9IkJPT0tNQVJLIiB2YWx1ZT0iTWFjcm9tZWRpYSBCcmVlemUgLSAlcCIvPg0KCQk8IS0tIHN1YnN0aXR1dGlvbjogJXAgPT0gcHJlc2VudGF0aW9uIHRpdGxlIC0tPg0KCQk8IS0tIHN1YnN0aXR1dGlvbjogJXMgPT0gc2xpZGUgdGl0bGUgLS0+DQoJCTwhLS0gc3Vic3RpdHV0aW9uOiAlbiA9PSBzbGlkZSBudW1iZXIgLS0+DQoJCTx1aXRleHQgbmFtZT0iQk9PS01BUktTTElERSIgdmFsdWU9Ik1hY3JvbWVkaWEgQnJlZXplIC0gJXAgJXMiLz4NCgkJPHVpdGV4dCBuYW1lPSJTSE9XU0lERUJBUiIgdmFsdWU9IuOCteOCpOODieODkOODvOOCkuWPguWKoOiAheOBq+imi+OBm+OCiyIvPg0KCQk8dWl0ZXh0IG5hbWU9IkRPQ1dSQVBfVElUTEUiIHZhbHVlPSJCcmVlemUg5re75LuY44OV44Kh44Kk44OrIi8+DQoJCTx1aXRleHQgbmFtZT0iRE9DV1JBUF9NU0ciIHZhbHVlPSLjg57jgqTjgrPjg7Pjg5Tjg6Xjg7zjgr/jgavkv53lrZgiLz4NCgkJPHVpdGV4dCBuYW1lPSJET0NXUkFQX1BST01QVCIgdmFsdWU9IuOCr+ODquODg+OCr+OBl+OBpuODgOOCpuODs+ODreODvOODiSIvPg0KCTwvbGFuZ3VhZ2U+DQoJPGxhbmd1YWdlIGlkPSJrbyI+DQoJCTwhLS0gZm9ybWF0IGZvciB1aWZvbnQgdmFsdWUgaXMgImZvbnQsc2l6ZSxpc2JvbGQsaXNpdGFsaWMsaXNzaGFkb3dlZCIgLS0+DQoJCTx1aWZvbnQgbmFtZT0iRk9OVF9RVUlaWklORyIgdmFsdWU9IlZlcmRhbmEsOSxmYWxzZSxmYWxzZSxmYWxzZSIvPg0KCQk8dWlmb250IG5hbWU9IkZPTlRfU0NSVUJTVEFUVVMiIHZhbHVlPSJWZXJkYW5hLDExLGZhbHNlLGZhbHNlLHRydWUiLz4NCgkJPHVpZm9udCBuYW1lPSJGT05UX1NDUlVCVElNRSIgdmFsdWU9IlZlcmRhbmEsOSxmYWxzZSxmYWxzZSx0cnVlIi8+DQoJCTx1aWZvbnQgbmFtZT0iRk9OVF9FTEFQU0VEVElNRSIgdmFsdWU9IlZlcmRhbmEsMTEsdHJ1ZSxmYWxzZSxmYWxzZSIvPg0KCQk8dWlmb250IG5hbWU9IkZPTlRfVVRJTFNNRU5VIiB2YWx1ZT0iVmVyZGFuYSw5LHRydWUsZmFsc2UsZmFsc2UiLz4NCgkJPHVpZm9udCBuYW1lPSJGT05UX1RBQlMiIHZhbHVlPSJWZXJkYW5hLDExLGZhbHNlLGZhbHNlLGZhbHNlIi8+DQoJCTx1aWZvbnQgbmFtZT0iRk9OVF9QUkVTRU5UQVRJT05OQU1FIiB2YWx1ZT0iVmVyZGFuYSwxNSxmYWxzZSxmYWxzZSx0cnVlIi8+DQoJCTx1aWZvbnQgbmFtZT0iRk9OVF9QUkVTRU5URVJOQU1FIiB2YWx1ZT0iVmVyZGFuYSwxNSx0cnVlLGZhbHNlLHRydWUiLz4NCgkJPHVpZm9udCBuYW1lPSJGT05UX1BSRVNFTlRFUlRJVExFIiB2YWx1ZT0iVmVyZGFuYSwxMSxmYWxzZSxmYWxzZSx0cnVlIi8+DQoJCTx1aWZvbnQgbmFtZT0iRk9OVF9CSU9CVE4iIHZhbHVlPSJWZXJkYW5hLDExLGZhbHNlLGZhbHNlLHRydWUiLz4NCgkJPHVpZm9udCBuYW1lPSJGT05UX05PVEVTIiB2YWx1ZT0iVmVyZGFuYSwxMSxmYWxzZSxmYWxzZSxmYWxzZSIvPg0KCQk8dWlmb250IG5hbWU9IkZPTlRfT1VUTElORSIgdmFsdWU9IlZlcmRhbmEsMTEsZmFsc2UsZmFsc2UsdHJ1ZSIvPg0KCQk8dWlmb250IG5hbWU9IkZPTlRfU0VBUkNIIiB2YWx1ZT0iVmVyZGFuYSwxMSxmYWxzZSxmYWxzZSx0cnVlIi8+DQoJCTx1aWZvbnQgbmFtZT0iRk9OVF9USFVNQiIgdmFsdWU9IlZlcmRhbmEsMTEsZmFsc2UsZmFsc2UsdHJ1ZSIvPg0KCQk8dWlmb250IG5hbWU9IkZPTlRfQklPV0lOIiB2YWx1ZT0iVmVyZGFuYSwxMSxmYWxzZSxmYWxzZSxmYWxzZSIvPg0KCQk8dWlmb250IG5hbWU9IkZPTlRfTElTVEhFQURJTkciIHZhbHVlPSJWZXJkYW5hLDExLGZhbHNlLGZhbHNlLGZhbHNlIi8+DQoJCTx1aWZvbnQgbmFtZT0iRk9OVF9XSU5USVRMRSIgdmFsdWU9IlZlcmRhbmEsMTEsZmFsc2UsZmFsc2UsdHJ1ZSIvPg0KCQk8dWlmb250IG5hbWU9IkZPTlRfQVRUQUNITUVOVFMiIHZhbHVlPSJWZXJkYW5hLDExLGZhbHNlLGZhbHNlLHRydWUiLz4NCgkJPCEtLSB1aXRleHQgLS0+DQoJCTwhLS0gc3Vic3RpdHV0aW9uOiAlbiA9PSBzbGlkZSBudW1iZXIgLS0+DQoJCTx1aXRleHQgbmFtZT0iVU5OQU1FRFNMSURFVElUTEUiIHZhbHVlPSLsiqzrnbzsnbTrk5wgJW4iLz4NCgkJPCEtLSBzdWJzdGl0dXRpb246ICVuID09IHNsaWRlIG51bWJlciAtLT4NCgkJPCEtLSBzdWJzdGl0dXRpb246ICV0ID09IHRvdGFsIHNsaWRlIGNvdW50IC0tPg0KCQk8dWl0ZXh0IG5hbWU9IlNDUlVCQkFSU1RBVFVTX1NMSURFSU5GTyIgdmFsdWU9IuyKrOudvOydtOuTnCAlbiAvICV0IHwgIi8+DQoJCTx1aXRleHQgbmFtZT0iU0NSVUJCQVJTVEFUVVNfU1RPUFBFRCIgdmFsdWU9IuykkeyngOuQqCIvPg0KCQk8dWl0ZXh0IG5hbWU9IlNDUlVCQkFSU1RBVFVTX1BMQVlJTkciIHZhbHVlPSLsnqzsg50iLz4NCgkJPHVpdGV4dCBuYW1lPSJTQ1JVQkJBUlNUQVRVU19OT0FVRElPIiB2YWx1ZT0i7Jik65SU7JikIOyXhuydjCIvPg0KCQk8dWl0ZXh0IG5hbWU9IlNDUlVCQkFSU1RBVFVTX0xPQURJTkciIHZhbHVlPSLroZzrlKkiLz4NCgkJPHVpdGV4dCBuYW1lPSJTQ1JVQkJBUlNUQVRVU19CVUZGRVJJTkciIHZhbHVlPSLrsoTtjbzrp4EiLz4NCgkJPHVpdGV4dCBuYW1lPSJTQ1JVQkJBUlNUQVRVU19RVUVTVElPTiIgdmFsdWU9IuyniOusuOyXkCDri7XtlZjquLAiLz4NCgkJPHVpdGV4dCBuYW1lPSJTQ1JVQkJBUlNUQVRVU19SRVZJRVdRVUlaIiB2YWx1ZT0i7KeI66y4IOuLpOyLnOuztOq4sCIvPg0KCQk8IS0tIHN1YnN0aXR1dGlvbjogJW0gPT0gbWludXRlcyByZW1haW5pbmcgLS0+DQoJCTwhLS0gc3Vic3RpdHV0aW9uOiAlcyA9PSBzZWNvbmRzIHJlbWFpbmluZyAtLT4NCgkJPHVpdGV4dCBuYW1lPSJFTEFQU0VEIiB2YWx1ZT0iJW3rtoQgJXPstIgg64Ko7J2MIi8+DQoJCTx1aXRleHQgbmFtZT0iTk9URk9VTkQiIHZhbHVlPSLsl4bsnYwiLz4NCgkJPHVpdGV4dCBuYW1lPSJBVFRBQ0hNRU5UUyIgdmFsdWU9IuyyqOu2gCDtjIzsnbwiLz4NCgkJPCEtLSBzdWJzdGl0dXRpb246ICVwID09IGN1cnJlbnQgc3BlYWtlcidzIHRpdGxlIC0tPg0KCQk8dWl0ZXh0IG5hbWU9IkJJT1dJTl9USVRMRSIgdmFsdWU9IuqyveugpSDshozqsJw6ICVwIi8+DQoJCTx1aXRleHQgbmFtZT0iQklPQlROX1RJVExFIiB2YWx1ZT0i6rK966ClIOyGjOqwnCIvPg0KCQk8dWl0ZXh0IG5hbWU9IkRJVklERVJCVE5fVElUTEUiIHZhbHVlPSJ8Ii8+DQoJCTx1aXRleHQgbmFtZT0iQ09OVEFDVEJUTl9USVRMRSIgdmFsdWU9IuyXsOudveyymCIvPg0KCQk8dWl0ZXh0IG5hbWU9IlRBQl9PVVRMSU5FIiB2YWx1ZT0i6rCc7JqUIi8+DQoJCTx1aXRleHQgbmFtZT0iVEFCX1RIVU1CIiB2YWx1ZT0i7LaV7IaM7YyQIi8+DQoJCTx1aXRleHQgbmFtZT0iVEFCX05PVEVTIiB2YWx1ZT0i64W47Yq4Ii8+DQoJCTx1aXRleHQgbmFtZT0iVEFCX1NFQVJDSCIgdmFsdWU9IuqygOyDiSIvPg0KCQk8dWl0ZXh0IG5hbWU9IlNMSURFX0hFQURJTkciIHZhbHVlPSLsiqzrnbzsnbTrk5wg7KCc66qpIi8+DQoJCTx1aXRleHQgbmFtZT0iRFVSQVRJT05fSEVBRElORyIgdmFsdWU9IuyerOyDneyLnOqwhCIvPg0KCQk8dWl0ZXh0IG5hbWU9IlNFQVJDSF9IRUFESU5HIiB2YWx1ZT0i7YWN7Iqk7Yq4IOqygOyDiToiLz4NCgkJPHVpdGV4dCBuYW1lPSJUSFVNQl9IRUFESU5HIiB2YWx1ZT0i7Iqs65287J2065OcIi8+DQoJCTx1aXRleHQgbmFtZT0iVEhVTUJfSU5GTyIgdmFsdWU9IuygnOuqqS/snqzsg53si5zqsIQiLz4NCgkJPHVpdGV4dCBuYW1lPSJBVFRBQ0hOQU1FX0hFQURJTkciIHZhbHVlPSLtjIzsnbwg7J2066aEIi8+DQoJCTx1aXRleHQgbmFtZT0iQVRUQUNIU0laRV9IRUFESU5HIiB2YWx1ZT0i7YGs6riwIi8+DQoJCTx1aXRleHQgbmFtZT0iU0xJREVfTk9URVMiIHZhbHVlPSLsiqzrnbzsnbTrk5wg64W47Yq4Ii8+DQoJCTwhLS0gc3Vic3RpdHV0aW9uOiAlcCA9PSBwcmVzZW50YXRpb24gdGl0bGUgLS0+DQoJCTwhLS0gc3Vic3RpdHV0aW9uOiAlcyA9PSBzbGlkZSB0aXRsZSAtLT4NCgkJPCEtLSBzdWJzdGl0dXRpb246ICVuID09IHNsaWRlIG51bWJlciAtLT4NCgkJPHVpdGV4dCBuYW1lPSJCT09LTUFSSyIgdmFsdWU9Ik1hY3JvbWVkaWEgQnJlZXplIC0gJXAiLz4NCgkJPCEtLSBzdWJzdGl0dXRpb246ICVwID09IHByZXNlbnRhdGlvbiB0aXRsZSAtLT4NCgkJPCEtLSBzdWJzdGl0dXRpb246ICVzID09IHNsaWRlIHRpdGxlIC0tPg0KCQk8IS0tIHN1YnN0aXR1dGlvbjogJW4gPT0gc2xpZGUgbnVtYmVyIC0tPg0KCQk8dWl0ZXh0IG5hbWU9IkJPT0tNQVJLU0xJREUiIHZhbHVlPSJNYWNyb21lZGlhIEJyZWV6ZSAtICVwICVzIi8+DQoJCTx1aXRleHQgbmFtZT0iU0hPV1NJREVCQVIiIHZhbHVlPSLssLjsl6zsnpDsl5Dqsowg7IS466GcIOunieuMgCDrs7TsnbTquLAiLz4NCgkJPHVpdGV4dCBuYW1lPSJET0NXUkFQX1RJVExFIiB2YWx1ZT0iQnJlZXplIO2MjOydvCDssqjrtoAiLz4NCgkJPHVpdGV4dCBuYW1lPSJET0NXUkFQX01TRyIgdmFsdWU9IuuCtCDsu7Ttk6jthLDsl5Ag7KCA7J6lIi8+DQoJCTx1aXRleHQgbmFtZT0iRE9DV1JBUF9QUk9NUFQiIHZhbHVlPSLtgbTrpq3tlZjsl6wg64uk7Jq066Gc65OcIi8+DQoJPC9sYW5ndWFnZT4NCjwvY29uZmlndXJhdGlvbj4NCg=="/>
  <p:tag name="MMPROD_UIDATA" val="&lt;database version=&quot;6.0&quot;&gt;&lt;object type=&quot;1&quot; unique_id=&quot;10001&quot;&gt;&lt;property id=&quot;20141&quot; value=&quot;Lesson01&quot;/&gt;&lt;property id=&quot;20224&quot; value=&quot;C:\My Documents\SASWeb\Lesson1&quot;/&gt;&lt;property id=&quot;20250&quot; value=&quot;0&quot;/&gt;&lt;property id=&quot;20251&quot; value=&quot;0&quot;/&gt;&lt;property id=&quot;20259&quot; value=&quot;0&quot;/&gt;&lt;object type=&quot;4&quot; unique_id=&quot;10002&quot;&gt;&lt;/object&gt;&lt;object type=&quot;2&quot; unique_id=&quot;10003&quot;&gt;&lt;object type=&quot;3&quot; unique_id=&quot;10004&quot;&gt;&lt;property id=&quot;20148&quot; value=&quot;5&quot;/&gt;&lt;property id=&quot;20300&quot; value=&quot;Slide 1 - &amp;quot;PubH 6420&amp;#x0D;&amp;#x0A;Introduction to SAS Programming&amp;quot;&quot;/&gt;&lt;property id=&quot;20301&quot; value=&quot;Introduction PH6420&quot;/&gt;&lt;property id=&quot;20302&quot; value=&quot;0&quot;/&gt;&lt;property id=&quot;20303&quot; value=&quot;-1&quot;/&gt;&lt;property id=&quot;20304&quot; value=&quot;-1&quot;/&gt;&lt;property id=&quot;20307&quot; value=&quot;257&quot;/&gt;&lt;property id=&quot;20309&quot; value=&quot;-1&quot;/&gt;&lt;/object&gt;&lt;object type=&quot;3&quot; unique_id=&quot;10005&quot;&gt;&lt;property id=&quot;20148&quot; value=&quot;5&quot;/&gt;&lt;property id=&quot;20300&quot; value=&quot;Slide 2 - &amp;quot;Course Information&amp;quot;&quot;/&gt;&lt;property id=&quot;20301&quot; value=&quot;Course Information&quot;/&gt;&lt;property id=&quot;20302&quot; value=&quot;0&quot;/&gt;&lt;property id=&quot;20303&quot; value=&quot;-1&quot;/&gt;&lt;property id=&quot;20304&quot; value=&quot;-1&quot;/&gt;&lt;property id=&quot;20307&quot; value=&quot;258&quot;/&gt;&lt;property id=&quot;20309&quot; value=&quot;-1&quot;/&gt;&lt;/object&gt;&lt;object type=&quot;3&quot; unique_id=&quot;10006&quot;&gt;&lt;property id=&quot;20148&quot; value=&quot;5&quot;/&gt;&lt;property id=&quot;20300&quot; value=&quot;Slide 3 - &amp;quot;Class Structure&amp;quot;&quot;/&gt;&lt;property id=&quot;20301&quot; value=&quot;Class Structure&quot;/&gt;&lt;property id=&quot;20302&quot; value=&quot;0&quot;/&gt;&lt;property id=&quot;20303&quot; value=&quot;-1&quot;/&gt;&lt;property id=&quot;20304&quot; value=&quot;-1&quot;/&gt;&lt;property id=&quot;20307&quot; value=&quot;292&quot;/&gt;&lt;property id=&quot;20309&quot; value=&quot;-1&quot;/&gt;&lt;/object&gt;&lt;object type=&quot;3&quot; unique_id=&quot;10007&quot;&gt;&lt;property id=&quot;20148&quot; value=&quot;5&quot;/&gt;&lt;property id=&quot;20300&quot; value=&quot;Slide 4 - &amp;quot;Obtaining PC SAS&amp;#x0D;&amp;#x0A;(1-Year License)&amp;quot;&quot;/&gt;&lt;property id=&quot;20301&quot; value=&quot;PC SAS License&quot;/&gt;&lt;property id=&quot;20302&quot; value=&quot;0&quot;/&gt;&lt;property id=&quot;20303&quot; value=&quot;-1&quot;/&gt;&lt;property id=&quot;20304&quot; value=&quot;-1&quot;/&gt;&lt;property id=&quot;20307&quot; value=&quot;263&quot;/&gt;&lt;property id=&quot;20309&quot; value=&quot;-1&quot;/&gt;&lt;/object&gt;&lt;object type=&quot;3&quot; unique_id=&quot;10008&quot;&gt;&lt;property id=&quot;20148&quot; value=&quot;5&quot;/&gt;&lt;property id=&quot;20300&quot; value=&quot;Slide 8 - &amp;quot;What is SAS ?&amp;quot;&quot;/&gt;&lt;property id=&quot;20301&quot; value=&quot;What is SAS?&quot;/&gt;&lt;property id=&quot;20302&quot; value=&quot;0&quot;/&gt;&lt;property id=&quot;20303&quot; value=&quot;-1&quot;/&gt;&lt;property id=&quot;20304&quot; value=&quot;-1&quot;/&gt;&lt;property id=&quot;20307&quot; value=&quot;291&quot;/&gt;&lt;property id=&quot;20309&quot; value=&quot;-1&quot;/&gt;&lt;/object&gt;&lt;object type=&quot;3&quot; unique_id=&quot;10009&quot;&gt;&lt;property id=&quot;20148&quot; value=&quot;5&quot;/&gt;&lt;property id=&quot;20300&quot; value=&quot;Slide 9 - &amp;quot;SAS Usage&amp;quot;&quot;/&gt;&lt;property id=&quot;20301&quot; value=&quot;SAS Usage&quot;/&gt;&lt;property id=&quot;20302&quot; value=&quot;0&quot;/&gt;&lt;property id=&quot;20303&quot; value=&quot;-1&quot;/&gt;&lt;property id=&quot;20304&quot; value=&quot;-1&quot;/&gt;&lt;property id=&quot;20307&quot; value=&quot;265&quot;/&gt;&lt;property id=&quot;20309&quot; value=&quot;-1&quot;/&gt;&lt;/object&gt;&lt;object type=&quot;3&quot; unique_id=&quot;10010&quot;&gt;&lt;property id=&quot;20148&quot; value=&quot;5&quot;/&gt;&lt;property id=&quot;20300&quot; value=&quot;Slide 7 - &amp;quot;Strengths of SAS&amp;quot;&quot;/&gt;&lt;property id=&quot;20303&quot; value=&quot;-1&quot;/&gt;&lt;property id=&quot;20307&quot; value=&quot;285&quot;/&gt;&lt;/object&gt;&lt;object type=&quot;3&quot; unique_id=&quot;10011&quot;&gt;&lt;property id=&quot;20148&quot; value=&quot;5&quot;/&gt;&lt;property id=&quot;20300&quot; value=&quot;Slide 10 - &amp;quot;Parts of SAS Program&amp;quot;&quot;/&gt;&lt;property id=&quot;20301&quot; value=&quot;Parts of SAS Program&quot;/&gt;&lt;property id=&quot;20302&quot; value=&quot;0&quot;/&gt;&lt;property id=&quot;20303&quot; value=&quot;-1&quot;/&gt;&lt;property id=&quot;20304&quot; value=&quot;-1&quot;/&gt;&lt;property id=&quot;20307&quot; value=&quot;286&quot;/&gt;&lt;property id=&quot;20309&quot; value=&quot;-1&quot;/&gt;&lt;/object&gt;&lt;object type=&quot;3&quot; unique_id=&quot;10012&quot;&gt;&lt;property id=&quot;20148&quot; value=&quot;5&quot;/&gt;&lt;property id=&quot;20300&quot; value=&quot;Slide 11&quot;/&gt;&lt;property id=&quot;20301&quot; value=&quot;Diagram of Data Flow&quot;/&gt;&lt;property id=&quot;20302&quot; value=&quot;0&quot;/&gt;&lt;property id=&quot;20303&quot; value=&quot;-1&quot;/&gt;&lt;property id=&quot;20304&quot; value=&quot;-1&quot;/&gt;&lt;property id=&quot;20307&quot; value=&quot;266&quot;/&gt;&lt;property id=&quot;20309&quot; value=&quot;-1&quot;/&gt;&lt;/object&gt;&lt;object type=&quot;3&quot; unique_id=&quot;10013&quot;&gt;&lt;property id=&quot;20148&quot; value=&quot;5&quot;/&gt;&lt;property id=&quot;20300&quot; value=&quot;Slide 12 - &amp;quot;Structure of Data&amp;quot;&quot;/&gt;&lt;property id=&quot;20301&quot; value=&quot;Structure of Data&quot;/&gt;&lt;property id=&quot;20302&quot; value=&quot;0&quot;/&gt;&lt;property id=&quot;20303&quot; value=&quot;-1&quot;/&gt;&lt;property id=&quot;20304&quot; value=&quot;-1&quot;/&gt;&lt;property id=&quot;20307&quot; value=&quot;267&quot;/&gt;&lt;property id=&quot;20309&quot; value=&quot;-1&quot;/&gt;&lt;/object&gt;&lt;object type=&quot;3&quot; unique_id=&quot;10014&quot;&gt;&lt;property id=&quot;20148&quot; value=&quot;5&quot;/&gt;&lt;property id=&quot;20300&quot; value=&quot;Slide 13 - &amp;quot;Example of Data&amp;quot;&quot;/&gt;&lt;property id=&quot;20301&quot; value=&quot;Example Data&quot;/&gt;&lt;property id=&quot;20302&quot; value=&quot;0&quot;/&gt;&lt;property id=&quot;20303&quot; value=&quot;-1&quot;/&gt;&lt;property id=&quot;20304&quot; value=&quot;-1&quot;/&gt;&lt;property id=&quot;20307&quot; value=&quot;268&quot;/&gt;&lt;property id=&quot;20309&quot; value=&quot;-1&quot;/&gt;&lt;/object&gt;&lt;object type=&quot;3&quot; unique_id=&quot;10015&quot;&gt;&lt;property id=&quot;20148&quot; value=&quot;5&quot;/&gt;&lt;property id=&quot;20300&quot; value=&quot;Slide 14 - &amp;quot;Types of Variables In SAS&amp;quot;&quot;/&gt;&lt;property id=&quot;20301&quot; value=&quot;Data Types in SAS&quot;/&gt;&lt;property id=&quot;20302&quot; value=&quot;0&quot;/&gt;&lt;property id=&quot;20303&quot; value=&quot;-1&quot;/&gt;&lt;property id=&quot;20304&quot; value=&quot;-1&quot;/&gt;&lt;property id=&quot;20307&quot; value=&quot;271&quot;/&gt;&lt;property id=&quot;20309&quot; value=&quot;-1&quot;/&gt;&lt;/object&gt;&lt;object type=&quot;3&quot; unique_id=&quot;10016&quot;&gt;&lt;property id=&quot;20148&quot; value=&quot;5&quot;/&gt;&lt;property id=&quot;20300&quot; value=&quot;Slide 15 - &amp;quot;Rules for SAS Statements &amp;quot;&quot;/&gt;&lt;property id=&quot;20301&quot; value=&quot;Rules for SAS Statements&quot;/&gt;&lt;property id=&quot;20302&quot; value=&quot;0&quot;/&gt;&lt;property id=&quot;20303&quot; value=&quot;-1&quot;/&gt;&lt;property id=&quot;20304&quot; value=&quot;-1&quot;/&gt;&lt;property id=&quot;20307&quot; value=&quot;287&quot;/&gt;&lt;property id=&quot;20309&quot; value=&quot;-1&quot;/&gt;&lt;/object&gt;&lt;object type=&quot;3&quot; unique_id=&quot;10017&quot;&gt;&lt;property id=&quot;20148&quot; value=&quot;5&quot;/&gt;&lt;property id=&quot;20300&quot; value=&quot;Slide 16 - &amp;quot;Rules for SAS Statements &amp;quot;&quot;/&gt;&lt;property id=&quot;20301&quot; value=&quot;Rules (Cont)&quot;/&gt;&lt;property id=&quot;20302&quot; value=&quot;0&quot;/&gt;&lt;property id=&quot;20303&quot; value=&quot;-1&quot;/&gt;&lt;property id=&quot;20304&quot; value=&quot;-1&quot;/&gt;&lt;property id=&quot;20307&quot; value=&quot;288&quot;/&gt;&lt;property id=&quot;20309&quot; value=&quot;-1&quot;/&gt;&lt;/object&gt;&lt;object type=&quot;3&quot; unique_id=&quot;10018&quot;&gt;&lt;property id=&quot;20148&quot; value=&quot;5&quot;/&gt;&lt;property id=&quot;20300&quot; value=&quot;Slide 17 - &amp;quot;Rules for SAS Variables&amp;quot;&quot;/&gt;&lt;property id=&quot;20301&quot; value=&quot;Rules for SAS Variables&quot;/&gt;&lt;property id=&quot;20302&quot; value=&quot;0&quot;/&gt;&lt;property id=&quot;20303&quot; value=&quot;-1&quot;/&gt;&lt;property id=&quot;20304&quot; value=&quot;-1&quot;/&gt;&lt;property id=&quot;20307&quot; value=&quot;290&quot;/&gt;&lt;property id=&quot;20309&quot; value=&quot;-1&quot;/&gt;&lt;/object&gt;&lt;object type=&quot;3&quot; unique_id=&quot;10019&quot;&gt;&lt;property id=&quot;20148&quot; value=&quot;5&quot;/&gt;&lt;property id=&quot;20300&quot; value=&quot;Slide 18&quot;/&gt;&lt;property id=&quot;20301&quot; value=&quot;Example Program&quot;/&gt;&lt;property id=&quot;20302&quot; value=&quot;0&quot;/&gt;&lt;property id=&quot;20303&quot; value=&quot;-1&quot;/&gt;&lt;property id=&quot;20304&quot; value=&quot;-1&quot;/&gt;&lt;property id=&quot;20307&quot; value=&quot;273&quot;/&gt;&lt;property id=&quot;20309&quot; value=&quot;-1&quot;/&gt;&lt;/object&gt;&lt;object type=&quot;3&quot; unique_id=&quot;10020&quot;&gt;&lt;property id=&quot;20148&quot; value=&quot;5&quot;/&gt;&lt;property id=&quot;20300&quot; value=&quot;Slide 19&quot;/&gt;&lt;property id=&quot;20301&quot; value=&quot;Example Program (Cont)&quot;/&gt;&lt;property id=&quot;20302&quot; value=&quot;0&quot;/&gt;&lt;property id=&quot;20303&quot; value=&quot;-1&quot;/&gt;&lt;property id=&quot;20304&quot; value=&quot;-1&quot;/&gt;&lt;property id=&quot;20307&quot; value=&quot;274&quot;/&gt;&lt;property id=&quot;20309&quot; value=&quot;-1&quot;/&gt;&lt;/object&gt;&lt;object type=&quot;3&quot; unique_id=&quot;10021&quot;&gt;&lt;property id=&quot;20148&quot; value=&quot;5&quot;/&gt;&lt;property id=&quot;20300&quot; value=&quot;Slide 20&quot;/&gt;&lt;property id=&quot;20301&quot; value=&quot;Example Program (Cont)&quot;/&gt;&lt;property id=&quot;20302&quot; value=&quot;0&quot;/&gt;&lt;property id=&quot;20303&quot; value=&quot;-1&quot;/&gt;&lt;property id=&quot;20304&quot; value=&quot;-1&quot;/&gt;&lt;property id=&quot;20307&quot; value=&quot;275&quot;/&gt;&lt;property id=&quot;20309&quot; value=&quot;-1&quot;/&gt;&lt;/object&gt;&lt;object type=&quot;3&quot; unique_id=&quot;10022&quot;&gt;&lt;property id=&quot;20148&quot; value=&quot;5&quot;/&gt;&lt;property id=&quot;20300&quot; value=&quot;Slide 21 - &amp;quot; Main SAS Windows (PC)&amp;quot;&quot;/&gt;&lt;property id=&quot;20301&quot; value=&quot;Main SAS Windows&quot;/&gt;&lt;property id=&quot;20302&quot; value=&quot;0&quot;/&gt;&lt;property id=&quot;20303&quot; value=&quot;-1&quot;/&gt;&lt;property id=&quot;20304&quot; value=&quot;-1&quot;/&gt;&lt;property id=&quot;20307&quot; value=&quot;276&quot;/&gt;&lt;property id=&quot;20309&quot; value=&quot;-1&quot;/&gt;&lt;/object&gt;&lt;object type=&quot;3&quot; unique_id=&quot;10023&quot;&gt;&lt;property id=&quot;20148&quot; value=&quot;5&quot;/&gt;&lt;property id=&quot;20300&quot; value=&quot;Slide 22&quot;/&gt;&lt;property id=&quot;20301&quot; value=&quot;Picture of SAS Windows&quot;/&gt;&lt;property id=&quot;20302&quot; value=&quot;0&quot;/&gt;&lt;property id=&quot;20303&quot; value=&quot;-1&quot;/&gt;&lt;property id=&quot;20304&quot; value=&quot;-1&quot;/&gt;&lt;property id=&quot;20307&quot; value=&quot;293&quot;/&gt;&lt;property id=&quot;20309&quot; value=&quot;-1&quot;/&gt;&lt;/object&gt;&lt;object type=&quot;3&quot; unique_id=&quot;10024&quot;&gt;&lt;property id=&quot;20148&quot; value=&quot;5&quot;/&gt;&lt;property id=&quot;20300&quot; value=&quot;Slide 23 - &amp;quot;Messages in SAS Log&amp;quot;&quot;/&gt;&lt;property id=&quot;20301&quot; value=&quot;Messages in SAS Log&quot;/&gt;&lt;property id=&quot;20302&quot; value=&quot;0&quot;/&gt;&lt;property id=&quot;20303&quot; value=&quot;-1&quot;/&gt;&lt;property id=&quot;20304&quot; value=&quot;-1&quot;/&gt;&lt;property id=&quot;20307&quot; value=&quot;279&quot;/&gt;&lt;property id=&quot;20309&quot; value=&quot;-1&quot;/&gt;&lt;/object&gt;&lt;object type=&quot;3&quot; unique_id=&quot;10025&quot;&gt;&lt;property id=&quot;20148&quot; value=&quot;5&quot;/&gt;&lt;property id=&quot;20300&quot; value=&quot;Slide 24&quot;/&gt;&lt;property id=&quot;20301&quot; value=&quot;Entire SAS Program&quot;/&gt;&lt;property id=&quot;20302&quot; value=&quot;0&quot;/&gt;&lt;property id=&quot;20303&quot; value=&quot;-1&quot;/&gt;&lt;property id=&quot;20304&quot; value=&quot;-1&quot;/&gt;&lt;property id=&quot;20307&quot; value=&quot;280&quot;/&gt;&lt;property id=&quot;20309&quot; value=&quot;-1&quot;/&gt;&lt;/object&gt;&lt;object type=&quot;3&quot; unique_id=&quot;10026&quot;&gt;&lt;property id=&quot;20148&quot; value=&quot;5&quot;/&gt;&lt;property id=&quot;20300&quot; value=&quot;Slide 25&quot;/&gt;&lt;property id=&quot;20301&quot; value=&quot;Example Program - Log&quot;/&gt;&lt;property id=&quot;20302&quot; value=&quot;0&quot;/&gt;&lt;property id=&quot;20303&quot; value=&quot;-1&quot;/&gt;&lt;property id=&quot;20304&quot; value=&quot;-1&quot;/&gt;&lt;property id=&quot;20307&quot; value=&quot;281&quot;/&gt;&lt;property id=&quot;20309&quot; value=&quot;-1&quot;/&gt;&lt;/object&gt;&lt;object type=&quot;3&quot; unique_id=&quot;10027&quot;&gt;&lt;property id=&quot;20148&quot; value=&quot;5&quot;/&gt;&lt;property id=&quot;20300&quot; value=&quot;Slide 26&quot;/&gt;&lt;property id=&quot;20301&quot; value=&quot;SAS Log (Cont)&quot;/&gt;&lt;property id=&quot;20302&quot; value=&quot;0&quot;/&gt;&lt;property id=&quot;20303&quot; value=&quot;-1&quot;/&gt;&lt;property id=&quot;20304&quot; value=&quot;-1&quot;/&gt;&lt;property id=&quot;20307&quot; value=&quot;282&quot;/&gt;&lt;property id=&quot;20309&quot; value=&quot;-1&quot;/&gt;&lt;/object&gt;&lt;object type=&quot;3&quot; unique_id=&quot;10028&quot;&gt;&lt;property id=&quot;20148&quot; value=&quot;5&quot;/&gt;&lt;property id=&quot;20300&quot; value=&quot;Slide 27&quot;/&gt;&lt;property id=&quot;20301&quot; value=&quot;Contents of Output Window&quot;/&gt;&lt;property id=&quot;20302&quot; value=&quot;0&quot;/&gt;&lt;property id=&quot;20303&quot; value=&quot;-1&quot;/&gt;&lt;property id=&quot;20304&quot; value=&quot;-1&quot;/&gt;&lt;property id=&quot;20307&quot; value=&quot;283&quot;/&gt;&lt;property id=&quot;20309&quot; value=&quot;-1&quot;/&gt;&lt;/object&gt;&lt;object type=&quot;3&quot; unique_id=&quot;10029&quot;&gt;&lt;property id=&quot;20148&quot; value=&quot;5&quot;/&gt;&lt;property id=&quot;20300&quot; value=&quot;Slide 28 - &amp;quot;Some common procedures&amp;quot;&quot;/&gt;&lt;property id=&quot;20301&quot; value=&quot;Common SAS Procedures&quot;/&gt;&lt;property id=&quot;20302&quot; value=&quot;0&quot;/&gt;&lt;property id=&quot;20303&quot; value=&quot;-1&quot;/&gt;&lt;property id=&quot;20304&quot; value=&quot;-1&quot;/&gt;&lt;property id=&quot;20307&quot; value=&quot;284&quot;/&gt;&lt;property id=&quot;20309&quot; value=&quot;-1&quot;/&gt;&lt;/object&gt;&lt;object type=&quot;3&quot; unique_id=&quot;10030&quot;&gt;&lt;property id=&quot;20148&quot; value=&quot;5&quot;/&gt;&lt;property id=&quot;20300&quot; value=&quot;Slide 5 - &amp;quot;Course Resources&amp;quot;&quot;/&gt;&lt;property id=&quot;20303&quot; value=&quot;-1&quot;/&gt;&lt;property id=&quot;20307&quot; value=&quot;294&quot;/&gt;&lt;property id=&quot;20309&quot; value=&quot;-1&quot;/&gt;&lt;/object&gt;&lt;object type=&quot;3&quot; unique_id=&quot;10031&quot;&gt;&lt;property id=&quot;20148&quot; value=&quot;5&quot;/&gt;&lt;property id=&quot;20300&quot; value=&quot;Slide 6 - &amp;quot;SAS OS/Environment&amp;quot;&quot;/&gt;&lt;property id=&quot;20307&quot; value=&quot;296&quot;/&gt;&lt;property id=&quot;20309&quot; value=&quot;-1&quot;/&gt;&lt;/object&gt;&lt;object type=&quot;3&quot; unique_id=&quot;10032&quot;&gt;&lt;property id=&quot;20148&quot; value=&quot;5&quot;/&gt;&lt;property id=&quot;20300&quot; value=&quot;Slide 7 - &amp;quot;Lecture 1 Readings&amp;quot;&quot;/&gt;&lt;property id=&quot;20307&quot; value=&quot;295&quot;/&gt;&lt;property id=&quot;20309&quot; value=&quot;-1&quot;/&gt;&lt;/object&gt;&lt;/object&gt;&lt;/object&gt;&lt;/database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PSNARRATION" val="1,222734992,C:\My Documents\SASWeb\Lesson1\Lesson01.ppc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HAS_URLS" val="oh hey this is notes box, due to this not being an empty string. woot.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GHLIGHT" val="YES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GHLIGHT" val="YES"/>
</p:tagLst>
</file>

<file path=ppt/theme/theme1.xml><?xml version="1.0" encoding="utf-8"?>
<a:theme xmlns:a="http://schemas.openxmlformats.org/drawingml/2006/main" name="Theme1">
  <a:themeElements>
    <a:clrScheme name="Default Design 8">
      <a:dk1>
        <a:srgbClr val="003366"/>
      </a:dk1>
      <a:lt1>
        <a:srgbClr val="FFFFFF"/>
      </a:lt1>
      <a:dk2>
        <a:srgbClr val="000099"/>
      </a:dk2>
      <a:lt2>
        <a:srgbClr val="CCFFFF"/>
      </a:lt2>
      <a:accent1>
        <a:srgbClr val="3366CC"/>
      </a:accent1>
      <a:accent2>
        <a:srgbClr val="00B000"/>
      </a:accent2>
      <a:accent3>
        <a:srgbClr val="AAAACA"/>
      </a:accent3>
      <a:accent4>
        <a:srgbClr val="DADADA"/>
      </a:accent4>
      <a:accent5>
        <a:srgbClr val="ADB8E2"/>
      </a:accent5>
      <a:accent6>
        <a:srgbClr val="009F00"/>
      </a:accent6>
      <a:hlink>
        <a:srgbClr val="66CCFF"/>
      </a:hlink>
      <a:folHlink>
        <a:srgbClr val="FFE701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3000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3000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9_CDS_2006">
  <a:themeElements>
    <a:clrScheme name="">
      <a:dk1>
        <a:srgbClr val="000000"/>
      </a:dk1>
      <a:lt1>
        <a:srgbClr val="FFF2BE"/>
      </a:lt1>
      <a:dk2>
        <a:srgbClr val="003399"/>
      </a:dk2>
      <a:lt2>
        <a:srgbClr val="808080"/>
      </a:lt2>
      <a:accent1>
        <a:srgbClr val="CC9700"/>
      </a:accent1>
      <a:accent2>
        <a:srgbClr val="FFCC00"/>
      </a:accent2>
      <a:accent3>
        <a:srgbClr val="FFF7DB"/>
      </a:accent3>
      <a:accent4>
        <a:srgbClr val="000000"/>
      </a:accent4>
      <a:accent5>
        <a:srgbClr val="E2C9AA"/>
      </a:accent5>
      <a:accent6>
        <a:srgbClr val="E7B900"/>
      </a:accent6>
      <a:hlink>
        <a:srgbClr val="003366"/>
      </a:hlink>
      <a:folHlink>
        <a:srgbClr val="666699"/>
      </a:folHlink>
    </a:clrScheme>
    <a:fontScheme name="Office Theme">
      <a:majorFont>
        <a:latin typeface="Arial Narrow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FF"/>
        </a:solidFill>
        <a:ln w="381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88900" tIns="88900" rIns="88900" bIns="88900" numCol="1" anchor="t" anchorCtr="0" compatLnSpc="1">
        <a:prstTxWarp prst="textNoShape">
          <a:avLst/>
        </a:prstTxWarp>
      </a:bodyPr>
      <a:lstStyle>
        <a:defPPr>
          <a:defRPr/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8">
        <a:dk1>
          <a:srgbClr val="000000"/>
        </a:dk1>
        <a:lt1>
          <a:srgbClr val="FFFFFF"/>
        </a:lt1>
        <a:dk2>
          <a:srgbClr val="003399"/>
        </a:dk2>
        <a:lt2>
          <a:srgbClr val="808080"/>
        </a:lt2>
        <a:accent1>
          <a:srgbClr val="003399"/>
        </a:accent1>
        <a:accent2>
          <a:srgbClr val="FFCC00"/>
        </a:accent2>
        <a:accent3>
          <a:srgbClr val="FFFFFF"/>
        </a:accent3>
        <a:accent4>
          <a:srgbClr val="000000"/>
        </a:accent4>
        <a:accent5>
          <a:srgbClr val="AAADCA"/>
        </a:accent5>
        <a:accent6>
          <a:srgbClr val="E7B900"/>
        </a:accent6>
        <a:hlink>
          <a:srgbClr val="003366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0_CDS_2006">
  <a:themeElements>
    <a:clrScheme name="">
      <a:dk1>
        <a:srgbClr val="000000"/>
      </a:dk1>
      <a:lt1>
        <a:srgbClr val="FFF2BE"/>
      </a:lt1>
      <a:dk2>
        <a:srgbClr val="003399"/>
      </a:dk2>
      <a:lt2>
        <a:srgbClr val="808080"/>
      </a:lt2>
      <a:accent1>
        <a:srgbClr val="CC9700"/>
      </a:accent1>
      <a:accent2>
        <a:srgbClr val="FFCC00"/>
      </a:accent2>
      <a:accent3>
        <a:srgbClr val="FFF7DB"/>
      </a:accent3>
      <a:accent4>
        <a:srgbClr val="000000"/>
      </a:accent4>
      <a:accent5>
        <a:srgbClr val="E2C9AA"/>
      </a:accent5>
      <a:accent6>
        <a:srgbClr val="E7B900"/>
      </a:accent6>
      <a:hlink>
        <a:srgbClr val="003366"/>
      </a:hlink>
      <a:folHlink>
        <a:srgbClr val="666699"/>
      </a:folHlink>
    </a:clrScheme>
    <a:fontScheme name="Office Theme">
      <a:majorFont>
        <a:latin typeface="Arial Narrow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FF"/>
        </a:solidFill>
        <a:ln w="381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88900" tIns="88900" rIns="88900" bIns="88900" numCol="1" anchor="t" anchorCtr="0" compatLnSpc="1">
        <a:prstTxWarp prst="textNoShape">
          <a:avLst/>
        </a:prstTxWarp>
      </a:bodyPr>
      <a:lstStyle>
        <a:defPPr>
          <a:defRPr/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8">
        <a:dk1>
          <a:srgbClr val="000000"/>
        </a:dk1>
        <a:lt1>
          <a:srgbClr val="FFFFFF"/>
        </a:lt1>
        <a:dk2>
          <a:srgbClr val="003399"/>
        </a:dk2>
        <a:lt2>
          <a:srgbClr val="808080"/>
        </a:lt2>
        <a:accent1>
          <a:srgbClr val="003399"/>
        </a:accent1>
        <a:accent2>
          <a:srgbClr val="FFCC00"/>
        </a:accent2>
        <a:accent3>
          <a:srgbClr val="FFFFFF"/>
        </a:accent3>
        <a:accent4>
          <a:srgbClr val="000000"/>
        </a:accent4>
        <a:accent5>
          <a:srgbClr val="AAADCA"/>
        </a:accent5>
        <a:accent6>
          <a:srgbClr val="E7B900"/>
        </a:accent6>
        <a:hlink>
          <a:srgbClr val="003366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11_CDS_2006">
  <a:themeElements>
    <a:clrScheme name="">
      <a:dk1>
        <a:srgbClr val="000000"/>
      </a:dk1>
      <a:lt1>
        <a:srgbClr val="FFF2BE"/>
      </a:lt1>
      <a:dk2>
        <a:srgbClr val="003399"/>
      </a:dk2>
      <a:lt2>
        <a:srgbClr val="808080"/>
      </a:lt2>
      <a:accent1>
        <a:srgbClr val="CC9700"/>
      </a:accent1>
      <a:accent2>
        <a:srgbClr val="FFCC00"/>
      </a:accent2>
      <a:accent3>
        <a:srgbClr val="FFF7DB"/>
      </a:accent3>
      <a:accent4>
        <a:srgbClr val="000000"/>
      </a:accent4>
      <a:accent5>
        <a:srgbClr val="E2C9AA"/>
      </a:accent5>
      <a:accent6>
        <a:srgbClr val="E7B900"/>
      </a:accent6>
      <a:hlink>
        <a:srgbClr val="003366"/>
      </a:hlink>
      <a:folHlink>
        <a:srgbClr val="666699"/>
      </a:folHlink>
    </a:clrScheme>
    <a:fontScheme name="Office Theme">
      <a:majorFont>
        <a:latin typeface="Arial Narrow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FF"/>
        </a:solidFill>
        <a:ln w="381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88900" tIns="88900" rIns="88900" bIns="88900" numCol="1" anchor="t" anchorCtr="0" compatLnSpc="1">
        <a:prstTxWarp prst="textNoShape">
          <a:avLst/>
        </a:prstTxWarp>
      </a:bodyPr>
      <a:lstStyle>
        <a:defPPr>
          <a:defRPr/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8">
        <a:dk1>
          <a:srgbClr val="000000"/>
        </a:dk1>
        <a:lt1>
          <a:srgbClr val="FFFFFF"/>
        </a:lt1>
        <a:dk2>
          <a:srgbClr val="003399"/>
        </a:dk2>
        <a:lt2>
          <a:srgbClr val="808080"/>
        </a:lt2>
        <a:accent1>
          <a:srgbClr val="003399"/>
        </a:accent1>
        <a:accent2>
          <a:srgbClr val="FFCC00"/>
        </a:accent2>
        <a:accent3>
          <a:srgbClr val="FFFFFF"/>
        </a:accent3>
        <a:accent4>
          <a:srgbClr val="000000"/>
        </a:accent4>
        <a:accent5>
          <a:srgbClr val="AAADCA"/>
        </a:accent5>
        <a:accent6>
          <a:srgbClr val="E7B900"/>
        </a:accent6>
        <a:hlink>
          <a:srgbClr val="003366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3_CDS_2006">
  <a:themeElements>
    <a:clrScheme name="">
      <a:dk1>
        <a:srgbClr val="000000"/>
      </a:dk1>
      <a:lt1>
        <a:srgbClr val="FFF2BE"/>
      </a:lt1>
      <a:dk2>
        <a:srgbClr val="003399"/>
      </a:dk2>
      <a:lt2>
        <a:srgbClr val="808080"/>
      </a:lt2>
      <a:accent1>
        <a:srgbClr val="CC9700"/>
      </a:accent1>
      <a:accent2>
        <a:srgbClr val="FFCC00"/>
      </a:accent2>
      <a:accent3>
        <a:srgbClr val="FFF7DB"/>
      </a:accent3>
      <a:accent4>
        <a:srgbClr val="000000"/>
      </a:accent4>
      <a:accent5>
        <a:srgbClr val="E2C9AA"/>
      </a:accent5>
      <a:accent6>
        <a:srgbClr val="E7B900"/>
      </a:accent6>
      <a:hlink>
        <a:srgbClr val="003366"/>
      </a:hlink>
      <a:folHlink>
        <a:srgbClr val="666699"/>
      </a:folHlink>
    </a:clrScheme>
    <a:fontScheme name="Office Theme">
      <a:majorFont>
        <a:latin typeface="Arial Narrow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FF"/>
        </a:solidFill>
        <a:ln w="381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88900" tIns="88900" rIns="88900" bIns="88900" numCol="1" anchor="t" anchorCtr="0" compatLnSpc="1">
        <a:prstTxWarp prst="textNoShape">
          <a:avLst/>
        </a:prstTxWarp>
      </a:bodyPr>
      <a:lstStyle>
        <a:defPPr>
          <a:defRPr/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8">
        <a:dk1>
          <a:srgbClr val="000000"/>
        </a:dk1>
        <a:lt1>
          <a:srgbClr val="FFFFFF"/>
        </a:lt1>
        <a:dk2>
          <a:srgbClr val="003399"/>
        </a:dk2>
        <a:lt2>
          <a:srgbClr val="808080"/>
        </a:lt2>
        <a:accent1>
          <a:srgbClr val="003399"/>
        </a:accent1>
        <a:accent2>
          <a:srgbClr val="FFCC00"/>
        </a:accent2>
        <a:accent3>
          <a:srgbClr val="FFFFFF"/>
        </a:accent3>
        <a:accent4>
          <a:srgbClr val="000000"/>
        </a:accent4>
        <a:accent5>
          <a:srgbClr val="AAADCA"/>
        </a:accent5>
        <a:accent6>
          <a:srgbClr val="E7B900"/>
        </a:accent6>
        <a:hlink>
          <a:srgbClr val="003366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14_CDS_2006">
  <a:themeElements>
    <a:clrScheme name="">
      <a:dk1>
        <a:srgbClr val="000000"/>
      </a:dk1>
      <a:lt1>
        <a:srgbClr val="FFF2BE"/>
      </a:lt1>
      <a:dk2>
        <a:srgbClr val="003399"/>
      </a:dk2>
      <a:lt2>
        <a:srgbClr val="808080"/>
      </a:lt2>
      <a:accent1>
        <a:srgbClr val="CC9700"/>
      </a:accent1>
      <a:accent2>
        <a:srgbClr val="FFCC00"/>
      </a:accent2>
      <a:accent3>
        <a:srgbClr val="FFF7DB"/>
      </a:accent3>
      <a:accent4>
        <a:srgbClr val="000000"/>
      </a:accent4>
      <a:accent5>
        <a:srgbClr val="E2C9AA"/>
      </a:accent5>
      <a:accent6>
        <a:srgbClr val="E7B900"/>
      </a:accent6>
      <a:hlink>
        <a:srgbClr val="003366"/>
      </a:hlink>
      <a:folHlink>
        <a:srgbClr val="666699"/>
      </a:folHlink>
    </a:clrScheme>
    <a:fontScheme name="Office Theme">
      <a:majorFont>
        <a:latin typeface="Arial Narrow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FF"/>
        </a:solidFill>
        <a:ln w="381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88900" tIns="88900" rIns="88900" bIns="88900" numCol="1" anchor="t" anchorCtr="0" compatLnSpc="1">
        <a:prstTxWarp prst="textNoShape">
          <a:avLst/>
        </a:prstTxWarp>
      </a:bodyPr>
      <a:lstStyle>
        <a:defPPr>
          <a:defRPr/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8">
        <a:dk1>
          <a:srgbClr val="000000"/>
        </a:dk1>
        <a:lt1>
          <a:srgbClr val="FFFFFF"/>
        </a:lt1>
        <a:dk2>
          <a:srgbClr val="003399"/>
        </a:dk2>
        <a:lt2>
          <a:srgbClr val="808080"/>
        </a:lt2>
        <a:accent1>
          <a:srgbClr val="003399"/>
        </a:accent1>
        <a:accent2>
          <a:srgbClr val="FFCC00"/>
        </a:accent2>
        <a:accent3>
          <a:srgbClr val="FFFFFF"/>
        </a:accent3>
        <a:accent4>
          <a:srgbClr val="000000"/>
        </a:accent4>
        <a:accent5>
          <a:srgbClr val="AAADCA"/>
        </a:accent5>
        <a:accent6>
          <a:srgbClr val="E7B900"/>
        </a:accent6>
        <a:hlink>
          <a:srgbClr val="003366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15_CDS_2006">
  <a:themeElements>
    <a:clrScheme name="">
      <a:dk1>
        <a:srgbClr val="000000"/>
      </a:dk1>
      <a:lt1>
        <a:srgbClr val="FFF2BE"/>
      </a:lt1>
      <a:dk2>
        <a:srgbClr val="003399"/>
      </a:dk2>
      <a:lt2>
        <a:srgbClr val="808080"/>
      </a:lt2>
      <a:accent1>
        <a:srgbClr val="CC9700"/>
      </a:accent1>
      <a:accent2>
        <a:srgbClr val="FFCC00"/>
      </a:accent2>
      <a:accent3>
        <a:srgbClr val="FFF7DB"/>
      </a:accent3>
      <a:accent4>
        <a:srgbClr val="000000"/>
      </a:accent4>
      <a:accent5>
        <a:srgbClr val="E2C9AA"/>
      </a:accent5>
      <a:accent6>
        <a:srgbClr val="E7B900"/>
      </a:accent6>
      <a:hlink>
        <a:srgbClr val="003366"/>
      </a:hlink>
      <a:folHlink>
        <a:srgbClr val="666699"/>
      </a:folHlink>
    </a:clrScheme>
    <a:fontScheme name="Office Theme">
      <a:majorFont>
        <a:latin typeface="Arial Narrow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FF"/>
        </a:solidFill>
        <a:ln w="381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88900" tIns="88900" rIns="88900" bIns="88900" numCol="1" anchor="t" anchorCtr="0" compatLnSpc="1">
        <a:prstTxWarp prst="textNoShape">
          <a:avLst/>
        </a:prstTxWarp>
      </a:bodyPr>
      <a:lstStyle>
        <a:defPPr>
          <a:defRPr/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8">
        <a:dk1>
          <a:srgbClr val="000000"/>
        </a:dk1>
        <a:lt1>
          <a:srgbClr val="FFFFFF"/>
        </a:lt1>
        <a:dk2>
          <a:srgbClr val="003399"/>
        </a:dk2>
        <a:lt2>
          <a:srgbClr val="808080"/>
        </a:lt2>
        <a:accent1>
          <a:srgbClr val="003399"/>
        </a:accent1>
        <a:accent2>
          <a:srgbClr val="FFCC00"/>
        </a:accent2>
        <a:accent3>
          <a:srgbClr val="FFFFFF"/>
        </a:accent3>
        <a:accent4>
          <a:srgbClr val="000000"/>
        </a:accent4>
        <a:accent5>
          <a:srgbClr val="AAADCA"/>
        </a:accent5>
        <a:accent6>
          <a:srgbClr val="E7B900"/>
        </a:accent6>
        <a:hlink>
          <a:srgbClr val="003366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6082</TotalTime>
  <Words>3124</Words>
  <Application>Microsoft Macintosh PowerPoint</Application>
  <PresentationFormat>On-screen Show (4:3)</PresentationFormat>
  <Paragraphs>845</Paragraphs>
  <Slides>43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43</vt:i4>
      </vt:variant>
    </vt:vector>
  </HeadingPairs>
  <TitlesOfParts>
    <vt:vector size="58" baseType="lpstr">
      <vt:lpstr>Aptos Display</vt:lpstr>
      <vt:lpstr>Arial</vt:lpstr>
      <vt:lpstr>Arial Narrow</vt:lpstr>
      <vt:lpstr>Courier New</vt:lpstr>
      <vt:lpstr>Gill Sans MT</vt:lpstr>
      <vt:lpstr>Monotype Sorts</vt:lpstr>
      <vt:lpstr>Times New Roman</vt:lpstr>
      <vt:lpstr>Wingdings</vt:lpstr>
      <vt:lpstr>Theme1</vt:lpstr>
      <vt:lpstr>9_CDS_2006</vt:lpstr>
      <vt:lpstr>10_CDS_2006</vt:lpstr>
      <vt:lpstr>11_CDS_2006</vt:lpstr>
      <vt:lpstr>13_CDS_2006</vt:lpstr>
      <vt:lpstr>14_CDS_2006</vt:lpstr>
      <vt:lpstr>15_CDS_2006</vt:lpstr>
      <vt:lpstr>  Combining Datasets in SAS    STAT 7500 - Statistical Programming Dr. Fitzgerald Fall 2025</vt:lpstr>
      <vt:lpstr>Combining Datasets - Overview</vt:lpstr>
      <vt:lpstr>PROC SORT</vt:lpstr>
      <vt:lpstr>PROC SORT</vt:lpstr>
      <vt:lpstr>PROC SORT</vt:lpstr>
      <vt:lpstr>PROC SORT</vt:lpstr>
      <vt:lpstr>nodup vs. nodupkey Example</vt:lpstr>
      <vt:lpstr>Appending and Concatenating (SET Statement)</vt:lpstr>
      <vt:lpstr>Merging</vt:lpstr>
      <vt:lpstr>Example: Appending a Data Set</vt:lpstr>
      <vt:lpstr>Example: Concatenating Data Sets</vt:lpstr>
      <vt:lpstr>Compiling/Executing a SET statement in SAS</vt:lpstr>
      <vt:lpstr>Compilation  </vt:lpstr>
      <vt:lpstr>Example: Merging Data Sets</vt:lpstr>
      <vt:lpstr>Match-Merging</vt:lpstr>
      <vt:lpstr>Match-Merging</vt:lpstr>
      <vt:lpstr>One-to-One Merge</vt:lpstr>
      <vt:lpstr>One-to-Many Merge</vt:lpstr>
      <vt:lpstr>Final Results</vt:lpstr>
      <vt:lpstr>Nonmatches Merge</vt:lpstr>
      <vt:lpstr>Final Results</vt:lpstr>
      <vt:lpstr>Differing Data in Set/Merge</vt:lpstr>
      <vt:lpstr>Issues with Merging Data</vt:lpstr>
      <vt:lpstr>Quiz</vt:lpstr>
      <vt:lpstr>Quiz</vt:lpstr>
      <vt:lpstr>Quiz</vt:lpstr>
      <vt:lpstr>Quiz</vt:lpstr>
      <vt:lpstr>Quiz</vt:lpstr>
      <vt:lpstr>Creating new variables</vt:lpstr>
      <vt:lpstr>Creating new variables</vt:lpstr>
      <vt:lpstr>Creating new variables</vt:lpstr>
      <vt:lpstr>Changing formats of variables</vt:lpstr>
      <vt:lpstr>PowerPoint Presentation</vt:lpstr>
      <vt:lpstr>PowerPoint Presentation</vt:lpstr>
      <vt:lpstr>PowerPoint Presentation</vt:lpstr>
      <vt:lpstr>Date formats</vt:lpstr>
      <vt:lpstr>Date formats</vt:lpstr>
      <vt:lpstr>Date formats</vt:lpstr>
      <vt:lpstr>Date Formats</vt:lpstr>
      <vt:lpstr>Date formats</vt:lpstr>
      <vt:lpstr>Date formats</vt:lpstr>
      <vt:lpstr>Date formats</vt:lpstr>
      <vt:lpstr>Date formats</vt:lpstr>
    </vt:vector>
  </TitlesOfParts>
  <Company>U of 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PubH 6420 Introduction to SAS Programming</dc:title>
  <dc:creator>Greg Grandits</dc:creator>
  <cp:lastModifiedBy>Kaitlyn Fitzgerald</cp:lastModifiedBy>
  <cp:revision>286</cp:revision>
  <cp:lastPrinted>2021-09-01T20:16:33Z</cp:lastPrinted>
  <dcterms:created xsi:type="dcterms:W3CDTF">2006-03-02T14:52:38Z</dcterms:created>
  <dcterms:modified xsi:type="dcterms:W3CDTF">2025-09-10T20:15:24Z</dcterms:modified>
</cp:coreProperties>
</file>